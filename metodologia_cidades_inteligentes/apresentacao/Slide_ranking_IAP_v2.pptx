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43" Type="http://schemas.microsoft.com/office/2018/10/relationships/authors" Target="authors.xml"/><Relationship Id="rId38" Type="http://schemas.openxmlformats.org/officeDocument/2006/relationships/presProps" Target="presProps.xml"/>  
  <Relationship Id="rId45" Type="http://schemas.openxmlformats.org/officeDocument/2006/relationships/slide" Target="slides/slide37.xml"/>
  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0" Type="http://schemas.openxmlformats.org/officeDocument/2006/relationships/image" Target="../media/explic_fig_iap.png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O RANKING PELO IAP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Cada perfil tem uma direção característica: quanto mais o município avança nela, maior o IAP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01" name="Cartao 901"/>
          <p:cNvSpPr/>
          <p:nvPr/>
        </p:nvSpPr>
        <p:spPr>
          <a:xfrm>
            <a:off x="548640" y="1645920"/>
            <a:ext cx="6309360" cy="4565098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2" name="Texto 902"/>
          <p:cNvSpPr txBox="1"/>
          <p:nvPr/>
        </p:nvSpPr>
        <p:spPr>
          <a:xfrm>
            <a:off x="777240" y="179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EXEMPLO — TRÊS MUNICÍPIOS DO PERFIL C</a:t>
            </a:r>
          </a:p>
        </p:txBody>
      </p:sp>
      <p:pic>
        <p:nvPicPr>
          <p:cNvPr id="903" name="Figura 903" descr="Barras do IAP de Sorocaba (1º), Barra Bonita (51º) e Itapevi (180º), decompostas nas contribuições de CFI, IMD e CSE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24858" y="2103120"/>
            <a:ext cx="5756923" cy="4016458"/>
          </a:xfrm>
          <a:prstGeom prst="rect">
            <a:avLst/>
          </a:prstGeom>
        </p:spPr>
      </p:pic>
      <p:sp>
        <p:nvSpPr>
          <p:cNvPr id="904" name="Cartao 904"/>
          <p:cNvSpPr/>
          <p:nvPr/>
        </p:nvSpPr>
        <p:spPr>
          <a:xfrm>
            <a:off x="7040880" y="1645920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5" name="Texto 905"/>
          <p:cNvSpPr txBox="1"/>
          <p:nvPr/>
        </p:nvSpPr>
        <p:spPr>
          <a:xfrm>
            <a:off x="7269480" y="1795920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 · O SINAL VEM DO PERFIL</a:t>
            </a:r>
          </a:p>
        </p:txBody>
      </p:sp>
      <p:sp>
        <p:nvSpPr>
          <p:cNvPr id="906" name="Texto 906"/>
          <p:cNvSpPr txBox="1"/>
          <p:nvPr/>
        </p:nvSpPr>
        <p:spPr>
          <a:xfrm>
            <a:off x="7269480" y="2145920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Cada eixo entra com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+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se o perfil está acima da média nele e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−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se está abaixo. No Perfil C: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CFI (−), IMD (+) e CSE (+)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907" name="Cartao 907"/>
          <p:cNvSpPr/>
          <p:nvPr/>
        </p:nvSpPr>
        <p:spPr>
          <a:xfrm>
            <a:off x="7040880" y="3213339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8" name="Texto 908"/>
          <p:cNvSpPr txBox="1"/>
          <p:nvPr/>
        </p:nvSpPr>
        <p:spPr>
          <a:xfrm>
            <a:off x="7269480" y="3363339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2 · CADA EIXO VIRA UM PEDAÇO</a:t>
            </a:r>
          </a:p>
        </p:txBody>
      </p:sp>
      <p:sp>
        <p:nvSpPr>
          <p:cNvPr id="909" name="Texto 909"/>
          <p:cNvSpPr txBox="1"/>
          <p:nvPr/>
        </p:nvSpPr>
        <p:spPr>
          <a:xfrm>
            <a:off x="7269480" y="3713339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Pedaço = peso × escore do eixo, com o sinal do perfil. </a:t>
            </a:r>
            <a:r>
              <a:rPr lang="pt-BR" sz="1200" b="1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IAP é a soma dos pedaços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: Sorocaba = 0,23 + 1,27 + 0,44 = 1,94.</a:t>
            </a:r>
          </a:p>
        </p:txBody>
      </p:sp>
      <p:sp>
        <p:nvSpPr>
          <p:cNvPr id="910" name="Cartao 910"/>
          <p:cNvSpPr/>
          <p:nvPr/>
        </p:nvSpPr>
        <p:spPr>
          <a:xfrm>
            <a:off x="7040880" y="4780758"/>
            <a:ext cx="4599432" cy="1430259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Texto 911"/>
          <p:cNvSpPr txBox="1"/>
          <p:nvPr/>
        </p:nvSpPr>
        <p:spPr>
          <a:xfrm>
            <a:off x="7269480" y="4930758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3 · ORDENAÇÃO DENTRO DO PERFIL</a:t>
            </a:r>
          </a:p>
        </p:txBody>
      </p:sp>
      <p:sp>
        <p:nvSpPr>
          <p:cNvPr id="912" name="Texto 912"/>
          <p:cNvSpPr txBox="1"/>
          <p:nvPr/>
        </p:nvSpPr>
        <p:spPr>
          <a:xfrm>
            <a:off x="7269480" y="5280758"/>
            <a:ext cx="4142232" cy="8302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Do maior para o menor IAP.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Itapevi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tem CFI acima e CSE abaixo da média, o oposto do Perfil C: esses eixos tiram pontos e ela fica em </a:t>
            </a:r>
            <a:r>
              <a:rPr lang="pt-BR" sz="1200" noProof="0" b="1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180º</a:t>
            </a:r>
            <a:r>
              <a:rPr lang="pt-BR" sz="12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