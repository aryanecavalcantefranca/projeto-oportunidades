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14_0.xml" ContentType="application/vnd.ms-powerpoint.comments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93" r:id="rId15"/>
    <p:sldId id="277" r:id="rId16"/>
    <p:sldId id="280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D6D7DC-4737-C906-77DC-4E59050D7ABE}" name="Larissa Lima Santos" initials="LS" userId="S::larissa.santos@sde.sp.gov.br::303a01b8-0989-497d-a399-169fb99279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828"/>
    <a:srgbClr val="1E1E1E"/>
    <a:srgbClr val="4496CD"/>
    <a:srgbClr val="263253"/>
    <a:srgbClr val="EA3234"/>
    <a:srgbClr val="7C8EC9"/>
    <a:srgbClr val="00000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C2F90-65DD-8207-9E36-2C50F3C6B496}" v="139" dt="2026-10-15T09:26:17.091"/>
    <p1510:client id="{FC98BB44-32F3-4A47-BF4A-DC2A4714ACFF}" v="301" dt="2026-10-14T16:29:13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15" autoAdjust="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viewProps" Target="viewProps.xml"/><Relationship Id="rId42" Type="http://schemas.microsoft.com/office/2015/10/relationships/revisionInfo" Target="revisionInfo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15" Type="http://schemas.openxmlformats.org/officeDocument/2006/relationships/slide" Target="slides/slide14.xml"/><Relationship Id="rId43" Type="http://schemas.microsoft.com/office/2018/10/relationships/authors" Target="authors.xml"/><Relationship Id="rId38" Type="http://schemas.openxmlformats.org/officeDocument/2006/relationships/presProps" Target="presProps.xml"/>  
  
  
</Relationships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27D9C2-6A37-474C-99D8-FC0771B516B8}" authorId="{70D6D7DC-4737-C906-77DC-4E59050D7ABE}" created="2026-10-15T09:26:17.0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6"/>
      <ac:graphicFrameMk id="12" creationId="{00000000-0000-0000-0000-000000000000}"/>
    </ac:deMkLst>
    <p188:txBody>
      <a:bodyPr/>
      <a:lstStyle/>
      <a:p>
        <a:r>
          <a:rPr lang="pt-BR"/>
          <a:t>Para que não ficasse CIF (Capacidade institucional e fiscal), alterei para CFI (Capacidade fiscal e institucional). 
- Apenas não consegui alterar no gráfico.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71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45077-0783-2B21-F3ED-198227B4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D9350-F714-6384-A000-634CAD23E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6796E-39FD-A390-1D2E-A30A266CA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328A-B21D-CB00-2158-E7F5B436E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10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2EFE-141C-8DC0-5E1D-212DB866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5">
            <a:extLst>
              <a:ext uri="{FF2B5EF4-FFF2-40B4-BE49-F238E27FC236}">
                <a16:creationId xmlns:a16="http://schemas.microsoft.com/office/drawing/2014/main" id="{FC53507B-4086-B534-0A5A-2CF22C1D8E05}"/>
              </a:ext>
            </a:extLst>
          </p:cNvPr>
          <p:cNvSpPr/>
          <p:nvPr/>
        </p:nvSpPr>
        <p:spPr>
          <a:xfrm>
            <a:off x="532088" y="1207008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29C3452-418C-6EAD-B68B-93A0176DA429}"/>
              </a:ext>
            </a:extLst>
          </p:cNvPr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674228-B763-D6F1-E8F2-7D8ECB3C3D57}"/>
              </a:ext>
            </a:extLst>
          </p:cNvPr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B84E5B-57C0-3C47-D277-BE7572F261F3}"/>
              </a:ext>
            </a:extLst>
          </p:cNvPr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0D9053-7FA0-D504-50E7-4B1E99D7603E}"/>
              </a:ext>
            </a:extLst>
          </p:cNvPr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C9D71B-EEF6-EF2F-6ECE-BE70502FFAD7}"/>
              </a:ext>
            </a:extLst>
          </p:cNvPr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 IDENTIFICADOS (1 DE 2)</a:t>
            </a:r>
            <a:endParaRPr lang="pt-BR" sz="2500" noProof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342D01E-A75E-1208-F3AA-D5A3AD3973E8}"/>
              </a:ext>
            </a:extLst>
          </p:cNvPr>
          <p:cNvSpPr/>
          <p:nvPr/>
        </p:nvSpPr>
        <p:spPr>
          <a:xfrm>
            <a:off x="806408" y="1555341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DB2D43B-8176-D73A-770B-D4855D4FC9EA}"/>
              </a:ext>
            </a:extLst>
          </p:cNvPr>
          <p:cNvSpPr/>
          <p:nvPr/>
        </p:nvSpPr>
        <p:spPr>
          <a:xfrm>
            <a:off x="806408" y="155534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pt-BR" sz="2400" noProof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FFA9473-BFA6-185A-AA2A-DB83C8048A1A}"/>
              </a:ext>
            </a:extLst>
          </p:cNvPr>
          <p:cNvSpPr/>
          <p:nvPr/>
        </p:nvSpPr>
        <p:spPr>
          <a:xfrm>
            <a:off x="1492208" y="154619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A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C357E27-DD8B-ABDC-7166-72DA3AD06197}"/>
              </a:ext>
            </a:extLst>
          </p:cNvPr>
          <p:cNvSpPr/>
          <p:nvPr/>
        </p:nvSpPr>
        <p:spPr>
          <a:xfrm>
            <a:off x="1492208" y="1783941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CAPACIDADES EM ESTÁGIO INICIAL</a:t>
            </a:r>
            <a:endParaRPr lang="pt-BR" sz="1150" noProof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9B75BB0-61A0-7EB1-3BE0-3E7F4C61CC1E}"/>
              </a:ext>
            </a:extLst>
          </p:cNvPr>
          <p:cNvSpPr/>
          <p:nvPr/>
        </p:nvSpPr>
        <p:spPr>
          <a:xfrm>
            <a:off x="806408" y="2259429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156</a:t>
            </a:r>
            <a:r>
              <a:rPr lang="pt-BR" sz="10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2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B8CC4532-BD22-C681-FC86-F2FD01245985}"/>
              </a:ext>
            </a:extLst>
          </p:cNvPr>
          <p:cNvSpPr/>
          <p:nvPr/>
        </p:nvSpPr>
        <p:spPr>
          <a:xfrm>
            <a:off x="806408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6F37AF39-86F9-28E4-89A5-469ABA634E07}"/>
              </a:ext>
            </a:extLst>
          </p:cNvPr>
          <p:cNvSpPr/>
          <p:nvPr/>
        </p:nvSpPr>
        <p:spPr>
          <a:xfrm>
            <a:off x="916136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E0A05A"/>
                </a:solidFill>
                <a:latin typeface="Montserrat"/>
                <a:ea typeface="Arial" pitchFamily="34" charset="-122"/>
                <a:cs typeface="Arial"/>
              </a:rPr>
              <a:t>▼ abaixo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BBD95BFA-B7E7-0F55-736A-B88A0ADB710A}"/>
              </a:ext>
            </a:extLst>
          </p:cNvPr>
          <p:cNvSpPr/>
          <p:nvPr/>
        </p:nvSpPr>
        <p:spPr>
          <a:xfrm>
            <a:off x="2498048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1F901FD-D9F4-7BCB-17A0-40BFCF6F64CD}"/>
              </a:ext>
            </a:extLst>
          </p:cNvPr>
          <p:cNvSpPr/>
          <p:nvPr/>
        </p:nvSpPr>
        <p:spPr>
          <a:xfrm>
            <a:off x="2607776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337ABDA2-9434-7984-317C-59E4D359F32C}"/>
              </a:ext>
            </a:extLst>
          </p:cNvPr>
          <p:cNvSpPr/>
          <p:nvPr/>
        </p:nvSpPr>
        <p:spPr>
          <a:xfrm>
            <a:off x="4189688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A8B0D9D-1D5E-2A53-FF49-66BB531E40C4}"/>
              </a:ext>
            </a:extLst>
          </p:cNvPr>
          <p:cNvSpPr/>
          <p:nvPr/>
        </p:nvSpPr>
        <p:spPr>
          <a:xfrm>
            <a:off x="4299416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F6C134A1-FDEA-05AE-85A4-3FAC87EACE5F}"/>
              </a:ext>
            </a:extLst>
          </p:cNvPr>
          <p:cNvSpPr/>
          <p:nvPr/>
        </p:nvSpPr>
        <p:spPr>
          <a:xfrm>
            <a:off x="806408" y="3409847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F001C14F-0BCF-5438-070A-2BA018675115}"/>
              </a:ext>
            </a:extLst>
          </p:cNvPr>
          <p:cNvSpPr/>
          <p:nvPr/>
        </p:nvSpPr>
        <p:spPr>
          <a:xfrm>
            <a:off x="806408" y="3699347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com desempenho abaixo da média estadual nos três eixos, concentrando simultaneamente desafios institucionais, digitais e socioeconômicos.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D75DA84A-5694-FE0A-5196-A9815F04A8DB}"/>
              </a:ext>
            </a:extLst>
          </p:cNvPr>
          <p:cNvSpPr/>
          <p:nvPr/>
        </p:nvSpPr>
        <p:spPr>
          <a:xfrm>
            <a:off x="806408" y="4379801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77AF48BE-D5AD-2E48-E205-626F88137E54}"/>
              </a:ext>
            </a:extLst>
          </p:cNvPr>
          <p:cNvSpPr/>
          <p:nvPr/>
        </p:nvSpPr>
        <p:spPr>
          <a:xfrm>
            <a:off x="806408" y="468655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com maior necessidade de desenvolvimento de capacidades e menor probabilidade de acesso em processos competitivos abertos. </a:t>
            </a:r>
            <a:endParaRPr lang="pt-BR" sz="1000" noProof="0">
              <a:latin typeface="Montserrat" pitchFamily="2" charset="0"/>
            </a:endParaRP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A0E9F3DA-4001-2639-E707-4335CF6569AC}"/>
              </a:ext>
            </a:extLst>
          </p:cNvPr>
          <p:cNvGrpSpPr/>
          <p:nvPr/>
        </p:nvGrpSpPr>
        <p:grpSpPr>
          <a:xfrm>
            <a:off x="2404959" y="2282732"/>
            <a:ext cx="1487194" cy="296737"/>
            <a:chOff x="4206240" y="2362170"/>
            <a:chExt cx="1600200" cy="320040"/>
          </a:xfrm>
        </p:grpSpPr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DE185AED-B892-67A0-C7F1-33D632CC3E38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54" name="Text 21">
              <a:extLst>
                <a:ext uri="{FF2B5EF4-FFF2-40B4-BE49-F238E27FC236}">
                  <a16:creationId xmlns:a16="http://schemas.microsoft.com/office/drawing/2014/main" id="{8414CE73-1ED6-F255-FEA4-2183C4AB098D}"/>
                </a:ext>
              </a:extLst>
            </p:cNvPr>
            <p:cNvSpPr/>
            <p:nvPr/>
          </p:nvSpPr>
          <p:spPr>
            <a:xfrm>
              <a:off x="4391621" y="2424472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24,2%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60" name="Shape 18">
            <a:extLst>
              <a:ext uri="{FF2B5EF4-FFF2-40B4-BE49-F238E27FC236}">
                <a16:creationId xmlns:a16="http://schemas.microsoft.com/office/drawing/2014/main" id="{4455CD8B-6004-599E-D545-270E7F8D708C}"/>
              </a:ext>
            </a:extLst>
          </p:cNvPr>
          <p:cNvSpPr/>
          <p:nvPr/>
        </p:nvSpPr>
        <p:spPr>
          <a:xfrm>
            <a:off x="806408" y="5608069"/>
            <a:ext cx="4892041" cy="4735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99828">
                  <a:shade val="30000"/>
                  <a:satMod val="115000"/>
                </a:srgbClr>
              </a:gs>
              <a:gs pos="50000">
                <a:srgbClr val="F99828">
                  <a:shade val="67500"/>
                  <a:satMod val="115000"/>
                </a:srgbClr>
              </a:gs>
              <a:gs pos="100000">
                <a:srgbClr val="F99828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62" name="Text 41">
            <a:extLst>
              <a:ext uri="{FF2B5EF4-FFF2-40B4-BE49-F238E27FC236}">
                <a16:creationId xmlns:a16="http://schemas.microsoft.com/office/drawing/2014/main" id="{4C0B369C-793D-BB00-9D0B-71A93B954FD7}"/>
              </a:ext>
            </a:extLst>
          </p:cNvPr>
          <p:cNvSpPr/>
          <p:nvPr/>
        </p:nvSpPr>
        <p:spPr>
          <a:xfrm>
            <a:off x="1035182" y="5711540"/>
            <a:ext cx="4474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</a:p>
          <a:p>
            <a:pPr marL="0" indent="0">
              <a:buNone/>
            </a:pP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CANANÉIA, CAIUÁ E GUAPIARA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7ACABF7-9043-4185-12C0-D9BEC160C7FB}"/>
              </a:ext>
            </a:extLst>
          </p:cNvPr>
          <p:cNvSpPr/>
          <p:nvPr/>
        </p:nvSpPr>
        <p:spPr>
          <a:xfrm>
            <a:off x="6259315" y="1207009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8" name="Shape 9"/>
          <p:cNvSpPr/>
          <p:nvPr/>
        </p:nvSpPr>
        <p:spPr>
          <a:xfrm>
            <a:off x="6533635" y="1555341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9" name="Text 10"/>
          <p:cNvSpPr/>
          <p:nvPr/>
        </p:nvSpPr>
        <p:spPr>
          <a:xfrm>
            <a:off x="6533635" y="155534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pt-BR" sz="2400" noProof="0">
              <a:solidFill>
                <a:schemeClr val="bg1"/>
              </a:solidFill>
            </a:endParaRPr>
          </a:p>
        </p:txBody>
      </p:sp>
      <p:sp>
        <p:nvSpPr>
          <p:cNvPr id="10" name="Text 11"/>
          <p:cNvSpPr/>
          <p:nvPr/>
        </p:nvSpPr>
        <p:spPr>
          <a:xfrm>
            <a:off x="7219435" y="154619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B</a:t>
            </a:r>
            <a:endParaRPr lang="pt-BR" sz="900" noProof="0">
              <a:latin typeface="Montserrat" pitchFamily="2" charset="0"/>
            </a:endParaRPr>
          </a:p>
        </p:txBody>
      </p:sp>
      <p:sp>
        <p:nvSpPr>
          <p:cNvPr id="11" name="Text 12"/>
          <p:cNvSpPr/>
          <p:nvPr/>
        </p:nvSpPr>
        <p:spPr>
          <a:xfrm>
            <a:off x="7219435" y="1783941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ESTRUTURADA COM INFRAESTRUTURA A DESENVOLVER</a:t>
            </a:r>
            <a:endParaRPr lang="pt-BR" sz="1150" noProof="0"/>
          </a:p>
        </p:txBody>
      </p:sp>
      <p:sp>
        <p:nvSpPr>
          <p:cNvPr id="27" name="Text 13"/>
          <p:cNvSpPr/>
          <p:nvPr/>
        </p:nvSpPr>
        <p:spPr>
          <a:xfrm>
            <a:off x="6533635" y="2259429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7C8EC9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236</a:t>
            </a:r>
            <a:r>
              <a:rPr lang="pt-BR" sz="10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2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6533635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643363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6FBF8F"/>
                </a:solidFill>
                <a:latin typeface="Montserrat"/>
                <a:ea typeface="Arial" pitchFamily="34" charset="-122"/>
                <a:cs typeface="Arial"/>
              </a:rPr>
              <a:t>▲ acima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8225275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8335003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E0A05A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▼ abaixo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9916915" y="2796677"/>
            <a:ext cx="1600200" cy="36490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5A5F66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10026643" y="2796677"/>
            <a:ext cx="1463040" cy="36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≈ na média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6533635" y="3409847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6533635" y="3699347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8000"/>
              </a:lnSpc>
            </a:pP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Municípios com </a:t>
            </a:r>
            <a:r>
              <a:rPr lang="pt-BR" sz="1000" noProof="0" b="1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fiscal e institucional </a:t>
            </a:r>
            <a:r>
              <a:rPr lang="pt-BR" sz="1000" noProof="0" b="1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acima da média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estadual, porém com infraestrutura digital abaixo da média e condição socioeconômica muito próxima da média. É o agrupamento mais numeroso do Estado.</a:t>
            </a:r>
            <a:endParaRPr lang="pt-BR" sz="1000" noProof="0" dirty="0">
              <a:latin typeface="Montserrat"/>
              <a:cs typeface="Arial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6533635" y="4379801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64" name="Text 23"/>
          <p:cNvSpPr/>
          <p:nvPr/>
        </p:nvSpPr>
        <p:spPr>
          <a:xfrm>
            <a:off x="6533635" y="4686553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em que a gestão pública apresenta condições de conduzir o processo, mas a infraestrutura habilitadora é limitante. O apoio prioriza soluções compatíveis com a infraestrutura disponível e a articulação de conectividade.</a:t>
            </a:r>
            <a:endParaRPr lang="pt-BR" sz="1000" noProof="0">
              <a:latin typeface="Montserrat" pitchFamily="2" charset="0"/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7BA5283D-BD71-1082-EFAA-CBD46EA8304B}"/>
              </a:ext>
            </a:extLst>
          </p:cNvPr>
          <p:cNvGrpSpPr/>
          <p:nvPr/>
        </p:nvGrpSpPr>
        <p:grpSpPr>
          <a:xfrm>
            <a:off x="8170689" y="2275489"/>
            <a:ext cx="1487194" cy="296737"/>
            <a:chOff x="4206240" y="2362170"/>
            <a:chExt cx="1600200" cy="320040"/>
          </a:xfrm>
        </p:grpSpPr>
        <p:sp>
          <p:nvSpPr>
            <p:cNvPr id="66" name="Shape 18">
              <a:extLst>
                <a:ext uri="{FF2B5EF4-FFF2-40B4-BE49-F238E27FC236}">
                  <a16:creationId xmlns:a16="http://schemas.microsoft.com/office/drawing/2014/main" id="{F96721B8-44A1-91FC-13DA-B19A2D3A72B8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67" name="Text 21">
              <a:extLst>
                <a:ext uri="{FF2B5EF4-FFF2-40B4-BE49-F238E27FC236}">
                  <a16:creationId xmlns:a16="http://schemas.microsoft.com/office/drawing/2014/main" id="{B2C5EBE8-570E-5B46-FD28-DF40F622BFE9}"/>
                </a:ext>
              </a:extLst>
            </p:cNvPr>
            <p:cNvSpPr/>
            <p:nvPr/>
          </p:nvSpPr>
          <p:spPr>
            <a:xfrm>
              <a:off x="4391621" y="2424472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36,6%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68" name="Shape 18">
            <a:extLst>
              <a:ext uri="{FF2B5EF4-FFF2-40B4-BE49-F238E27FC236}">
                <a16:creationId xmlns:a16="http://schemas.microsoft.com/office/drawing/2014/main" id="{C9705414-A869-0468-895C-3D6CF653E1E9}"/>
              </a:ext>
            </a:extLst>
          </p:cNvPr>
          <p:cNvSpPr/>
          <p:nvPr/>
        </p:nvSpPr>
        <p:spPr>
          <a:xfrm>
            <a:off x="6533634" y="5608069"/>
            <a:ext cx="4892041" cy="473508"/>
          </a:xfrm>
          <a:prstGeom prst="roundRect">
            <a:avLst>
              <a:gd name="adj" fmla="val 50000"/>
            </a:avLst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AA75690C-7C70-327F-AC0C-1D13D200015D}"/>
              </a:ext>
            </a:extLst>
          </p:cNvPr>
          <p:cNvSpPr/>
          <p:nvPr/>
        </p:nvSpPr>
        <p:spPr>
          <a:xfrm>
            <a:off x="6751537" y="5707663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</a:p>
          <a:p>
            <a:pPr marL="0" indent="0">
              <a:buNone/>
            </a:pP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IEPÊ, BOM SUCESSO DE ITARARÉ E BANANAL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95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PERFIS IDENTIFICADOS (</a:t>
            </a:r>
            <a:r>
              <a:rPr lang="pt-BR" sz="2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2)</a:t>
            </a:r>
            <a:endParaRPr lang="pt-BR" sz="2500" noProof="0"/>
          </a:p>
        </p:txBody>
      </p:sp>
      <p:sp>
        <p:nvSpPr>
          <p:cNvPr id="11" name="Shape 8"/>
          <p:cNvSpPr/>
          <p:nvPr/>
        </p:nvSpPr>
        <p:spPr>
          <a:xfrm>
            <a:off x="548640" y="1207009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2" name="Shape 9"/>
          <p:cNvSpPr/>
          <p:nvPr/>
        </p:nvSpPr>
        <p:spPr>
          <a:xfrm>
            <a:off x="822960" y="15294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422B7A43-E812-C9E9-817F-943BAF899B0B}"/>
              </a:ext>
            </a:extLst>
          </p:cNvPr>
          <p:cNvSpPr/>
          <p:nvPr/>
        </p:nvSpPr>
        <p:spPr>
          <a:xfrm>
            <a:off x="822959" y="5608069"/>
            <a:ext cx="4892041" cy="4735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496CD">
                  <a:shade val="30000"/>
                  <a:satMod val="115000"/>
                </a:srgbClr>
              </a:gs>
              <a:gs pos="50000">
                <a:srgbClr val="4496CD">
                  <a:shade val="67500"/>
                  <a:satMod val="115000"/>
                </a:srgbClr>
              </a:gs>
              <a:gs pos="100000">
                <a:srgbClr val="4496CD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13" name="Text 10"/>
          <p:cNvSpPr/>
          <p:nvPr/>
        </p:nvSpPr>
        <p:spPr>
          <a:xfrm>
            <a:off x="822960" y="15294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pt-BR" sz="2400" noProof="0"/>
          </a:p>
        </p:txBody>
      </p:sp>
      <p:sp>
        <p:nvSpPr>
          <p:cNvPr id="14" name="Text 11"/>
          <p:cNvSpPr/>
          <p:nvPr/>
        </p:nvSpPr>
        <p:spPr>
          <a:xfrm>
            <a:off x="1508760" y="1520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C</a:t>
            </a:r>
            <a:endParaRPr lang="pt-BR" sz="9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08760" y="17580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MATURIDADE DIGITAL CONSOLIDADA</a:t>
            </a:r>
            <a:endParaRPr lang="pt-BR" sz="1150" noProof="0"/>
          </a:p>
        </p:txBody>
      </p:sp>
      <p:sp>
        <p:nvSpPr>
          <p:cNvPr id="16" name="Text 13"/>
          <p:cNvSpPr/>
          <p:nvPr/>
        </p:nvSpPr>
        <p:spPr>
          <a:xfrm>
            <a:off x="822960" y="224219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4496C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180</a:t>
            </a:r>
            <a:r>
              <a:rPr lang="pt-BR" sz="105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r>
              <a:rPr lang="pt-BR" sz="105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</a:t>
            </a:r>
            <a:endParaRPr lang="pt-BR" sz="24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8E5A2B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32688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E0A05A"/>
                </a:solidFill>
                <a:latin typeface="Montserrat"/>
                <a:ea typeface="Arial" pitchFamily="34" charset="-122"/>
                <a:cs typeface="Arial"/>
              </a:rPr>
              <a:t>▼ abaixo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14600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624328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06240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315968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2960" y="338397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22960" y="362171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8000"/>
              </a:lnSpc>
            </a:pP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Municípios com infraestrutura de conectividade, governança de TI e maturidade em cidades inteligentes acima da média estadual, acompanhadas de condição socioeconômica também favorável. A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capacidade </a:t>
            </a:r>
            <a:r>
              <a:rPr lang="pt-BR" sz="10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fiscal e institucional situa-se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 ligeiramente abaixo da </a:t>
            </a: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média do Estado.</a:t>
            </a:r>
            <a:endParaRPr lang="pt-BR" sz="1000" noProof="0" dirty="0">
              <a:latin typeface="Montserrat"/>
              <a:cs typeface="Arial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22960" y="45811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2960" y="49194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com base tecnológica instalada e demanda por qualificação da gestão. O apoio do programa concentra-se no planejamento, na modelagem contratual e na sustentação fiscal das soluções.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40862" y="5707663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</a:p>
          <a:p>
            <a:pPr marL="0" indent="0">
              <a:buNone/>
            </a:pP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SOROCABA, SÃO CAETANO DO SUL E ARARAS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199632" y="1207008"/>
            <a:ext cx="5440680" cy="5138928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29" name="Shape 26"/>
          <p:cNvSpPr/>
          <p:nvPr/>
        </p:nvSpPr>
        <p:spPr>
          <a:xfrm>
            <a:off x="6473952" y="15294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0" name="Text 27"/>
          <p:cNvSpPr/>
          <p:nvPr/>
        </p:nvSpPr>
        <p:spPr>
          <a:xfrm>
            <a:off x="6473952" y="15294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400" b="1" noProof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pt-BR" sz="2400" noProof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81EEBD9C-0F25-834C-367A-4E99965E0A3D}"/>
              </a:ext>
            </a:extLst>
          </p:cNvPr>
          <p:cNvSpPr/>
          <p:nvPr/>
        </p:nvSpPr>
        <p:spPr>
          <a:xfrm>
            <a:off x="6473952" y="5608069"/>
            <a:ext cx="4892041" cy="4735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9D4EDD">
                  <a:shade val="30000"/>
                  <a:satMod val="115000"/>
                </a:srgbClr>
              </a:gs>
              <a:gs pos="50000">
                <a:srgbClr val="9D4EDD">
                  <a:shade val="67500"/>
                  <a:satMod val="115000"/>
                </a:srgbClr>
              </a:gs>
              <a:gs pos="100000">
                <a:srgbClr val="9D4EDD">
                  <a:shade val="100000"/>
                  <a:satMod val="115000"/>
                </a:srgb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pt-BR" sz="1200" noProof="0"/>
          </a:p>
        </p:txBody>
      </p:sp>
      <p:sp>
        <p:nvSpPr>
          <p:cNvPr id="31" name="Text 28"/>
          <p:cNvSpPr/>
          <p:nvPr/>
        </p:nvSpPr>
        <p:spPr>
          <a:xfrm>
            <a:off x="7159752" y="15203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kern="0" spc="100" noProof="0">
                <a:solidFill>
                  <a:schemeClr val="bg1">
                    <a:lumMod val="8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PERFIL D</a:t>
            </a:r>
            <a:endParaRPr lang="pt-BR" sz="900" noProof="0">
              <a:solidFill>
                <a:schemeClr val="bg1">
                  <a:lumMod val="85000"/>
                </a:schemeClr>
              </a:solidFill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159752" y="17580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CAPACIDADES CONSOLIDADAS NAS TRÊS DIMENSÕES</a:t>
            </a:r>
            <a:endParaRPr lang="pt-BR" sz="1150" noProof="0"/>
          </a:p>
        </p:txBody>
      </p:sp>
      <p:sp>
        <p:nvSpPr>
          <p:cNvPr id="33" name="Text 30"/>
          <p:cNvSpPr/>
          <p:nvPr/>
        </p:nvSpPr>
        <p:spPr>
          <a:xfrm>
            <a:off x="6473952" y="2257691"/>
            <a:ext cx="2696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>
                <a:solidFill>
                  <a:srgbClr val="9D4EDD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72</a:t>
            </a:r>
            <a:r>
              <a:rPr lang="pt-BR" sz="105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200" noProof="0">
                <a:solidFill>
                  <a:schemeClr val="bg1">
                    <a:lumMod val="95000"/>
                  </a:schemeClr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</a:t>
            </a:r>
            <a:endParaRPr lang="pt-BR" sz="2400" noProof="0">
              <a:solidFill>
                <a:schemeClr val="bg1">
                  <a:lumMod val="95000"/>
                </a:schemeClr>
              </a:solidFill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73952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583680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CFI</a:t>
            </a:r>
            <a:r>
              <a:rPr lang="pt-BR" sz="950" b="1" noProof="0">
                <a:solidFill>
                  <a:srgbClr val="FFFFFF"/>
                </a:solidFill>
                <a:latin typeface="Montserrat"/>
                <a:ea typeface="Arial" pitchFamily="34" charset="-122"/>
                <a:cs typeface="Arial"/>
              </a:rPr>
              <a:t>  </a:t>
            </a:r>
            <a:r>
              <a:rPr lang="pt-BR" sz="900" noProof="0" dirty="0">
                <a:solidFill>
                  <a:srgbClr val="6FBF8F"/>
                </a:solidFill>
                <a:latin typeface="Montserrat"/>
                <a:ea typeface="Arial" pitchFamily="34" charset="-122"/>
                <a:cs typeface="Arial"/>
              </a:rPr>
              <a:t>▲ acima</a:t>
            </a:r>
            <a:endParaRPr lang="pt-BR" sz="950" noProof="0" dirty="0">
              <a:latin typeface="Montserrat"/>
              <a:cs typeface="Arial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165592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F7D5A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275320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IMD  </a:t>
            </a:r>
            <a:r>
              <a:rPr lang="pt-BR" sz="900" noProof="0">
                <a:solidFill>
                  <a:srgbClr val="6FBF8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▲ acima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857232" y="2782028"/>
            <a:ext cx="1600200" cy="384048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5A5F66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966960" y="27820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b="1" noProof="0">
                <a:solidFill>
                  <a:srgbClr val="FFFFFF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CSE  </a:t>
            </a:r>
            <a:r>
              <a:rPr lang="pt-BR" sz="900" noProof="0">
                <a:solidFill>
                  <a:srgbClr val="9AA0A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≈ na média</a:t>
            </a:r>
            <a:endParaRPr lang="pt-BR" sz="950" noProof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73952" y="338397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CARACTERÍSTICAS PREDOMINANTES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73952" y="362171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8000"/>
              </a:lnSpc>
            </a:pP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Municípios com capacidade fiscal e institucional e infraestrutura digital acima da média estadual, com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destaque para a capacidade </a:t>
            </a:r>
            <a:r>
              <a:rPr lang="pt-BR" sz="100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fiscal e </a:t>
            </a:r>
            <a:r>
              <a:rPr lang="pt-BR" sz="1000" noProof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institucional. </a:t>
            </a:r>
            <a:r>
              <a:rPr lang="pt-BR" sz="1000" noProof="0" dirty="0">
                <a:solidFill>
                  <a:srgbClr val="E6E6E6"/>
                </a:solidFill>
                <a:latin typeface="Montserrat"/>
                <a:ea typeface="Arial" pitchFamily="34" charset="-122"/>
                <a:cs typeface="Arial"/>
              </a:rPr>
              <a:t>A condição socioeconômica fica na média do Estado.</a:t>
            </a:r>
            <a:endParaRPr lang="pt-BR" sz="1000" noProof="0" dirty="0">
              <a:latin typeface="Montserrat"/>
              <a:cs typeface="Arial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73952" y="458735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b="1" kern="0" spc="6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JUSTIFICATIVA TÉCNICA E IMPLICAÇÃO PARA O PROGRAMA</a:t>
            </a:r>
            <a:endParaRPr lang="pt-BR" sz="10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473952" y="49194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000" noProof="0">
                <a:solidFill>
                  <a:srgbClr val="E6E6E6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Grupo com maior capacidade de execução imediata e de replicação, ideal para projetos pilotos e replicação em perfis consolidados. </a:t>
            </a:r>
            <a:endParaRPr lang="pt-BR" sz="1000" noProof="0">
              <a:latin typeface="Montserrat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702726" y="5694288"/>
            <a:ext cx="4474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MUNICÍPIOS MAIS ALINHADOS AO PERFIL: </a:t>
            </a:r>
            <a:r>
              <a:rPr lang="pt-BR" sz="10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PINDAMONHANGABA, SANTANA DE PARNAÍBA E SALTINHO</a:t>
            </a:r>
            <a:endParaRPr lang="pt-BR" sz="1050" noProof="0">
              <a:solidFill>
                <a:schemeClr val="bg1"/>
              </a:solidFill>
              <a:latin typeface="Montserrat" pitchFamily="2" charset="0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0100993-0F19-E95E-FFB5-52359B680FB7}"/>
              </a:ext>
            </a:extLst>
          </p:cNvPr>
          <p:cNvGrpSpPr/>
          <p:nvPr/>
        </p:nvGrpSpPr>
        <p:grpSpPr>
          <a:xfrm>
            <a:off x="2287725" y="2275489"/>
            <a:ext cx="1487194" cy="296737"/>
            <a:chOff x="4206240" y="2362170"/>
            <a:chExt cx="1600200" cy="320040"/>
          </a:xfrm>
        </p:grpSpPr>
        <p:sp>
          <p:nvSpPr>
            <p:cNvPr id="46" name="Shape 18">
              <a:extLst>
                <a:ext uri="{FF2B5EF4-FFF2-40B4-BE49-F238E27FC236}">
                  <a16:creationId xmlns:a16="http://schemas.microsoft.com/office/drawing/2014/main" id="{40079209-F775-2B4C-3FB0-ECC2A1E85929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/>
            </a:p>
          </p:txBody>
        </p:sp>
        <p:sp>
          <p:nvSpPr>
            <p:cNvPr id="48" name="Text 21">
              <a:extLst>
                <a:ext uri="{FF2B5EF4-FFF2-40B4-BE49-F238E27FC236}">
                  <a16:creationId xmlns:a16="http://schemas.microsoft.com/office/drawing/2014/main" id="{EBD4E5DC-89CD-ACC4-ED77-FB0D7479662A}"/>
                </a:ext>
              </a:extLst>
            </p:cNvPr>
            <p:cNvSpPr/>
            <p:nvPr/>
          </p:nvSpPr>
          <p:spPr>
            <a:xfrm>
              <a:off x="4391621" y="2424472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28,0%</a:t>
              </a:r>
              <a:r>
                <a:rPr lang="pt-BR" sz="120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148014F9-35C6-CA76-E4C6-6D41180BE3AE}"/>
              </a:ext>
            </a:extLst>
          </p:cNvPr>
          <p:cNvGrpSpPr/>
          <p:nvPr/>
        </p:nvGrpSpPr>
        <p:grpSpPr>
          <a:xfrm>
            <a:off x="7957262" y="2277690"/>
            <a:ext cx="1487194" cy="296737"/>
            <a:chOff x="4206240" y="2362170"/>
            <a:chExt cx="1600200" cy="320040"/>
          </a:xfrm>
        </p:grpSpPr>
        <p:sp>
          <p:nvSpPr>
            <p:cNvPr id="51" name="Shape 18">
              <a:extLst>
                <a:ext uri="{FF2B5EF4-FFF2-40B4-BE49-F238E27FC236}">
                  <a16:creationId xmlns:a16="http://schemas.microsoft.com/office/drawing/2014/main" id="{201D396C-1D8F-8A16-E788-3F15912689B3}"/>
                </a:ext>
              </a:extLst>
            </p:cNvPr>
            <p:cNvSpPr/>
            <p:nvPr/>
          </p:nvSpPr>
          <p:spPr>
            <a:xfrm>
              <a:off x="4206240" y="2362170"/>
              <a:ext cx="1600200" cy="32004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pPr algn="ctr"/>
              <a:endParaRPr lang="pt-BR" sz="1200" noProof="0"/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70A473E9-2644-513E-FA89-AEB10024EA61}"/>
                </a:ext>
              </a:extLst>
            </p:cNvPr>
            <p:cNvSpPr/>
            <p:nvPr/>
          </p:nvSpPr>
          <p:spPr>
            <a:xfrm>
              <a:off x="4391621" y="2433776"/>
              <a:ext cx="1229437" cy="2004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pt-BR" sz="105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11,2% </a:t>
              </a:r>
              <a:r>
                <a:rPr lang="pt-BR" sz="105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do Estado</a:t>
              </a:r>
              <a:endParaRPr lang="pt-BR" sz="105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0292"/>
          </a:xfrm>
          <a:prstGeom prst="rect">
            <a:avLst/>
          </a:prstGeom>
          <a:solidFill>
            <a:srgbClr val="F99828"/>
          </a:solidFill>
          <a:ln w="12700">
            <a:solidFill>
              <a:srgbClr val="F99828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3" name="Shape 1"/>
          <p:cNvSpPr/>
          <p:nvPr/>
        </p:nvSpPr>
        <p:spPr>
          <a:xfrm>
            <a:off x="1179576" y="384048"/>
            <a:ext cx="566928" cy="50292"/>
          </a:xfrm>
          <a:prstGeom prst="rect">
            <a:avLst/>
          </a:prstGeom>
          <a:solidFill>
            <a:srgbClr val="EA3234"/>
          </a:solidFill>
          <a:ln w="12700">
            <a:solidFill>
              <a:srgbClr val="EA3234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4" name="Shape 2"/>
          <p:cNvSpPr/>
          <p:nvPr/>
        </p:nvSpPr>
        <p:spPr>
          <a:xfrm>
            <a:off x="1810512" y="384048"/>
            <a:ext cx="566928" cy="50292"/>
          </a:xfrm>
          <a:prstGeom prst="rect">
            <a:avLst/>
          </a:prstGeom>
          <a:solidFill>
            <a:srgbClr val="4496CD"/>
          </a:solidFill>
          <a:ln w="12700">
            <a:solidFill>
              <a:srgbClr val="4496CD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5" name="Shape 3"/>
          <p:cNvSpPr/>
          <p:nvPr/>
        </p:nvSpPr>
        <p:spPr>
          <a:xfrm>
            <a:off x="2441448" y="384048"/>
            <a:ext cx="566928" cy="50292"/>
          </a:xfrm>
          <a:prstGeom prst="rect">
            <a:avLst/>
          </a:prstGeom>
          <a:solidFill>
            <a:srgbClr val="263253"/>
          </a:solidFill>
          <a:ln w="12700">
            <a:solidFill>
              <a:srgbClr val="263253"/>
            </a:solidFill>
            <a:prstDash val="solid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Text 4"/>
          <p:cNvSpPr/>
          <p:nvPr/>
        </p:nvSpPr>
        <p:spPr>
          <a:xfrm>
            <a:off x="512064" y="5120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2500" b="1" noProof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 1 - ÍNDICE DE ALINHAMENTO AO PERFIL (IAP)</a:t>
            </a:r>
            <a:endParaRPr lang="pt-BR" sz="2500" noProof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Critério objetivo de ordenação dos municípios dentro de cada perfil</a:t>
            </a:r>
            <a:endParaRPr lang="pt-BR" sz="1250" noProof="0">
              <a:solidFill>
                <a:schemeClr val="bg1"/>
              </a:solidFill>
              <a:latin typeface="Montserrat" pitchFamily="2" charset="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C8E6D6D-8089-3162-7A4C-CC2A822D68B0}"/>
              </a:ext>
            </a:extLst>
          </p:cNvPr>
          <p:cNvGrpSpPr/>
          <p:nvPr/>
        </p:nvGrpSpPr>
        <p:grpSpPr>
          <a:xfrm>
            <a:off x="553040" y="2084832"/>
            <a:ext cx="5577840" cy="1165860"/>
            <a:chOff x="548640" y="1645920"/>
            <a:chExt cx="5577840" cy="1165860"/>
          </a:xfrm>
        </p:grpSpPr>
        <p:sp>
          <p:nvSpPr>
            <p:cNvPr id="11" name="Shape 8"/>
            <p:cNvSpPr/>
            <p:nvPr/>
          </p:nvSpPr>
          <p:spPr>
            <a:xfrm>
              <a:off x="548640" y="1645920"/>
              <a:ext cx="5577840" cy="1165860"/>
            </a:xfrm>
            <a:prstGeom prst="roundRect">
              <a:avLst>
                <a:gd name="adj" fmla="val 2791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822960" y="1810512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 dirty="0">
                  <a:solidFill>
                    <a:srgbClr val="F99828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PERGUNTA QUE RESPONDE</a:t>
              </a:r>
              <a:endParaRPr lang="pt-BR" sz="1200" noProof="0" dirty="0">
                <a:latin typeface="Montserrat" pitchFamily="2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822960" y="2249424"/>
              <a:ext cx="5029200" cy="480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lnSpc>
                  <a:spcPct val="100000"/>
                </a:lnSpc>
                <a:buNone/>
              </a:pPr>
              <a:r>
                <a:rPr lang="pt-BR" sz="1200" noProof="0" dirty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Qual município apresenta maior alinhamento às características esperadas do seu perfil?</a:t>
              </a:r>
              <a:endParaRPr lang="pt-BR" sz="1200" noProof="0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47C6E33-27B8-2EE9-E94E-76C0794D89FD}"/>
              </a:ext>
            </a:extLst>
          </p:cNvPr>
          <p:cNvGrpSpPr/>
          <p:nvPr/>
        </p:nvGrpSpPr>
        <p:grpSpPr>
          <a:xfrm>
            <a:off x="553040" y="3427534"/>
            <a:ext cx="5577840" cy="2519430"/>
            <a:chOff x="548640" y="3694176"/>
            <a:chExt cx="5577840" cy="2519430"/>
          </a:xfrm>
        </p:grpSpPr>
        <p:sp>
          <p:nvSpPr>
            <p:cNvPr id="14" name="Shape 11"/>
            <p:cNvSpPr/>
            <p:nvPr/>
          </p:nvSpPr>
          <p:spPr>
            <a:xfrm>
              <a:off x="548640" y="3694176"/>
              <a:ext cx="5577840" cy="2519430"/>
            </a:xfrm>
            <a:prstGeom prst="roundRect">
              <a:avLst>
                <a:gd name="adj" fmla="val 2308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pt-BR" noProof="0">
                <a:latin typeface="Montserrat" pitchFamily="2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832104" y="3887924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b="1" noProof="0">
                  <a:solidFill>
                    <a:srgbClr val="F99828"/>
                  </a:solidFill>
                  <a:latin typeface="Montserrat" pitchFamily="2" charset="0"/>
                  <a:ea typeface="Montserrat" pitchFamily="34" charset="-122"/>
                  <a:cs typeface="Montserrat" pitchFamily="34" charset="-120"/>
                </a:rPr>
                <a:t>O QUE O ÍNDICE MEDE — E O QUE NÃO MEDE</a:t>
              </a:r>
              <a:endParaRPr lang="pt-BR" sz="1200" noProof="0">
                <a:latin typeface="Montserrat" pitchFamily="2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822960" y="4339086"/>
              <a:ext cx="502920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Mede o grau de </a:t>
              </a:r>
              <a:r>
                <a:rPr lang="pt-BR" sz="1200" b="1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alinhamento do município às características predominantes do perfil </a:t>
              </a: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ao qual foi classificado.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Quanto maior o IAP, mais o município expressa o padrão típico do seu agrupamento.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Não é comparável entre perfis distintos: a ordenação é sempre </a:t>
              </a:r>
              <a:r>
                <a:rPr lang="pt-BR" sz="1200" noProof="0" err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intraperfil</a:t>
              </a: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  <a:p>
              <a:pPr marL="342900" indent="-342900" algn="just">
                <a:lnSpc>
                  <a:spcPct val="105000"/>
                </a:lnSpc>
                <a:spcAft>
                  <a:spcPts val="500"/>
                </a:spcAft>
                <a:buSzPct val="100000"/>
                <a:buChar char="▪"/>
              </a:pPr>
              <a:r>
                <a:rPr lang="pt-BR" sz="1200" noProof="0" b="1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* CSE de B e D ≈ na média: </a:t>
              </a:r>
              <a:r>
                <a:rPr lang="pt-BR" sz="1200" noProof="0">
                  <a:solidFill>
                    <a:schemeClr val="bg1"/>
                  </a:solidFill>
                  <a:latin typeface="Montserrat" pitchFamily="2" charset="0"/>
                  <a:ea typeface="Arial" pitchFamily="34" charset="-122"/>
                  <a:cs typeface="Arial" pitchFamily="34" charset="-120"/>
                </a:rPr>
                <a:t>o sinal segue a fórmula do edital, mas esse eixo praticamente não diferencia esses perfis.</a:t>
              </a:r>
              <a:endParaRPr lang="pt-BR" sz="1200" noProof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17" name="Shape 14"/>
          <p:cNvSpPr/>
          <p:nvPr/>
        </p:nvSpPr>
        <p:spPr>
          <a:xfrm>
            <a:off x="6355080" y="1645919"/>
            <a:ext cx="5285232" cy="4565099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62940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>
                <a:solidFill>
                  <a:srgbClr val="F99828"/>
                </a:solidFill>
                <a:latin typeface="Montserrat" pitchFamily="2" charset="0"/>
                <a:ea typeface="Montserrat" pitchFamily="34" charset="-122"/>
                <a:cs typeface="Montserrat" pitchFamily="34" charset="-120"/>
              </a:rPr>
              <a:t>COMO É CONSTRUÍDO</a:t>
            </a:r>
            <a:endParaRPr lang="pt-BR" sz="1200" noProof="0">
              <a:solidFill>
                <a:srgbClr val="F99828"/>
              </a:solidFill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29400" y="218961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O índice combina os três eixos do município, atribuindo a cada eixo o sinal correspondente à </a:t>
            </a:r>
            <a:r>
              <a:rPr lang="pt-BR" sz="11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característica predominante do perfil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Eixos cuja característica predominante é superior à média entram com sinal positivo; inferiores à média, com sinal negativo.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593001"/>
              </p:ext>
            </p:extLst>
          </p:nvPr>
        </p:nvGraphicFramePr>
        <p:xfrm>
          <a:off x="6629400" y="3151282"/>
          <a:ext cx="4786713" cy="1920240"/>
        </p:xfrm>
        <a:graphic>
          <a:graphicData uri="http://schemas.openxmlformats.org/drawingml/2006/table">
            <a:tbl>
              <a:tblPr/>
              <a:tblGrid>
                <a:gridCol w="1608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PERFIL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/>
                          <a:ea typeface="Arial" charset="0"/>
                          <a:cs typeface="Arial"/>
                        </a:rPr>
                        <a:t>CFI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IMD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CSE</a:t>
                      </a:r>
                      <a:endParaRPr lang="pt-BR" sz="1200" noProof="0">
                        <a:solidFill>
                          <a:schemeClr val="bg1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A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283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charset="0"/>
                          <a:cs typeface="Arial" pitchFamily="34" charset="-120"/>
                        </a:rPr>
                        <a:t>B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−*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44177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FF000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pt-BR" sz="1600" b="1" noProof="0">
                        <a:solidFill>
                          <a:srgbClr val="FF000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400" noProof="0">
                          <a:solidFill>
                            <a:srgbClr val="E6E6E6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pt-BR" sz="1400" noProof="0"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>
                          <a:solidFill>
                            <a:srgbClr val="00B050"/>
                          </a:solidFill>
                          <a:latin typeface="Montserrat" pitchFamily="2" charset="0"/>
                          <a:ea typeface="Arial" pitchFamily="34" charset="-122"/>
                          <a:cs typeface="Arial" pitchFamily="34" charset="-120"/>
                        </a:rPr>
                        <a:t>+*</a:t>
                      </a:r>
                      <a:endParaRPr lang="pt-BR" sz="1600" b="1" noProof="0">
                        <a:solidFill>
                          <a:srgbClr val="00B050"/>
                        </a:solidFill>
                        <a:latin typeface="Montserrat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798564" y="5408653"/>
            <a:ext cx="44942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Cada eixo contribui positivamente quando o município apresenta comportamento </a:t>
            </a:r>
            <a:r>
              <a:rPr lang="pt-BR" sz="1100" b="1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compatível com o padrão do perfil</a:t>
            </a:r>
            <a:r>
              <a:rPr lang="pt-BR" sz="1100" noProof="0">
                <a:solidFill>
                  <a:schemeClr val="bg1"/>
                </a:solidFill>
                <a:latin typeface="Montserrat" pitchFamily="2" charset="0"/>
                <a:ea typeface="Arial" pitchFamily="34" charset="-122"/>
                <a:cs typeface="Arial" pitchFamily="34" charset="-120"/>
              </a:rPr>
              <a:t>. A ordenação é decrescente dentro de cada agrupamento.</a:t>
            </a:r>
            <a:endParaRPr lang="pt-BR" sz="1100" noProof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1BE13E3-2B9B-00C3-22AF-CBB397120BFD}"/>
              </a:ext>
            </a:extLst>
          </p:cNvPr>
          <p:cNvSpPr/>
          <p:nvPr/>
        </p:nvSpPr>
        <p:spPr>
          <a:xfrm>
            <a:off x="6629400" y="5310205"/>
            <a:ext cx="4786712" cy="750066"/>
          </a:xfrm>
          <a:prstGeom prst="roundRect">
            <a:avLst>
              <a:gd name="adj" fmla="val 10897"/>
            </a:avLst>
          </a:prstGeom>
          <a:noFill/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 noProof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6510</Words>
  <Application>Microsoft Office PowerPoint</Application>
  <PresentationFormat>Widescreen</PresentationFormat>
  <Paragraphs>915</Paragraphs>
  <Slides>35</Slides>
  <Notes>34</Notes>
  <HiddenSlides>11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Edital de Chamada Publica no 002/2026 - Cidades Inteligentes</dc:title>
  <dc:subject>PptxGenJS Presentation</dc:subject>
  <dc:creator>IPT / SDE-SP</dc:creator>
  <cp:lastModifiedBy>Aryane Cavalcante França</cp:lastModifiedBy>
  <cp:revision>52</cp:revision>
  <dcterms:created xsi:type="dcterms:W3CDTF">2026-08-06T19:52:49Z</dcterms:created>
  <dcterms:modified xsi:type="dcterms:W3CDTF">2026-10-15T17:24:24Z</dcterms:modified>
</cp:coreProperties>
</file>