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comments/modernComment_114_0.xml" ContentType="application/vnd.ms-powerpoint.comments+xml"/>
  <Override PartName="/ppt/charts/chart4.xml" ContentType="application/vnd.openxmlformats-officedocument.drawingml.char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7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slide" Target="slides/slide17.xml"/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
  
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75"/>
          <c:y val="0.07"/>
          <c:w val="0.905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Capacidade Institucional e Fiscal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E6A98"/>
              </a:solidFill>
            </c:spPr>
          </c:dPt>
          <c:dPt>
            <c:idx val="1"/>
            <c:invertIfNegative val="0"/>
            <c:bubble3D val="0"/>
            <c:spPr>
              <a:solidFill>
                <a:srgbClr val="263253"/>
              </a:solidFill>
            </c:spPr>
          </c:dPt>
          <c:dPt>
            <c:idx val="2"/>
            <c:invertIfNegative val="0"/>
            <c:bubble3D val="0"/>
            <c:spPr>
              <a:solidFill>
                <a:srgbClr val="2A6E9E"/>
              </a:solidFill>
            </c:spPr>
          </c:dPt>
          <c:dPt>
            <c:idx val="3"/>
            <c:invertIfNegative val="0"/>
            <c:bubble3D val="0"/>
            <c:spPr>
              <a:solidFill>
                <a:srgbClr val="6576B8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-0.47</c:v>
                </c:pt>
                <c:pt idx="1">
                  <c:v>0.11</c:v>
                </c:pt>
                <c:pt idx="2">
                  <c:v>-0.2</c:v>
                </c:pt>
                <c:pt idx="3">
                  <c:v>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05-482E-A4E6-DFB76F0D90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Infraestrutura e Maturidade Digital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A2C7"/>
              </a:solidFill>
            </c:spPr>
          </c:dPt>
          <c:dPt>
            <c:idx val="1"/>
            <c:invertIfNegative val="0"/>
            <c:bubble3D val="0"/>
            <c:spPr>
              <a:solidFill>
                <a:srgbClr val="34457A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96CD"/>
              </a:solidFill>
            </c:spPr>
          </c:dPt>
          <c:dPt>
            <c:idx val="3"/>
            <c:invertIfNegative val="0"/>
            <c:bubble3D val="0"/>
            <c:spPr>
              <a:solidFill>
                <a:srgbClr val="7A8BC6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-0.5</c:v>
                </c:pt>
                <c:pt idx="1">
                  <c:v>-0.32</c:v>
                </c:pt>
                <c:pt idx="2">
                  <c:v>0.76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05-482E-A4E6-DFB76F0D905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Condição Socioeconômica</c:v>
                </c:pt>
              </c:strCache>
            </c:strRef>
          </c:tx>
          <c:spPr>
            <a:solidFill>
              <a:srgbClr val="D0D0D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3D3E7"/>
              </a:solidFill>
            </c:spPr>
          </c:dPt>
          <c:dPt>
            <c:idx val="1"/>
            <c:invertIfNegative val="0"/>
            <c:bubble3D val="0"/>
            <c:spPr>
              <a:solidFill>
                <a:srgbClr val="4A5C94"/>
              </a:solidFill>
            </c:spPr>
          </c:dPt>
          <c:dPt>
            <c:idx val="2"/>
            <c:invertIfNegative val="0"/>
            <c:bubble3D val="0"/>
            <c:spPr>
              <a:solidFill>
                <a:srgbClr val="9CCBEA"/>
              </a:solidFill>
            </c:spPr>
          </c:dPt>
          <c:dPt>
            <c:idx val="3"/>
            <c:invertIfNegative val="0"/>
            <c:bubble3D val="0"/>
            <c:spPr>
              <a:solidFill>
                <a:srgbClr val="B3BEE4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-0.49</c:v>
                </c:pt>
                <c:pt idx="1">
                  <c:v>-0.0</c:v>
                </c:pt>
                <c:pt idx="2">
                  <c:v>0.42</c:v>
                </c:pt>
                <c:pt idx="3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05-482E-A4E6-DFB76F0D90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6E6"/>
                </a:solidFill>
                <a:latin typeface="Montserrat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-0.6"/>
        </c:scaling>
        <c:delete val="0"/>
        <c:axPos val="l"/>
        <c:majorGridlines>
          <c:spPr>
            <a:ln w="12700" cap="flat">
              <a:solidFill>
                <a:srgbClr val="3A3A3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0A6"/>
                </a:solidFill>
                <a:latin typeface="Montserrat" pitchFamily="2" charset="0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1E1E1E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6111111111111108E-2"/>
          <c:y val="0.94549234716446962"/>
          <c:w val="0.96249999999999991"/>
          <c:h val="5.4507652835530392E-2"/>
        </c:manualLayout>
      </c:layout>
      <c:overlay val="0"/>
      <c:txPr>
        <a:bodyPr/>
        <a:lstStyle/>
        <a:p>
          <a:pPr>
            <a:defRPr sz="950">
              <a:solidFill>
                <a:srgbClr val="E6E6E6"/>
              </a:solidFill>
              <a:latin typeface="Montserrat" pitchFamily="2" charset="0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omments/modernComment_11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27D9C2-6A37-474C-99D8-FC0771B516B8}" authorId="{70D6D7DC-4737-C906-77DC-4E59050D7ABE}" created="2026-10-15T09:26:17.0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6"/>
      <ac:graphicFrameMk id="12" creationId="{00000000-0000-0000-0000-000000000000}"/>
    </ac:deMkLst>
    <p188:txBody>
      <a:bodyPr/>
      <a:lstStyle/>
      <a:p>
        <a:r>
          <a:rPr lang="pt-BR"/>
          <a:t>Para que não ficasse CIF (Capacidade institucional e fiscal), alterei para CFI (Capacidade fiscal e institucional). 
- Apenas não consegui alterar no gráfico.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ESTATÍSTICA DOS PERFIS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Valor médio de cada eixo por perfil, em escala padronizada e ponderada (eixo × √peso)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1567592"/>
            <a:ext cx="7680960" cy="4582352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1883791753"/>
              </p:ext>
            </p:extLst>
          </p:nvPr>
        </p:nvGraphicFramePr>
        <p:xfrm>
          <a:off x="731520" y="1828800"/>
          <a:ext cx="73152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8598557" y="2065723"/>
            <a:ext cx="3120174" cy="3786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A: </a:t>
            </a:r>
            <a:r>
              <a:rPr lang="pt-BR" sz="12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os três eixos abaixo da média, em magnitudes semelhantes.</a:t>
            </a:r>
            <a:endParaRPr lang="pt-BR" sz="1200" noProof="0">
              <a:latin typeface="Montserrat"/>
              <a:cs typeface="Arial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latin typeface="Montserrat" pitchFamily="2" charset="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B: </a:t>
            </a:r>
            <a:r>
              <a:rPr lang="pt-BR" sz="12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capacidade fiscal e institucional acima da média; infraestrutura digital abaixo da média; condição socioeconômica praticamente na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solidFill>
                <a:srgbClr val="E6E6E6"/>
              </a:solidFill>
              <a:latin typeface="Montserrat" pitchFamily="2" charset="0"/>
              <a:ea typeface="Arial" pitchFamily="34" charset="-122"/>
              <a:cs typeface="Arial" pitchFamily="34" charset="-12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C: </a:t>
            </a:r>
            <a:r>
              <a:rPr lang="pt-BR" sz="120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infraestrutura digital e condição socioeconômica acima da </a:t>
            </a:r>
            <a:r>
              <a:rPr lang="pt-BR" sz="120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média; capacidade fiscal e institucional abaixo da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dirty="0">
              <a:solidFill>
                <a:srgbClr val="E6E6E6"/>
              </a:solidFill>
              <a:latin typeface="Montserrat" pitchFamily="2" charset="0"/>
              <a:cs typeface="Arial" pitchFamily="34" charset="-12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D: </a:t>
            </a:r>
            <a:r>
              <a:rPr lang="pt-BR" sz="120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os três eixos acima da média, com destaque para a capacidade fiscal e institucional; condição socioeconômica próxima da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latin typeface="Montserrat" pitchFamily="2" charset="0"/>
            </a:endParaRP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CE88268-2BE1-3AC3-CF51-4CAE6C6291D3}"/>
              </a:ext>
            </a:extLst>
          </p:cNvPr>
          <p:cNvCxnSpPr>
            <a:cxnSpLocks/>
          </p:cNvCxnSpPr>
          <p:nvPr/>
        </p:nvCxnSpPr>
        <p:spPr>
          <a:xfrm>
            <a:off x="8568623" y="2777122"/>
            <a:ext cx="3150108" cy="0"/>
          </a:xfrm>
          <a:prstGeom prst="line">
            <a:avLst/>
          </a:prstGeom>
          <a:ln>
            <a:solidFill>
              <a:srgbClr val="9D4E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2B02CCDB-144C-94AC-E958-9AD3B30DB9EB}"/>
              </a:ext>
            </a:extLst>
          </p:cNvPr>
          <p:cNvCxnSpPr>
            <a:cxnSpLocks/>
          </p:cNvCxnSpPr>
          <p:nvPr/>
        </p:nvCxnSpPr>
        <p:spPr>
          <a:xfrm>
            <a:off x="8577249" y="3880129"/>
            <a:ext cx="3120174" cy="0"/>
          </a:xfrm>
          <a:prstGeom prst="line">
            <a:avLst/>
          </a:prstGeom>
          <a:ln>
            <a:solidFill>
              <a:srgbClr val="F99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6A103A3-B491-CF25-D040-0809C32219F5}"/>
              </a:ext>
            </a:extLst>
          </p:cNvPr>
          <p:cNvCxnSpPr>
            <a:cxnSpLocks/>
          </p:cNvCxnSpPr>
          <p:nvPr/>
        </p:nvCxnSpPr>
        <p:spPr>
          <a:xfrm>
            <a:off x="8577249" y="4990060"/>
            <a:ext cx="3120174" cy="0"/>
          </a:xfrm>
          <a:prstGeom prst="line">
            <a:avLst/>
          </a:prstGeom>
          <a:ln>
            <a:solidFill>
              <a:srgbClr val="4496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1" name="Rotulo CFI A"/>
          <p:cNvSpPr txBox="1"/>
          <p:nvPr/>
        </p:nvSpPr>
        <p:spPr>
          <a:xfrm>
            <a:off x="1418082" y="4642628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Montserrat" pitchFamily="2" charset="0"/>
              </a:rPr>
              <a:t>CFI</a:t>
            </a:r>
          </a:p>
        </p:txBody>
      </p:sp>
      <p:sp>
        <p:nvSpPr>
          <p:cNvPr id="952" name="Rotulo CFI B"/>
          <p:cNvSpPr txBox="1"/>
          <p:nvPr/>
        </p:nvSpPr>
        <p:spPr>
          <a:xfrm>
            <a:off x="3073146" y="3637556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Montserrat" pitchFamily="2" charset="0"/>
              </a:rPr>
              <a:t>CFI</a:t>
            </a:r>
          </a:p>
        </p:txBody>
      </p:sp>
      <p:sp>
        <p:nvSpPr>
          <p:cNvPr id="953" name="Rotulo CFI C"/>
          <p:cNvSpPr txBox="1"/>
          <p:nvPr/>
        </p:nvSpPr>
        <p:spPr>
          <a:xfrm>
            <a:off x="4728210" y="4247113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Montserrat" pitchFamily="2" charset="0"/>
              </a:rPr>
              <a:t>CFI</a:t>
            </a:r>
          </a:p>
        </p:txBody>
      </p:sp>
      <p:sp>
        <p:nvSpPr>
          <p:cNvPr id="954" name="Rotulo CFI D"/>
          <p:cNvSpPr txBox="1"/>
          <p:nvPr/>
        </p:nvSpPr>
        <p:spPr>
          <a:xfrm>
            <a:off x="6383274" y="2477987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Montserrat" pitchFamily="2" charset="0"/>
              </a:rPr>
              <a:t>CFI</a:t>
            </a:r>
          </a:p>
        </p:txBody>
      </p:sp>
      <p:sp>
        <p:nvSpPr>
          <p:cNvPr id="955" name="Rotulo IMD A"/>
          <p:cNvSpPr txBox="1"/>
          <p:nvPr/>
        </p:nvSpPr>
        <p:spPr>
          <a:xfrm>
            <a:off x="1877822" y="4686574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1E1E1E"/>
                </a:solidFill>
                <a:latin typeface="Montserrat" pitchFamily="2" charset="0"/>
              </a:rPr>
              <a:t>IMD</a:t>
            </a:r>
          </a:p>
        </p:txBody>
      </p:sp>
      <p:sp>
        <p:nvSpPr>
          <p:cNvPr id="956" name="Rotulo IMD B"/>
          <p:cNvSpPr txBox="1"/>
          <p:nvPr/>
        </p:nvSpPr>
        <p:spPr>
          <a:xfrm>
            <a:off x="3532886" y="4422897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Montserrat" pitchFamily="2" charset="0"/>
              </a:rPr>
              <a:t>IMD</a:t>
            </a:r>
          </a:p>
        </p:txBody>
      </p:sp>
      <p:sp>
        <p:nvSpPr>
          <p:cNvPr id="957" name="Rotulo IMD C"/>
          <p:cNvSpPr txBox="1"/>
          <p:nvPr/>
        </p:nvSpPr>
        <p:spPr>
          <a:xfrm>
            <a:off x="5187950" y="3078583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Montserrat" pitchFamily="2" charset="0"/>
              </a:rPr>
              <a:t>IMD</a:t>
            </a:r>
          </a:p>
        </p:txBody>
      </p:sp>
      <p:sp>
        <p:nvSpPr>
          <p:cNvPr id="958" name="Rotulo IMD D"/>
          <p:cNvSpPr txBox="1"/>
          <p:nvPr/>
        </p:nvSpPr>
        <p:spPr>
          <a:xfrm>
            <a:off x="6843014" y="3869612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Montserrat" pitchFamily="2" charset="0"/>
              </a:rPr>
              <a:t>IMD</a:t>
            </a:r>
          </a:p>
        </p:txBody>
      </p:sp>
      <p:sp>
        <p:nvSpPr>
          <p:cNvPr id="959" name="Rotulo CSE A"/>
          <p:cNvSpPr txBox="1"/>
          <p:nvPr/>
        </p:nvSpPr>
        <p:spPr>
          <a:xfrm>
            <a:off x="2337562" y="4671925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1E1E1E"/>
                </a:solidFill>
                <a:latin typeface="Montserrat" pitchFamily="2" charset="0"/>
              </a:rPr>
              <a:t>CSE</a:t>
            </a:r>
          </a:p>
        </p:txBody>
      </p:sp>
      <p:sp>
        <p:nvSpPr>
          <p:cNvPr id="960" name="Rotulo CSE B"/>
          <p:cNvSpPr txBox="1"/>
          <p:nvPr/>
        </p:nvSpPr>
        <p:spPr>
          <a:xfrm>
            <a:off x="3992626" y="3798691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Montserrat" pitchFamily="2" charset="0"/>
              </a:rPr>
              <a:t>CSE</a:t>
            </a:r>
          </a:p>
        </p:txBody>
      </p:sp>
      <p:sp>
        <p:nvSpPr>
          <p:cNvPr id="961" name="Rotulo CSE C"/>
          <p:cNvSpPr txBox="1"/>
          <p:nvPr/>
        </p:nvSpPr>
        <p:spPr>
          <a:xfrm>
            <a:off x="5647690" y="3576639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1E1E1E"/>
                </a:solidFill>
                <a:latin typeface="Montserrat" pitchFamily="2" charset="0"/>
              </a:rPr>
              <a:t>CSE</a:t>
            </a:r>
          </a:p>
        </p:txBody>
      </p:sp>
      <p:sp>
        <p:nvSpPr>
          <p:cNvPr id="962" name="Rotulo CSE D"/>
          <p:cNvSpPr txBox="1"/>
          <p:nvPr/>
        </p:nvSpPr>
        <p:spPr>
          <a:xfrm>
            <a:off x="7302754" y="3769394"/>
            <a:ext cx="4597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Montserrat" pitchFamily="2" charset="0"/>
              </a:rPr>
              <a:t>CSE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