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<Relationship Id="rId45" Type="http://schemas.openxmlformats.org/officeDocument/2006/relationships/slide" Target="slides/slide37.xml"/>
  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image" Target="../media/explic_fig_iap.png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RANKING PELO IAP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Cada perfil tem uma direção característica: quanto mais o município avança nela, maior o IAP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01" name="Cartao 901"/>
          <p:cNvSpPr/>
          <p:nvPr/>
        </p:nvSpPr>
        <p:spPr>
          <a:xfrm>
            <a:off x="548640" y="1645920"/>
            <a:ext cx="6309360" cy="4565098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2" name="Texto 902"/>
          <p:cNvSpPr txBox="1"/>
          <p:nvPr/>
        </p:nvSpPr>
        <p:spPr>
          <a:xfrm>
            <a:off x="777240" y="179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EXEMPLO VISUAL — PERFIL C</a:t>
            </a:r>
          </a:p>
        </p:txBody>
      </p:sp>
      <p:pic>
        <p:nvPicPr>
          <p:cNvPr id="903" name="Figura 903" descr="Dispersão dos municípios do Perfil C: capacidade fiscal no eixo horizontal, infraestrutura digital e condição socioeconômica no vertical, linhas de mesmo IAP e destaque para Sorocaba, Barra Bonita e Itapevi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24858" y="2103120"/>
            <a:ext cx="5756923" cy="4016458"/>
          </a:xfrm>
          <a:prstGeom prst="rect">
            <a:avLst/>
          </a:prstGeom>
        </p:spPr>
      </p:pic>
      <p:sp>
        <p:nvSpPr>
          <p:cNvPr id="904" name="Cartao 904"/>
          <p:cNvSpPr/>
          <p:nvPr/>
        </p:nvSpPr>
        <p:spPr>
          <a:xfrm>
            <a:off x="7040880" y="1645920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5" name="Texto 905"/>
          <p:cNvSpPr txBox="1"/>
          <p:nvPr/>
        </p:nvSpPr>
        <p:spPr>
          <a:xfrm>
            <a:off x="7269480" y="179592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 · O SINAL VEM DO PERFIL</a:t>
            </a:r>
          </a:p>
        </p:txBody>
      </p:sp>
      <p:sp>
        <p:nvSpPr>
          <p:cNvPr id="906" name="Texto 906"/>
          <p:cNvSpPr txBox="1"/>
          <p:nvPr/>
        </p:nvSpPr>
        <p:spPr>
          <a:xfrm>
            <a:off x="7269480" y="2145920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Cada eixo entra com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+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se o perfil está acima da média nele e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−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se está abaixo. No Perfil C: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CFI (−), IMD (+) e CSE (+)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07" name="Cartao 907"/>
          <p:cNvSpPr/>
          <p:nvPr/>
        </p:nvSpPr>
        <p:spPr>
          <a:xfrm>
            <a:off x="7040880" y="3213339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8" name="Texto 908"/>
          <p:cNvSpPr txBox="1"/>
          <p:nvPr/>
        </p:nvSpPr>
        <p:spPr>
          <a:xfrm>
            <a:off x="7269480" y="3363339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 · SOMA PONDERADA PELOS PESOS</a:t>
            </a:r>
          </a:p>
        </p:txBody>
      </p:sp>
      <p:sp>
        <p:nvSpPr>
          <p:cNvPr id="909" name="Texto 909"/>
          <p:cNvSpPr txBox="1"/>
          <p:nvPr/>
        </p:nvSpPr>
        <p:spPr>
          <a:xfrm>
            <a:off x="7269480" y="3713339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IAP = −0,35·CFI + 0,40·IMD + 0,25·CSE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(eixos em escore-z). Sorocaba: 0,234 + 1,267 + 0,438 =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1,939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10" name="Cartao 910"/>
          <p:cNvSpPr/>
          <p:nvPr/>
        </p:nvSpPr>
        <p:spPr>
          <a:xfrm>
            <a:off x="7040880" y="4780758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Texto 911"/>
          <p:cNvSpPr txBox="1"/>
          <p:nvPr/>
        </p:nvSpPr>
        <p:spPr>
          <a:xfrm>
            <a:off x="7269480" y="4930758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 · ORDENAÇÃO DENTRO DO PERFIL</a:t>
            </a:r>
          </a:p>
        </p:txBody>
      </p:sp>
      <p:sp>
        <p:nvSpPr>
          <p:cNvPr id="912" name="Texto 912"/>
          <p:cNvSpPr txBox="1"/>
          <p:nvPr/>
        </p:nvSpPr>
        <p:spPr>
          <a:xfrm>
            <a:off x="7269480" y="5280758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maior para o menor IAP. Sorocaba é a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1ª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do Perfil C; Barra Bonita (1,040), a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51ª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As vagas vão aos primeiros colocados.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