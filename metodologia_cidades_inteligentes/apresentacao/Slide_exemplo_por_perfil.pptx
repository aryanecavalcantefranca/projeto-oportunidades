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99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6D7DC-4737-C906-77DC-4E59050D7ABE}" name="Larissa Lima Santos" initials="LS" userId="S::larissa.santos@sde.sp.gov.br::303a01b8-0989-497d-a399-169fb99279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28"/>
    <a:srgbClr val="1E1E1E"/>
    <a:srgbClr val="4496CD"/>
    <a:srgbClr val="263253"/>
    <a:srgbClr val="EA3234"/>
    <a:srgbClr val="7C8EC9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2F90-65DD-8207-9E36-2C50F3C6B496}" v="139" dt="2026-10-15T09:26:17.091"/>
    <p1510:client id="{FC98BB44-32F3-4A47-BF4A-DC2A4714ACFF}" v="301" dt="2026-10-14T16:29:13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viewProps" Target="viewProps.xml"/><Relationship Id="rId42" Type="http://schemas.microsoft.com/office/2015/10/relationships/revisionInfo" Target="revisionInfo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3" Type="http://schemas.microsoft.com/office/2018/10/relationships/authors" Target="authors.xml"/><Relationship Id="rId38" Type="http://schemas.openxmlformats.org/officeDocument/2006/relationships/presProps" Target="presProps.xml"/>  
  <Relationship Id="rId45" Type="http://schemas.openxmlformats.org/officeDocument/2006/relationships/slide" Target="slides/slide37.xml"/>
  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1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EXEMPLO POR PERFIL: IAP × CENTROIDE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Em cada perfil, o 1º colocado pelo IAP e o 1º pela proximidade ao centroide (representatividade)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701" name="Forma 701"/>
          <p:cNvSpPr/>
          <p:nvPr/>
        </p:nvSpPr>
        <p:spPr>
          <a:xfrm>
            <a:off x="548640" y="1554480"/>
            <a:ext cx="2670048" cy="4206240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2" name="Forma 702"/>
          <p:cNvSpPr/>
          <p:nvPr/>
        </p:nvSpPr>
        <p:spPr>
          <a:xfrm>
            <a:off x="731520" y="1737360"/>
            <a:ext cx="420000" cy="420000"/>
          </a:xfrm>
          <a:prstGeom prst="roundRect">
            <a:avLst>
              <a:gd name="adj" fmla="val 18000"/>
            </a:avLst>
          </a:prstGeom>
          <a:solidFill>
            <a:srgbClr val="C0A2C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3" name="Texto 703"/>
          <p:cNvSpPr txBox="1"/>
          <p:nvPr/>
        </p:nvSpPr>
        <p:spPr>
          <a:xfrm>
            <a:off x="731520" y="173736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800" b="1" noProof="0">
                <a:solidFill>
                  <a:srgbClr val="1E1E1E"/>
                </a:solidFill>
                <a:latin typeface="Montserrat" pitchFamily="2" charset="0"/>
              </a:rPr>
              <a:t>A</a:t>
            </a:r>
          </a:p>
        </p:txBody>
      </p:sp>
      <p:sp>
        <p:nvSpPr>
          <p:cNvPr id="704" name="Texto 704"/>
          <p:cNvSpPr txBox="1"/>
          <p:nvPr/>
        </p:nvSpPr>
        <p:spPr>
          <a:xfrm>
            <a:off x="1251520" y="1737360"/>
            <a:ext cx="1784288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300" b="1" noProof="0">
                <a:solidFill>
                  <a:srgbClr val="E6E6E6"/>
                </a:solidFill>
                <a:latin typeface="Montserrat" pitchFamily="2" charset="0"/>
              </a:rPr>
              <a:t>PERFIL A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9AA0A6"/>
                </a:solidFill>
                <a:latin typeface="Montserrat" pitchFamily="2" charset="0"/>
              </a:rPr>
              <a:t>156 municípios</a:t>
            </a:r>
          </a:p>
        </p:txBody>
      </p:sp>
      <p:sp>
        <p:nvSpPr>
          <p:cNvPr id="705" name="Forma 705"/>
          <p:cNvSpPr/>
          <p:nvPr/>
        </p:nvSpPr>
        <p:spPr>
          <a:xfrm>
            <a:off x="731520" y="2337360"/>
            <a:ext cx="2304288" cy="11900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06" name="Texto 706"/>
          <p:cNvSpPr txBox="1"/>
          <p:nvPr/>
        </p:nvSpPr>
        <p:spPr>
          <a:xfrm>
            <a:off x="841520" y="2427360"/>
            <a:ext cx="2084288" cy="10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900" b="1" noProof="0">
                <a:solidFill>
                  <a:srgbClr val="F99828"/>
                </a:solidFill>
                <a:latin typeface="Montserrat" pitchFamily="2" charset="0"/>
              </a:rPr>
              <a:t>1º NO IAP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250" b="1" noProof="0">
                <a:solidFill>
                  <a:srgbClr val="E6E6E6"/>
                </a:solidFill>
                <a:latin typeface="Montserrat" pitchFamily="2" charset="0"/>
              </a:rPr>
              <a:t>Cananéia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IAP = 1,712 · 1º de 156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Distância ao centroide = 0,892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Representatividade: 130º de 156</a:t>
            </a:r>
          </a:p>
        </p:txBody>
      </p:sp>
      <p:sp>
        <p:nvSpPr>
          <p:cNvPr id="707" name="Forma 707"/>
          <p:cNvSpPr/>
          <p:nvPr/>
        </p:nvSpPr>
        <p:spPr>
          <a:xfrm>
            <a:off x="731520" y="3637360"/>
            <a:ext cx="2304288" cy="11900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08" name="Texto 708"/>
          <p:cNvSpPr txBox="1"/>
          <p:nvPr/>
        </p:nvSpPr>
        <p:spPr>
          <a:xfrm>
            <a:off x="841520" y="3727360"/>
            <a:ext cx="2084288" cy="10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900" b="1" noProof="0">
                <a:solidFill>
                  <a:srgbClr val="F99828"/>
                </a:solidFill>
                <a:latin typeface="Montserrat" pitchFamily="2" charset="0"/>
              </a:rPr>
              <a:t>1º EM REPRESENTATIVIDADE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250" b="1" noProof="0">
                <a:solidFill>
                  <a:srgbClr val="E6E6E6"/>
                </a:solidFill>
                <a:latin typeface="Montserrat" pitchFamily="2" charset="0"/>
              </a:rPr>
              <a:t>Uchoa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IAP = 0,824 · 75º de 156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Distância ao centroide = 0,099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Representatividade: 1º de 156</a:t>
            </a:r>
          </a:p>
        </p:txBody>
      </p:sp>
      <p:sp>
        <p:nvSpPr>
          <p:cNvPr id="709" name="Texto 709"/>
          <p:cNvSpPr txBox="1"/>
          <p:nvPr/>
        </p:nvSpPr>
        <p:spPr>
          <a:xfrm>
            <a:off x="731520" y="4977360"/>
            <a:ext cx="2304288" cy="68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9AA0A6"/>
                </a:solidFill>
                <a:latin typeface="Montserrat" pitchFamily="2" charset="0"/>
              </a:rPr>
              <a:t>Cananéia está abaixo da média nos três eixos com muito mais intensidade que o grupo; Uchoa tem valores próximos aos da média do Perfil A.</a:t>
            </a:r>
          </a:p>
        </p:txBody>
      </p:sp>
      <p:sp>
        <p:nvSpPr>
          <p:cNvPr id="710" name="Forma 710"/>
          <p:cNvSpPr/>
          <p:nvPr/>
        </p:nvSpPr>
        <p:spPr>
          <a:xfrm>
            <a:off x="3355848" y="1554480"/>
            <a:ext cx="2670048" cy="4206240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11" name="Forma 711"/>
          <p:cNvSpPr/>
          <p:nvPr/>
        </p:nvSpPr>
        <p:spPr>
          <a:xfrm>
            <a:off x="3538728" y="1737360"/>
            <a:ext cx="420000" cy="420000"/>
          </a:xfrm>
          <a:prstGeom prst="roundRect">
            <a:avLst>
              <a:gd name="adj" fmla="val 18000"/>
            </a:avLst>
          </a:prstGeom>
          <a:solidFill>
            <a:srgbClr val="2632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12" name="Texto 712"/>
          <p:cNvSpPr txBox="1"/>
          <p:nvPr/>
        </p:nvSpPr>
        <p:spPr>
          <a:xfrm>
            <a:off x="3538728" y="173736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800" b="1" noProof="0">
                <a:solidFill>
                  <a:srgbClr val="FFFFFF"/>
                </a:solidFill>
                <a:latin typeface="Montserrat" pitchFamily="2" charset="0"/>
              </a:rPr>
              <a:t>B</a:t>
            </a:r>
          </a:p>
        </p:txBody>
      </p:sp>
      <p:sp>
        <p:nvSpPr>
          <p:cNvPr id="713" name="Texto 713"/>
          <p:cNvSpPr txBox="1"/>
          <p:nvPr/>
        </p:nvSpPr>
        <p:spPr>
          <a:xfrm>
            <a:off x="4058728" y="1737360"/>
            <a:ext cx="1784288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300" b="1" noProof="0">
                <a:solidFill>
                  <a:srgbClr val="E6E6E6"/>
                </a:solidFill>
                <a:latin typeface="Montserrat" pitchFamily="2" charset="0"/>
              </a:rPr>
              <a:t>PERFIL B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9AA0A6"/>
                </a:solidFill>
                <a:latin typeface="Montserrat" pitchFamily="2" charset="0"/>
              </a:rPr>
              <a:t>236 municípios</a:t>
            </a:r>
          </a:p>
        </p:txBody>
      </p:sp>
      <p:sp>
        <p:nvSpPr>
          <p:cNvPr id="714" name="Forma 714"/>
          <p:cNvSpPr/>
          <p:nvPr/>
        </p:nvSpPr>
        <p:spPr>
          <a:xfrm>
            <a:off x="3538728" y="2337360"/>
            <a:ext cx="2304288" cy="11900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15" name="Texto 715"/>
          <p:cNvSpPr txBox="1"/>
          <p:nvPr/>
        </p:nvSpPr>
        <p:spPr>
          <a:xfrm>
            <a:off x="3648728" y="2427360"/>
            <a:ext cx="2084288" cy="10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900" b="1" noProof="0">
                <a:solidFill>
                  <a:srgbClr val="F99828"/>
                </a:solidFill>
                <a:latin typeface="Montserrat" pitchFamily="2" charset="0"/>
              </a:rPr>
              <a:t>1º NO IAP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250" b="1" noProof="0">
                <a:solidFill>
                  <a:srgbClr val="E6E6E6"/>
                </a:solidFill>
                <a:latin typeface="Montserrat" pitchFamily="2" charset="0"/>
              </a:rPr>
              <a:t>Iepê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IAP = 1,781 · 1º de 236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Distância ao centroide = 1,538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Representatividade: 236º de 236</a:t>
            </a:r>
          </a:p>
        </p:txBody>
      </p:sp>
      <p:sp>
        <p:nvSpPr>
          <p:cNvPr id="716" name="Forma 716"/>
          <p:cNvSpPr/>
          <p:nvPr/>
        </p:nvSpPr>
        <p:spPr>
          <a:xfrm>
            <a:off x="3538728" y="3637360"/>
            <a:ext cx="2304288" cy="11900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17" name="Texto 717"/>
          <p:cNvSpPr txBox="1"/>
          <p:nvPr/>
        </p:nvSpPr>
        <p:spPr>
          <a:xfrm>
            <a:off x="3648728" y="3727360"/>
            <a:ext cx="2084288" cy="10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900" b="1" noProof="0">
                <a:solidFill>
                  <a:srgbClr val="F99828"/>
                </a:solidFill>
                <a:latin typeface="Montserrat" pitchFamily="2" charset="0"/>
              </a:rPr>
              <a:t>1º EM REPRESENTATIVIDADE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250" b="1" noProof="0">
                <a:solidFill>
                  <a:srgbClr val="E6E6E6"/>
                </a:solidFill>
                <a:latin typeface="Montserrat" pitchFamily="2" charset="0"/>
              </a:rPr>
              <a:t>Santa Cruz das Palmeiras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IAP = 0,230 · 124º de 236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Distância ao centroide = 0,051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Representatividade: 1º de 236</a:t>
            </a:r>
          </a:p>
        </p:txBody>
      </p:sp>
      <p:sp>
        <p:nvSpPr>
          <p:cNvPr id="718" name="Texto 718"/>
          <p:cNvSpPr txBox="1"/>
          <p:nvPr/>
        </p:nvSpPr>
        <p:spPr>
          <a:xfrm>
            <a:off x="3538728" y="4977360"/>
            <a:ext cx="2304288" cy="68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9AA0A6"/>
                </a:solidFill>
                <a:latin typeface="Montserrat" pitchFamily="2" charset="0"/>
              </a:rPr>
              <a:t>Iepê é o caso extremo do perfil (CFI muito alto, IMD e CSE muito baixos); Santa Cruz das Palmeiras está no centro do grupo.</a:t>
            </a:r>
          </a:p>
        </p:txBody>
      </p:sp>
      <p:sp>
        <p:nvSpPr>
          <p:cNvPr id="719" name="Forma 719"/>
          <p:cNvSpPr/>
          <p:nvPr/>
        </p:nvSpPr>
        <p:spPr>
          <a:xfrm>
            <a:off x="6163056" y="1554480"/>
            <a:ext cx="2670048" cy="4206240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20" name="Forma 720"/>
          <p:cNvSpPr/>
          <p:nvPr/>
        </p:nvSpPr>
        <p:spPr>
          <a:xfrm>
            <a:off x="6345936" y="1737360"/>
            <a:ext cx="420000" cy="420000"/>
          </a:xfrm>
          <a:prstGeom prst="roundRect">
            <a:avLst>
              <a:gd name="adj" fmla="val 18000"/>
            </a:avLst>
          </a:prstGeom>
          <a:solidFill>
            <a:srgbClr val="4496C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21" name="Texto 721"/>
          <p:cNvSpPr txBox="1"/>
          <p:nvPr/>
        </p:nvSpPr>
        <p:spPr>
          <a:xfrm>
            <a:off x="6345936" y="173736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800" b="1" noProof="0">
                <a:solidFill>
                  <a:srgbClr val="FFFFFF"/>
                </a:solidFill>
                <a:latin typeface="Montserrat" pitchFamily="2" charset="0"/>
              </a:rPr>
              <a:t>C</a:t>
            </a:r>
          </a:p>
        </p:txBody>
      </p:sp>
      <p:sp>
        <p:nvSpPr>
          <p:cNvPr id="722" name="Texto 722"/>
          <p:cNvSpPr txBox="1"/>
          <p:nvPr/>
        </p:nvSpPr>
        <p:spPr>
          <a:xfrm>
            <a:off x="6865936" y="1737360"/>
            <a:ext cx="1784288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300" b="1" noProof="0">
                <a:solidFill>
                  <a:srgbClr val="E6E6E6"/>
                </a:solidFill>
                <a:latin typeface="Montserrat" pitchFamily="2" charset="0"/>
              </a:rPr>
              <a:t>PERFIL C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9AA0A6"/>
                </a:solidFill>
                <a:latin typeface="Montserrat" pitchFamily="2" charset="0"/>
              </a:rPr>
              <a:t>180 municípios</a:t>
            </a:r>
          </a:p>
        </p:txBody>
      </p:sp>
      <p:sp>
        <p:nvSpPr>
          <p:cNvPr id="723" name="Forma 723"/>
          <p:cNvSpPr/>
          <p:nvPr/>
        </p:nvSpPr>
        <p:spPr>
          <a:xfrm>
            <a:off x="6345936" y="2337360"/>
            <a:ext cx="2304288" cy="11900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24" name="Texto 724"/>
          <p:cNvSpPr txBox="1"/>
          <p:nvPr/>
        </p:nvSpPr>
        <p:spPr>
          <a:xfrm>
            <a:off x="6455936" y="2427360"/>
            <a:ext cx="2084288" cy="10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900" b="1" noProof="0">
                <a:solidFill>
                  <a:srgbClr val="F99828"/>
                </a:solidFill>
                <a:latin typeface="Montserrat" pitchFamily="2" charset="0"/>
              </a:rPr>
              <a:t>1º NO IAP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250" b="1" noProof="0">
                <a:solidFill>
                  <a:srgbClr val="E6E6E6"/>
                </a:solidFill>
                <a:latin typeface="Montserrat" pitchFamily="2" charset="0"/>
              </a:rPr>
              <a:t>Sorocaba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IAP = 1,939 · 1º de 180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Distância ao centroide = 1,339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Representatividade: 179º de 180</a:t>
            </a:r>
          </a:p>
        </p:txBody>
      </p:sp>
      <p:sp>
        <p:nvSpPr>
          <p:cNvPr id="725" name="Forma 725"/>
          <p:cNvSpPr/>
          <p:nvPr/>
        </p:nvSpPr>
        <p:spPr>
          <a:xfrm>
            <a:off x="6345936" y="3637360"/>
            <a:ext cx="2304288" cy="11900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26" name="Texto 726"/>
          <p:cNvSpPr txBox="1"/>
          <p:nvPr/>
        </p:nvSpPr>
        <p:spPr>
          <a:xfrm>
            <a:off x="6455936" y="3727360"/>
            <a:ext cx="2084288" cy="10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900" b="1" noProof="0">
                <a:solidFill>
                  <a:srgbClr val="F99828"/>
                </a:solidFill>
                <a:latin typeface="Montserrat" pitchFamily="2" charset="0"/>
              </a:rPr>
              <a:t>1º EM REPRESENTATIVIDADE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250" b="1" noProof="0">
                <a:solidFill>
                  <a:srgbClr val="E6E6E6"/>
                </a:solidFill>
                <a:latin typeface="Montserrat" pitchFamily="2" charset="0"/>
              </a:rPr>
              <a:t>Barra Bonita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IAP = 1,040 · 51º de 180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Distância ao centroide = 0,243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Representatividade: 1º de 180</a:t>
            </a:r>
          </a:p>
        </p:txBody>
      </p:sp>
      <p:sp>
        <p:nvSpPr>
          <p:cNvPr id="727" name="Texto 727"/>
          <p:cNvSpPr txBox="1"/>
          <p:nvPr/>
        </p:nvSpPr>
        <p:spPr>
          <a:xfrm>
            <a:off x="6345936" y="4977360"/>
            <a:ext cx="2304288" cy="68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9AA0A6"/>
                </a:solidFill>
                <a:latin typeface="Montserrat" pitchFamily="2" charset="0"/>
              </a:rPr>
              <a:t>Sorocaba é forte nas direções do Perfil C, mas foge da combinação média; Barra Bonita é a mais próxima do padrão do grupo.</a:t>
            </a:r>
          </a:p>
        </p:txBody>
      </p:sp>
      <p:sp>
        <p:nvSpPr>
          <p:cNvPr id="728" name="Forma 728"/>
          <p:cNvSpPr/>
          <p:nvPr/>
        </p:nvSpPr>
        <p:spPr>
          <a:xfrm>
            <a:off x="8970264" y="1554480"/>
            <a:ext cx="2670048" cy="4206240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29" name="Forma 729"/>
          <p:cNvSpPr/>
          <p:nvPr/>
        </p:nvSpPr>
        <p:spPr>
          <a:xfrm>
            <a:off x="9153144" y="1737360"/>
            <a:ext cx="420000" cy="420000"/>
          </a:xfrm>
          <a:prstGeom prst="roundRect">
            <a:avLst>
              <a:gd name="adj" fmla="val 18000"/>
            </a:avLst>
          </a:prstGeom>
          <a:solidFill>
            <a:srgbClr val="7A8BC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30" name="Texto 730"/>
          <p:cNvSpPr txBox="1"/>
          <p:nvPr/>
        </p:nvSpPr>
        <p:spPr>
          <a:xfrm>
            <a:off x="9153144" y="173736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800" b="1" noProof="0">
                <a:solidFill>
                  <a:srgbClr val="1E1E1E"/>
                </a:solidFill>
                <a:latin typeface="Montserrat" pitchFamily="2" charset="0"/>
              </a:rPr>
              <a:t>D</a:t>
            </a:r>
          </a:p>
        </p:txBody>
      </p:sp>
      <p:sp>
        <p:nvSpPr>
          <p:cNvPr id="731" name="Texto 731"/>
          <p:cNvSpPr txBox="1"/>
          <p:nvPr/>
        </p:nvSpPr>
        <p:spPr>
          <a:xfrm>
            <a:off x="9673144" y="1737360"/>
            <a:ext cx="1784288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300" b="1" noProof="0">
                <a:solidFill>
                  <a:srgbClr val="E6E6E6"/>
                </a:solidFill>
                <a:latin typeface="Montserrat" pitchFamily="2" charset="0"/>
              </a:rPr>
              <a:t>PERFIL D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9AA0A6"/>
                </a:solidFill>
                <a:latin typeface="Montserrat" pitchFamily="2" charset="0"/>
              </a:rPr>
              <a:t>72 municípios</a:t>
            </a:r>
          </a:p>
        </p:txBody>
      </p:sp>
      <p:sp>
        <p:nvSpPr>
          <p:cNvPr id="732" name="Forma 732"/>
          <p:cNvSpPr/>
          <p:nvPr/>
        </p:nvSpPr>
        <p:spPr>
          <a:xfrm>
            <a:off x="9153144" y="2337360"/>
            <a:ext cx="2304288" cy="11900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33" name="Texto 733"/>
          <p:cNvSpPr txBox="1"/>
          <p:nvPr/>
        </p:nvSpPr>
        <p:spPr>
          <a:xfrm>
            <a:off x="9263144" y="2427360"/>
            <a:ext cx="2084288" cy="10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900" b="1" noProof="0">
                <a:solidFill>
                  <a:srgbClr val="F99828"/>
                </a:solidFill>
                <a:latin typeface="Montserrat" pitchFamily="2" charset="0"/>
              </a:rPr>
              <a:t>1º NO IAP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250" b="1" noProof="0">
                <a:solidFill>
                  <a:srgbClr val="E6E6E6"/>
                </a:solidFill>
                <a:latin typeface="Montserrat" pitchFamily="2" charset="0"/>
              </a:rPr>
              <a:t>Pindamonhangaba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IAP = 2,578 · 1º de 72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Distância ao centroide = 1,934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Representatividade: 72º de 72</a:t>
            </a:r>
          </a:p>
        </p:txBody>
      </p:sp>
      <p:sp>
        <p:nvSpPr>
          <p:cNvPr id="734" name="Forma 734"/>
          <p:cNvSpPr/>
          <p:nvPr/>
        </p:nvSpPr>
        <p:spPr>
          <a:xfrm>
            <a:off x="9153144" y="3637360"/>
            <a:ext cx="2304288" cy="11900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35" name="Texto 735"/>
          <p:cNvSpPr txBox="1"/>
          <p:nvPr/>
        </p:nvSpPr>
        <p:spPr>
          <a:xfrm>
            <a:off x="9263144" y="3727360"/>
            <a:ext cx="2084288" cy="10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900" b="1" noProof="0">
                <a:solidFill>
                  <a:srgbClr val="F99828"/>
                </a:solidFill>
                <a:latin typeface="Montserrat" pitchFamily="2" charset="0"/>
              </a:rPr>
              <a:t>1º EM REPRESENTATIVIDADE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250" b="1" noProof="0">
                <a:solidFill>
                  <a:srgbClr val="E6E6E6"/>
                </a:solidFill>
                <a:latin typeface="Montserrat" pitchFamily="2" charset="0"/>
              </a:rPr>
              <a:t>Oriente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IAP = 0,887 · 27º de 72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Distância ao centroide = 0,122</a:t>
            </a:r>
          </a:p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</a:rPr>
              <a:t>Representatividade: 1º de 72</a:t>
            </a:r>
          </a:p>
        </p:txBody>
      </p:sp>
      <p:sp>
        <p:nvSpPr>
          <p:cNvPr id="736" name="Texto 736"/>
          <p:cNvSpPr txBox="1"/>
          <p:nvPr/>
        </p:nvSpPr>
        <p:spPr>
          <a:xfrm>
            <a:off x="9153144" y="4977360"/>
            <a:ext cx="2304288" cy="68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000" noProof="0">
                <a:solidFill>
                  <a:srgbClr val="9AA0A6"/>
                </a:solidFill>
                <a:latin typeface="Montserrat" pitchFamily="2" charset="0"/>
              </a:rPr>
              <a:t>Pindamonhangaba é extrema em CFI e IMD: 1ª no IAP e a mais distante do centro; Oriente reproduz o padrão médio do Perfil D.</a:t>
            </a:r>
          </a:p>
        </p:txBody>
      </p:sp>
      <p:sp>
        <p:nvSpPr>
          <p:cNvPr id="737" name="Forma 737"/>
          <p:cNvSpPr/>
          <p:nvPr/>
        </p:nvSpPr>
        <p:spPr>
          <a:xfrm>
            <a:off x="548640" y="5897880"/>
            <a:ext cx="11091672" cy="5600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F9982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38" name="Texto 738"/>
          <p:cNvSpPr txBox="1"/>
          <p:nvPr/>
        </p:nvSpPr>
        <p:spPr>
          <a:xfrm>
            <a:off x="777240" y="5897880"/>
            <a:ext cx="10634472" cy="5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pt-BR" sz="1100" b="1" noProof="0">
                <a:solidFill>
                  <a:srgbClr val="F99828"/>
                </a:solidFill>
                <a:latin typeface="Montserrat" pitchFamily="2" charset="0"/>
              </a:rPr>
              <a:t>O líder do IAP nunca é o mais típico: </a:t>
            </a:r>
            <a:r>
              <a:rPr lang="pt-BR" sz="1100" noProof="0">
                <a:solidFill>
                  <a:srgbClr val="E6E6E6"/>
                </a:solidFill>
                <a:latin typeface="Montserrat" pitchFamily="2" charset="0"/>
              </a:rPr>
              <a:t>em B e D, o 1º no IAP é justamente o último em representatividade. O IAP premia quem vai mais longe na direção do perfil; o centroide premia quem mais se parece com o grupo.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6510</Words>
  <Application>Microsoft Office PowerPoint</Application>
  <PresentationFormat>Widescreen</PresentationFormat>
  <Paragraphs>915</Paragraphs>
  <Slides>35</Slides>
  <Notes>34</Notes>
  <HiddenSlides>11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Edital de Chamada Publica no 002/2026 - Cidades Inteligentes</dc:title>
  <dc:subject>PptxGenJS Presentation</dc:subject>
  <dc:creator>IPT / SDE-SP</dc:creator>
  <cp:lastModifiedBy>Aryane Cavalcante França</cp:lastModifiedBy>
  <cp:revision>52</cp:revision>
  <dcterms:created xsi:type="dcterms:W3CDTF">2026-08-06T19:52:49Z</dcterms:created>
  <dcterms:modified xsi:type="dcterms:W3CDTF">2026-10-15T17:24:24Z</dcterms:modified>
</cp:coreProperties>
</file>