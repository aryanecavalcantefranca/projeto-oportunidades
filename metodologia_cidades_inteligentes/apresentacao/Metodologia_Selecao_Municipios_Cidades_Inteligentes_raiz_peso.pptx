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modernComment_114_0.xml" ContentType="application/vnd.ms-powerpoint.comments+xml"/>
  <Override PartName="/ppt/charts/chart4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9" r:id="rId3"/>
    <p:sldId id="292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98" r:id="rId44"/>
    <p:sldId id="274" r:id="rId13"/>
    <p:sldId id="275" r:id="rId14"/>
    <p:sldId id="293" r:id="rId15"/>
    <p:sldId id="277" r:id="rId16"/>
    <p:sldId id="291" r:id="rId17"/>
    <p:sldId id="276" r:id="rId18"/>
    <p:sldId id="297" r:id="rId19"/>
    <p:sldId id="280" r:id="rId20"/>
    <p:sldId id="281" r:id="rId21"/>
    <p:sldId id="294" r:id="rId22"/>
    <p:sldId id="295" r:id="rId23"/>
    <p:sldId id="296" r:id="rId24"/>
    <p:sldId id="290" r:id="rId25"/>
    <p:sldId id="258" r:id="rId26"/>
    <p:sldId id="260" r:id="rId27"/>
    <p:sldId id="261" r:id="rId28"/>
    <p:sldId id="282" r:id="rId29"/>
    <p:sldId id="283" r:id="rId30"/>
    <p:sldId id="284" r:id="rId31"/>
    <p:sldId id="285" r:id="rId32"/>
    <p:sldId id="286" r:id="rId33"/>
    <p:sldId id="287" r:id="rId34"/>
    <p:sldId id="273" r:id="rId35"/>
    <p:sldId id="279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D6D7DC-4737-C906-77DC-4E59050D7ABE}" name="Larissa Lima Santos" initials="LS" userId="S::larissa.santos@sde.sp.gov.br::303a01b8-0989-497d-a399-169fb99279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828"/>
    <a:srgbClr val="1E1E1E"/>
    <a:srgbClr val="4496CD"/>
    <a:srgbClr val="263253"/>
    <a:srgbClr val="EA3234"/>
    <a:srgbClr val="7C8EC9"/>
    <a:srgbClr val="000000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C2F90-65DD-8207-9E36-2C50F3C6B496}" v="139" dt="2026-10-15T09:26:17.091"/>
    <p1510:client id="{FC98BB44-32F3-4A47-BF4A-DC2A4714ACFF}" v="301" dt="2026-10-14T16:29:13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5" autoAdjust="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  <Relationship Id="rId44" Type="http://schemas.openxmlformats.org/officeDocument/2006/relationships/slide" Target="slides/slide36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Municípios</c:v>
                </c:pt>
              </c:strCache>
            </c:strRef>
          </c:tx>
          <c:spPr>
            <a:gradFill flip="none" rotWithShape="1">
              <a:gsLst>
                <a:gs pos="0">
                  <a:srgbClr val="4496CD">
                    <a:shade val="30000"/>
                    <a:satMod val="115000"/>
                  </a:srgbClr>
                </a:gs>
                <a:gs pos="50000">
                  <a:srgbClr val="4496CD">
                    <a:shade val="67500"/>
                    <a:satMod val="115000"/>
                  </a:srgbClr>
                </a:gs>
                <a:gs pos="100000">
                  <a:srgbClr val="4496CD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09FBE413-63AC-41E0-B3A4-46EECF0D8F85}" type="CELLRANGE">
                      <a:rPr lang="en-US"/>
                      <a:pPr/>
                      <a:t>[INTERVALODACÉLULA]</a:t>
                    </a:fld>
                    <a:endParaRPr lang="en-US" baseline="0"/>
                  </a:p>
                  <a:p>
                    <a:fld id="{74498223-58F3-4813-8327-6D7239F4ADF1}" type="VALUE">
                      <a:rPr lang="en-US"/>
                      <a:pPr/>
                      <a:t>[VALOR]</a:t>
                    </a:fld>
                    <a:endParaRPr lang="pt-BR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399F-4AB3-B6BC-6F3CD0BF0D5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A0DEE2D-FD91-4BBA-A276-A1777A11188C}" type="CELLRANGE">
                      <a:rPr lang="en-US"/>
                      <a:pPr/>
                      <a:t>[INTERVALODACÉLULA]</a:t>
                    </a:fld>
                    <a:endParaRPr lang="en-US" baseline="0"/>
                  </a:p>
                  <a:p>
                    <a:fld id="{FC9714E3-697D-4761-BBCE-2B1FA489FC38}" type="VALUE">
                      <a:rPr lang="en-US"/>
                      <a:pPr/>
                      <a:t>[VALOR]</a:t>
                    </a:fld>
                    <a:endParaRPr lang="pt-BR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399F-4AB3-B6BC-6F3CD0BF0D5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3BC3099-4A2A-4BB0-A6CE-D6FD3321733F}" type="CELLRANGE">
                      <a:rPr lang="en-US"/>
                      <a:pPr/>
                      <a:t>[INTERVALODACÉLULA]</a:t>
                    </a:fld>
                    <a:endParaRPr lang="en-US" baseline="0"/>
                  </a:p>
                  <a:p>
                    <a:fld id="{7D4C0E33-F5D6-47C4-8AB5-0C611A552618}" type="VALUE">
                      <a:rPr lang="en-US"/>
                      <a:pPr/>
                      <a:t>[VALOR]</a:t>
                    </a:fld>
                    <a:endParaRPr lang="pt-BR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399F-4AB3-B6BC-6F3CD0BF0D5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9C480B4B-0C06-45BE-BC83-BF12DC5DBC4F}" type="CELLRANGE">
                      <a:rPr lang="en-US"/>
                      <a:pPr/>
                      <a:t>[INTERVALODACÉLULA]</a:t>
                    </a:fld>
                    <a:endParaRPr lang="en-US" baseline="0"/>
                  </a:p>
                  <a:p>
                    <a:fld id="{434F065C-798F-4BDB-A71D-9EC8092D269C}" type="VALUE">
                      <a:rPr lang="en-US"/>
                      <a:pPr/>
                      <a:t>[VALOR]</a:t>
                    </a:fld>
                    <a:endParaRPr lang="pt-BR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0E3C-4AF4-8889-BD52386FED8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11ED164B-944F-4144-B01B-481601C32E0F}" type="CELLRANGE">
                      <a:rPr lang="en-US"/>
                      <a:pPr/>
                      <a:t>[INTERVALODACÉLULA]</a:t>
                    </a:fld>
                    <a:endParaRPr lang="en-US" baseline="0"/>
                  </a:p>
                  <a:p>
                    <a:fld id="{BE5CDAE3-BCF8-4561-8911-AB1253487923}" type="VALUE">
                      <a:rPr lang="en-US"/>
                      <a:pPr/>
                      <a:t>[VALOR]</a:t>
                    </a:fld>
                    <a:endParaRPr lang="pt-BR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399F-4AB3-B6BC-6F3CD0BF0D5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Montserrat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Pequeno I
(até 20 mil)</c:v>
                </c:pt>
                <c:pt idx="1">
                  <c:v>Pequeno II
(20–50 mil)</c:v>
                </c:pt>
                <c:pt idx="2">
                  <c:v>Médio
(50–100 mil)</c:v>
                </c:pt>
                <c:pt idx="3">
                  <c:v>Grande
(100–900 mil)</c:v>
                </c:pt>
                <c:pt idx="4">
                  <c:v>Metrópole
(&gt; 900 mil)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393</c:v>
                </c:pt>
                <c:pt idx="1">
                  <c:v>115</c:v>
                </c:pt>
                <c:pt idx="2">
                  <c:v>59</c:v>
                </c:pt>
                <c:pt idx="3">
                  <c:v>75</c:v>
                </c:pt>
                <c:pt idx="4">
                  <c:v>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Sheet1!$C$2:$C$6</c15:f>
                <c15:dlblRangeCache>
                  <c:ptCount val="5"/>
                  <c:pt idx="0">
                    <c:v>60,9%</c:v>
                  </c:pt>
                  <c:pt idx="1">
                    <c:v>17,8%</c:v>
                  </c:pt>
                  <c:pt idx="2">
                    <c:v>9,1%</c:v>
                  </c:pt>
                  <c:pt idx="3">
                    <c:v>11,6%</c:v>
                  </c:pt>
                  <c:pt idx="4">
                    <c:v>0,5%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5703-4E8F-9567-4A24814045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6E6E6"/>
                </a:solidFill>
                <a:latin typeface="Montserrat" pitchFamily="2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6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1E1E1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 efetivo</c:v>
                </c:pt>
              </c:strCache>
            </c:strRef>
          </c:tx>
          <c:spPr>
            <a:solidFill>
              <a:srgbClr val="EA323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21C-474D-A52E-2C1A5A677800}"/>
              </c:ext>
            </c:extLst>
          </c:dPt>
          <c:dPt>
            <c:idx val="1"/>
            <c:invertIfNegative val="0"/>
            <c:bubble3D val="0"/>
            <c:spPr>
              <a:solidFill>
                <a:srgbClr val="F99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21C-474D-A52E-2C1A5A677800}"/>
              </c:ext>
            </c:extLst>
          </c:dPt>
          <c:dPt>
            <c:idx val="2"/>
            <c:invertIfNegative val="0"/>
            <c:bubble3D val="0"/>
            <c:spPr>
              <a:solidFill>
                <a:srgbClr val="F99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21C-474D-A52E-2C1A5A677800}"/>
              </c:ext>
            </c:extLst>
          </c:dPt>
          <c:dPt>
            <c:idx val="3"/>
            <c:invertIfNegative val="0"/>
            <c:bubble3D val="0"/>
            <c:spPr>
              <a:solidFill>
                <a:srgbClr val="4496C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21C-474D-A52E-2C1A5A677800}"/>
              </c:ext>
            </c:extLst>
          </c:dPt>
          <c:dPt>
            <c:idx val="4"/>
            <c:invertIfNegative val="0"/>
            <c:bubble3D val="0"/>
            <c:spPr>
              <a:solidFill>
                <a:srgbClr val="4496C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21C-474D-A52E-2C1A5A677800}"/>
              </c:ext>
            </c:extLst>
          </c:dPt>
          <c:dPt>
            <c:idx val="5"/>
            <c:invertIfNegative val="0"/>
            <c:bubble3D val="0"/>
            <c:spPr>
              <a:solidFill>
                <a:srgbClr val="4496C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21C-474D-A52E-2C1A5A677800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FFFFFF"/>
                    </a:solidFill>
                    <a:latin typeface="Montserrat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IFDM (Firjan)</c:v>
                </c:pt>
                <c:pt idx="1">
                  <c:v>i-Plan (TCE-SP)</c:v>
                </c:pt>
                <c:pt idx="2">
                  <c:v>i-Fiscal (TCE-SP)</c:v>
                </c:pt>
                <c:pt idx="3">
                  <c:v>IMCI (MCTI)</c:v>
                </c:pt>
                <c:pt idx="4">
                  <c:v>IBC (Anatel)</c:v>
                </c:pt>
                <c:pt idx="5">
                  <c:v>i-Gov TI (TCE-SP)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17.5</c:v>
                </c:pt>
                <c:pt idx="2">
                  <c:v>17.5</c:v>
                </c:pt>
                <c:pt idx="3">
                  <c:v>16</c:v>
                </c:pt>
                <c:pt idx="4">
                  <c:v>14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21C-474D-A52E-2C1A5A6778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E6E6E6"/>
                </a:solidFill>
                <a:latin typeface="Montserrat" pitchFamily="2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1E1E1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Municípios</c:v>
                </c:pt>
              </c:strCache>
            </c:strRef>
          </c:tx>
          <c:spPr>
            <a:solidFill>
              <a:srgbClr val="4496C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99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234-448D-B7A6-77B90EA6AB8F}"/>
              </c:ext>
            </c:extLst>
          </c:dPt>
          <c:dPt>
            <c:idx val="1"/>
            <c:invertIfNegative val="0"/>
            <c:bubble3D val="0"/>
            <c:spPr>
              <a:solidFill>
                <a:srgbClr val="26325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234-448D-B7A6-77B90EA6AB8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234-448D-B7A6-77B90EA6AB8F}"/>
              </c:ext>
            </c:extLst>
          </c:dPt>
          <c:dPt>
            <c:idx val="3"/>
            <c:invertIfNegative val="0"/>
            <c:bubble3D val="0"/>
            <c:spPr>
              <a:solidFill>
                <a:srgbClr val="EA32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234-448D-B7A6-77B90EA6AB8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Montserrat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Perfil A</c:v>
                </c:pt>
                <c:pt idx="1">
                  <c:v>Perfil B</c:v>
                </c:pt>
                <c:pt idx="2">
                  <c:v>Perfil C</c:v>
                </c:pt>
                <c:pt idx="3">
                  <c:v>Perfil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156</c:v>
                </c:pt>
                <c:pt idx="1">
                  <c:v>236</c:v>
                </c:pt>
                <c:pt idx="2">
                  <c:v>180</c:v>
                </c:pt>
                <c:pt idx="3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234-448D-B7A6-77B90EA6AB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6E6E6"/>
                </a:solidFill>
                <a:latin typeface="Montserrat" pitchFamily="2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9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1E1E1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Capacidade Institucional e Fiscal</c:v>
                </c:pt>
              </c:strCache>
            </c:strRef>
          </c:tx>
          <c:spPr>
            <a:solidFill>
              <a:srgbClr val="F9982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E6E6E6"/>
                    </a:solidFill>
                    <a:latin typeface="Montserrat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Perfil A</c:v>
                </c:pt>
                <c:pt idx="1">
                  <c:v>Perfil B</c:v>
                </c:pt>
                <c:pt idx="2">
                  <c:v>Perfil C</c:v>
                </c:pt>
                <c:pt idx="3">
                  <c:v>Perfil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-0.47</c:v>
                </c:pt>
                <c:pt idx="1">
                  <c:v>0.11</c:v>
                </c:pt>
                <c:pt idx="2">
                  <c:v>-0.2</c:v>
                </c:pt>
                <c:pt idx="3">
                  <c:v>1.17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05-482E-A4E6-DFB76F0D90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Infraestrutura e Maturidade Digital</c:v>
                </c:pt>
              </c:strCache>
            </c:strRef>
          </c:tx>
          <c:spPr>
            <a:solidFill>
              <a:srgbClr val="4496C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E6E6E6"/>
                    </a:solidFill>
                    <a:latin typeface="Montserrat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Perfil A</c:v>
                </c:pt>
                <c:pt idx="1">
                  <c:v>Perfil B</c:v>
                </c:pt>
                <c:pt idx="2">
                  <c:v>Perfil C</c:v>
                </c:pt>
                <c:pt idx="3">
                  <c:v>Perfil 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-0.5</c:v>
                </c:pt>
                <c:pt idx="1">
                  <c:v>-0.32</c:v>
                </c:pt>
                <c:pt idx="2">
                  <c:v>0.76</c:v>
                </c:pt>
                <c:pt idx="3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05-482E-A4E6-DFB76F0D905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Condição Socioeconômica</c:v>
                </c:pt>
              </c:strCache>
            </c:strRef>
          </c:tx>
          <c:spPr>
            <a:solidFill>
              <a:srgbClr val="EA323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E6E6E6"/>
                    </a:solidFill>
                    <a:latin typeface="Montserrat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Perfil A</c:v>
                </c:pt>
                <c:pt idx="1">
                  <c:v>Perfil B</c:v>
                </c:pt>
                <c:pt idx="2">
                  <c:v>Perfil C</c:v>
                </c:pt>
                <c:pt idx="3">
                  <c:v>Perfil 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-0.49</c:v>
                </c:pt>
                <c:pt idx="1">
                  <c:v>-0.0</c:v>
                </c:pt>
                <c:pt idx="2">
                  <c:v>0.42</c:v>
                </c:pt>
                <c:pt idx="3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05-482E-A4E6-DFB76F0D90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6E6E6"/>
                </a:solidFill>
                <a:latin typeface="Montserrat" pitchFamily="2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4"/>
          <c:min val="-0.6"/>
        </c:scaling>
        <c:delete val="0"/>
        <c:axPos val="l"/>
        <c:majorGridlines>
          <c:spPr>
            <a:ln w="12700" cap="flat">
              <a:solidFill>
                <a:srgbClr val="3A3A3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0A6"/>
                </a:solidFill>
                <a:latin typeface="Montserrat" pitchFamily="2" charset="0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rgbClr val="1E1E1E"/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6111111111111108E-2"/>
          <c:y val="0.94549234716446962"/>
          <c:w val="0.96249999999999991"/>
          <c:h val="5.4507652835530392E-2"/>
        </c:manualLayout>
      </c:layout>
      <c:overlay val="0"/>
      <c:txPr>
        <a:bodyPr/>
        <a:lstStyle/>
        <a:p>
          <a:pPr>
            <a:defRPr sz="950">
              <a:solidFill>
                <a:srgbClr val="E6E6E6"/>
              </a:solidFill>
              <a:latin typeface="Montserrat" pitchFamily="2" charset="0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omments/modernComment_11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E27D9C2-6A37-474C-99D8-FC0771B516B8}" authorId="{70D6D7DC-4737-C906-77DC-4E59050D7ABE}" created="2026-10-15T09:26:17.09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6"/>
      <ac:graphicFrameMk id="12" creationId="{00000000-0000-0000-0000-000000000000}"/>
    </ac:deMkLst>
    <p188:txBody>
      <a:bodyPr/>
      <a:lstStyle/>
      <a:p>
        <a:r>
          <a:rPr lang="pt-BR"/>
          <a:t>Para que não ficasse CIF (Capacidade institucional e fiscal), alterei para CFI (Capacidade fiscal e institucional). 
- Apenas não consegui alterar no gráfico.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711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BF3FC-D45A-7D2E-E0A1-0E99BB6A9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D3606B-59F4-F93B-38A0-7003E12EF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2AD502-7872-0643-B5DA-EAF215969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318DF-A1E0-F201-91C3-81601F24DC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92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45077-0783-2B21-F3ED-198227B48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D9350-F714-6384-A000-634CAD23E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6796E-39FD-A390-1D2E-A30A266CA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9328A-B21D-CB00-2158-E7F5B436E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3106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380B8-C685-783D-1ADC-5BC2C1124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614B8C-31C0-FB62-06C6-D6536310C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1C158C-7A9C-0551-CCFA-1284BE46B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BFC9F-0AE4-71BA-55A8-43398AE653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154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F9A52-327B-3BDA-B28F-0F398090E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3A1C6E-2B2C-CEE1-C3AD-F1F3B936C8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5CBB0B-69C6-06F3-D3FE-90C56764C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2A841-4887-D477-CA80-C3B9786673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455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OBJETIVO: demonstrar que o programa possui base normativa expressa e instrumento formal de cooperação.
DESIGN: quatro cartões de mesma altura com ícone em quadrado colorido; bloco de destaque inferior em cinza mais claro para o objeto do edital; rodapé com todas as referências normativas.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OBJETIVO: delimitar a divisão de responsabilidades entre SDE e IPT e o escopo temático elegível.
DESIGN: dois cartões superiores para as atribuições institucionais e cinco cartões inferiores para os eixos temáticos; ícones lineares monocromáticos na cor de cada eixo; título de seção intermediário sem linha divisória.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OBJETIVO: quantificar as entregas do programa por nível de profundidade do apoio.
DESIGN: quatro cartões com número em destaque (44pt) e descrição em corpo 10pt; faixa inferior com o resultado sistêmico. Ordem decrescente de abrangência e crescente de profundidade.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OBJETIVO: demonstrar que a alocação de vagas segue regra explícita, com tratamento previsto para o caso de perfil com inscrições insuficientes.
DESIGN: tabela comparando participação no Estado e vagas por etapa, com linha de total em negrito; cartão lateral com a regra de redistribuição em três itens. A tabela deve permitir a leitura direta da relação entre participação e vagas.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OBJETIVO: consolidar em uma única página as regras de passagem entre todas as etapas, incluindo as hipóteses de eliminação.
DESIGN: quatro faixas horizontais (uma por transição) com quatro colunas fixas e cabeçalho de coluna acima da primeira faixa; selo com a capacidade de atendimento na cor da transição. Este slide é a referência de consulta em arguições de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OBJETIVO: detalhar a única etapa em que a avaliação combina análise técnica documental e registro de participação, com nota de corte explícita.
DESIGN: coluna esquerda com a composição da pontuação em linhas ordenadas por peso decrescente; coluna direita com a nota mínima em destaque tipográfico e os critérios de desempate numerados em algarismos romanos, como no edital.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OBJETIVO: apresentar a avaliação final do funil e registrar que, nesta transição, a concorrência deixa de ser segmentada por perfil.
DESIGN: quatro cartões com a pontuação em destaque (32pt) e descrição do critério abaixo; dois blocos inferiores para a regra de seleção e o desempate. Observação de produção: destacar em apresentação oral que o IAP retorna como quarto critério de desempate.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OBJETIVO: responder antecipadamente ao questionamento sobre municípios sem dados e reforçar a possibilidade de auditoria externa do resultado.
DESIGN: bloco principal com o procedimento e a lista do que permanece inalterado; coluna lateral com a cadeia de rastreabilidade em quatro elos. Destaque em laranja para a garantia de não exclusão.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OBJETIVO: consolidar, em página única, os argumentos de defesa da metodologia perante instâncias de controle e perante os municípios não selecionados.
DESIGN: grade de oito cartões (4 x 2) com ícone linear, título curto e uma frase de sustentação; cores alternadas na sequência da paleta institucional. Este é o slide de encerramento da Parte 3 e deve ser mantido na versão impressa.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OBJETIVO: explicar a padronização em linguagem não matemática, sem apresentar a fórmula, preservando a precisão conceitual.
DESIGN: coluna esquerda em sequência problema → procedimento → leitura dos valores; coluna direita com tabela das escalas de origem, que evidencia a heterogeneidade das unidades. Não incluir a equação do escore-z no slide; mantê-la apenas no anexo metodológico.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OBJETIVO: apresentar evidência independente de que os agrupamentos têm significado estatístico, antecipando questionamento sobre a arbitrariedade da clusterização.
DESIGN: três cartões com o resultado numérico em destaque tipográfico; bloco inferior de interpretação em linguagem não estatística. Não incluir a formulação dos testes.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4_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737360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453896" y="1737360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2084832" y="1737360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715768" y="1737360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30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EDITAL DE CHAMADA PÚBLICA Nº 002/2026</a:t>
            </a:r>
            <a:endParaRPr lang="pt-BR" sz="3000" noProof="0"/>
          </a:p>
        </p:txBody>
      </p:sp>
      <p:sp>
        <p:nvSpPr>
          <p:cNvPr id="7" name="Text 5"/>
          <p:cNvSpPr/>
          <p:nvPr/>
        </p:nvSpPr>
        <p:spPr>
          <a:xfrm>
            <a:off x="822959" y="2651760"/>
            <a:ext cx="80708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Mongolian Baiti" panose="03000500000000000000" pitchFamily="66" charset="0"/>
              </a:rPr>
              <a:t>Seleção de municípios paulistas para desenvolvimento de capacidades em cidades inteligentes</a:t>
            </a:r>
            <a:endParaRPr lang="pt-BR" sz="1600" noProof="0">
              <a:latin typeface="Montserrat" pitchFamily="2" charset="0"/>
              <a:cs typeface="Mongolian Baiti" panose="03000500000000000000" pitchFamily="66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5486400" cy="18288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>
                <a:solidFill>
                  <a:srgbClr val="F99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Metodologia de classificação e seleção dos municípios</a:t>
            </a:r>
            <a:endParaRPr lang="pt-BR" sz="1500" noProof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pt-BR" sz="11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Secretaria de Desenvolvimento Econômico do Estado de São Paulo – SDE</a:t>
            </a:r>
          </a:p>
        </p:txBody>
      </p:sp>
      <p:sp>
        <p:nvSpPr>
          <p:cNvPr id="11" name="Text 9"/>
          <p:cNvSpPr/>
          <p:nvPr/>
        </p:nvSpPr>
        <p:spPr>
          <a:xfrm>
            <a:off x="822960" y="5806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OUTUBRO</a:t>
            </a:r>
            <a:r>
              <a:rPr lang="pt-BR" sz="1100" b="1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DE 2026</a:t>
            </a:r>
            <a:endParaRPr lang="pt-BR" sz="1100" b="1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979F59CF-F833-DA10-1E06-0CB56426E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212" y="5471160"/>
            <a:ext cx="1879828" cy="670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PROBLEMA PÚBLICO E OBJETIV</a:t>
            </a:r>
            <a:r>
              <a:rPr lang="pt-BR" sz="25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</a:t>
            </a:r>
            <a:endParaRPr lang="pt-BR" sz="2500" noProof="0"/>
          </a:p>
        </p:txBody>
      </p:sp>
      <p:sp>
        <p:nvSpPr>
          <p:cNvPr id="10" name="Shape 7"/>
          <p:cNvSpPr/>
          <p:nvPr/>
        </p:nvSpPr>
        <p:spPr>
          <a:xfrm>
            <a:off x="548640" y="1554480"/>
            <a:ext cx="5440680" cy="4480560"/>
          </a:xfrm>
          <a:prstGeom prst="roundRect">
            <a:avLst>
              <a:gd name="adj" fmla="val 1224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1" name="Shape 8"/>
          <p:cNvSpPr/>
          <p:nvPr/>
        </p:nvSpPr>
        <p:spPr>
          <a:xfrm>
            <a:off x="822960" y="1783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6537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188953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>
                <a:solidFill>
                  <a:srgbClr val="EA32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PROBLEMA PÚBLICO</a:t>
            </a:r>
            <a:endParaRPr lang="pt-BR" sz="1600" noProof="0"/>
          </a:p>
        </p:txBody>
      </p:sp>
      <p:sp>
        <p:nvSpPr>
          <p:cNvPr id="14" name="Text 10"/>
          <p:cNvSpPr/>
          <p:nvPr/>
        </p:nvSpPr>
        <p:spPr>
          <a:xfrm>
            <a:off x="822960" y="2455855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300" noProof="0">
                <a:solidFill>
                  <a:srgbClr val="E6E6E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0"/>
                <a:ea typeface="Arial" pitchFamily="34" charset="-122"/>
                <a:cs typeface="Arial" pitchFamily="34" charset="-120"/>
              </a:rPr>
              <a:t>A limitação da </a:t>
            </a:r>
            <a:r>
              <a:rPr lang="pt-BR" sz="1300" b="1" noProof="0">
                <a:solidFill>
                  <a:srgbClr val="E6E6E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0"/>
                <a:ea typeface="Arial" pitchFamily="34" charset="-122"/>
                <a:cs typeface="Arial" pitchFamily="34" charset="-120"/>
              </a:rPr>
              <a:t>capacidade institucional </a:t>
            </a:r>
            <a:r>
              <a:rPr lang="pt-BR" sz="1300" noProof="0">
                <a:solidFill>
                  <a:srgbClr val="E6E6E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0"/>
                <a:ea typeface="Arial" pitchFamily="34" charset="-122"/>
                <a:cs typeface="Arial" pitchFamily="34" charset="-120"/>
              </a:rPr>
              <a:t>dos entes locais restringe a </a:t>
            </a:r>
            <a:r>
              <a:rPr lang="pt-BR" sz="1300" b="1" noProof="0">
                <a:solidFill>
                  <a:srgbClr val="E6E6E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0"/>
                <a:ea typeface="Arial" pitchFamily="34" charset="-122"/>
                <a:cs typeface="Arial" pitchFamily="34" charset="-120"/>
              </a:rPr>
              <a:t>adoção de soluções de cidades inteligentes</a:t>
            </a:r>
            <a:r>
              <a:rPr lang="pt-BR" sz="1300" noProof="0">
                <a:solidFill>
                  <a:srgbClr val="E6E6E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0"/>
                <a:ea typeface="Arial" pitchFamily="34" charset="-122"/>
                <a:cs typeface="Arial" pitchFamily="34" charset="-120"/>
              </a:rPr>
              <a:t>, ainda que a oferta tecnológica esteja disponível no mercado.</a:t>
            </a:r>
            <a:endParaRPr lang="pt-BR" sz="1300" noProof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itchFamily="2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22960" y="3532174"/>
            <a:ext cx="4892040" cy="1971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5000"/>
              </a:lnSpc>
              <a:spcAft>
                <a:spcPts val="500"/>
              </a:spcAft>
              <a:buClr>
                <a:srgbClr val="EA3234"/>
              </a:buClr>
              <a:buSzPct val="100000"/>
              <a:buChar char="▪"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Dificuldade de </a:t>
            </a:r>
            <a:r>
              <a:rPr lang="pt-BR" sz="12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diagnóstico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preciso do problema público e de suas causas-raiz.</a:t>
            </a:r>
            <a:endParaRPr lang="pt-BR" sz="1200" noProof="0">
              <a:latin typeface="Montserrat" pitchFamily="2" charset="0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Clr>
                <a:srgbClr val="EA3234"/>
              </a:buClr>
              <a:buSzPct val="100000"/>
              <a:buChar char="▪"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Complexidade na </a:t>
            </a:r>
            <a:r>
              <a:rPr lang="pt-BR" sz="12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avaliação das soluções tecnológicas 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disponíveis no mercado.</a:t>
            </a:r>
            <a:endParaRPr lang="pt-BR" sz="1200" noProof="0">
              <a:latin typeface="Montserrat" pitchFamily="2" charset="0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Clr>
                <a:srgbClr val="EA3234"/>
              </a:buClr>
              <a:buSzPct val="100000"/>
              <a:buChar char="▪"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Dificuldade na estruturação de </a:t>
            </a:r>
            <a:r>
              <a:rPr lang="pt-BR" sz="12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contratações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quanto a interoperabilidade, segurança jurídica e viabilidade financeira.</a:t>
            </a:r>
            <a:endParaRPr lang="pt-BR" sz="1200" noProof="0">
              <a:latin typeface="Montserrat" pitchFamily="2" charset="0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Clr>
                <a:srgbClr val="EA3234"/>
              </a:buClr>
              <a:buSzPct val="100000"/>
              <a:buChar char="▪"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Risco de </a:t>
            </a:r>
            <a:r>
              <a:rPr lang="pt-BR" sz="12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aquisição de soluções não aderentes 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à realidade local e de baixa continuidade.</a:t>
            </a:r>
            <a:endParaRPr lang="pt-BR" sz="1200" noProof="0">
              <a:latin typeface="Montserrat" pitchFamily="2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199632" y="1554480"/>
            <a:ext cx="5440680" cy="4480560"/>
          </a:xfrm>
          <a:prstGeom prst="roundRect">
            <a:avLst>
              <a:gd name="adj" fmla="val 1224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7" name="Shape 13"/>
          <p:cNvSpPr/>
          <p:nvPr/>
        </p:nvSpPr>
        <p:spPr>
          <a:xfrm>
            <a:off x="6473952" y="1783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86537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68312" y="18809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>
                <a:solidFill>
                  <a:srgbClr val="F99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OBJETIVOS DO </a:t>
            </a:r>
            <a:r>
              <a:rPr lang="pt-BR" sz="1600" b="1">
                <a:solidFill>
                  <a:srgbClr val="F99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EDITAL</a:t>
            </a:r>
            <a:endParaRPr lang="pt-BR" sz="1600" noProof="0"/>
          </a:p>
        </p:txBody>
      </p:sp>
      <p:sp>
        <p:nvSpPr>
          <p:cNvPr id="20" name="Text 15"/>
          <p:cNvSpPr/>
          <p:nvPr/>
        </p:nvSpPr>
        <p:spPr>
          <a:xfrm>
            <a:off x="6473952" y="2455855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3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Qualificar a demanda pública municipal, de modo que os projetos de cidades inteligentes sejam </a:t>
            </a:r>
            <a:r>
              <a:rPr lang="pt-BR" sz="13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tecnicamente viáveis, juridicamente seguros e financeiramente sustentáveis.</a:t>
            </a:r>
            <a:endParaRPr lang="pt-BR" sz="1300" b="1" noProof="0">
              <a:latin typeface="Montserrat" pitchFamily="2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473952" y="3559436"/>
            <a:ext cx="4892040" cy="1636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5000"/>
              </a:lnSpc>
              <a:spcAft>
                <a:spcPts val="500"/>
              </a:spcAft>
              <a:buClr>
                <a:srgbClr val="F99828"/>
              </a:buClr>
              <a:buSzPct val="100000"/>
              <a:buChar char="▪"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Apoio técnico e metodológico para identificação do </a:t>
            </a:r>
            <a:r>
              <a:rPr lang="pt-BR" sz="12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problema público e de suas causas-raiz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</a:t>
            </a:r>
            <a:endParaRPr lang="pt-BR" sz="1200" noProof="0">
              <a:latin typeface="Montserrat" pitchFamily="2" charset="0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Clr>
                <a:srgbClr val="F99828"/>
              </a:buClr>
              <a:buSzPct val="100000"/>
              <a:buChar char="▪"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Identificação das soluções tecnológicas mais </a:t>
            </a:r>
            <a:r>
              <a:rPr lang="pt-BR" sz="12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adequadas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ao contexto local.</a:t>
            </a:r>
            <a:endParaRPr lang="pt-BR" sz="1200" noProof="0">
              <a:latin typeface="Montserrat" pitchFamily="2" charset="0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Clr>
                <a:srgbClr val="F99828"/>
              </a:buClr>
              <a:buSzPct val="100000"/>
              <a:buChar char="▪"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Modelagem dos </a:t>
            </a:r>
            <a:r>
              <a:rPr lang="pt-BR" sz="12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instrumentos 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técnicos</a:t>
            </a:r>
            <a:r>
              <a:rPr lang="pt-BR" sz="12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 jurídicos de contratação (ETP e Termo de Referência).</a:t>
            </a:r>
            <a:endParaRPr lang="pt-BR" sz="1200" noProof="0">
              <a:latin typeface="Montserrat" pitchFamily="2" charset="0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Clr>
                <a:srgbClr val="F99828"/>
              </a:buClr>
              <a:buSzPct val="100000"/>
              <a:buChar char="▪"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Acompanhamento da </a:t>
            </a:r>
            <a:r>
              <a:rPr lang="pt-BR" sz="12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implantação e mensuração do impacto 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na eficiência do serviço público.</a:t>
            </a:r>
            <a:endParaRPr lang="pt-BR" sz="1200" noProof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D66F9-82E1-BF29-0484-B38EF3075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774A88-3678-66C7-7D90-8B8D16091C32}"/>
              </a:ext>
            </a:extLst>
          </p:cNvPr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3269248-D1E9-C1D2-7C67-561F3227A7FE}"/>
              </a:ext>
            </a:extLst>
          </p:cNvPr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AF406EA-4400-D26B-9F26-54EBD9CFD74B}"/>
              </a:ext>
            </a:extLst>
          </p:cNvPr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2C4A7F1-308D-E2DE-9B7C-4F5827AB4F34}"/>
              </a:ext>
            </a:extLst>
          </p:cNvPr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F14C2F-A95E-7A6F-B5B4-51608C07D541}"/>
              </a:ext>
            </a:extLst>
          </p:cNvPr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FUNIL DE DESENVOLVIMENTO DE CAPACIDADES</a:t>
            </a:r>
            <a:endParaRPr lang="pt-BR" sz="2500" noProof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D1D1881-793A-8A06-575F-4EF122C3A40B}"/>
              </a:ext>
            </a:extLst>
          </p:cNvPr>
          <p:cNvSpPr/>
          <p:nvPr/>
        </p:nvSpPr>
        <p:spPr>
          <a:xfrm>
            <a:off x="713232" y="12570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ETAPA</a:t>
            </a:r>
            <a:endParaRPr lang="pt-BR" sz="11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E182251-6756-8244-2A40-A1CC8F1F88E8}"/>
              </a:ext>
            </a:extLst>
          </p:cNvPr>
          <p:cNvSpPr/>
          <p:nvPr/>
        </p:nvSpPr>
        <p:spPr>
          <a:xfrm>
            <a:off x="3312110" y="12570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DESCRIÇÃO</a:t>
            </a:r>
            <a:endParaRPr lang="pt-BR" sz="11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A74E68E-0FCB-DA04-EBAA-880A089807A3}"/>
              </a:ext>
            </a:extLst>
          </p:cNvPr>
          <p:cNvSpPr/>
          <p:nvPr/>
        </p:nvSpPr>
        <p:spPr>
          <a:xfrm>
            <a:off x="7331162" y="125704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ENTREGA DA ETAPA</a:t>
            </a:r>
            <a:endParaRPr lang="pt-BR" sz="11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7753DEB-F03D-7E96-FB36-AC9656D4DF61}"/>
              </a:ext>
            </a:extLst>
          </p:cNvPr>
          <p:cNvSpPr/>
          <p:nvPr/>
        </p:nvSpPr>
        <p:spPr>
          <a:xfrm>
            <a:off x="10193279" y="1257044"/>
            <a:ext cx="12900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kern="0" spc="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ATENDIMENTO</a:t>
            </a:r>
            <a:endParaRPr lang="pt-BR" sz="11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EC01760-4DA0-FF78-006D-D0550C6EAB7E}"/>
              </a:ext>
            </a:extLst>
          </p:cNvPr>
          <p:cNvSpPr/>
          <p:nvPr/>
        </p:nvSpPr>
        <p:spPr>
          <a:xfrm>
            <a:off x="548640" y="1586228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C0CF6EE3-A5FE-C80B-BC96-DAB92CDB3DB9}"/>
              </a:ext>
            </a:extLst>
          </p:cNvPr>
          <p:cNvSpPr/>
          <p:nvPr/>
        </p:nvSpPr>
        <p:spPr>
          <a:xfrm>
            <a:off x="713232" y="1769108"/>
            <a:ext cx="475488" cy="475488"/>
          </a:xfrm>
          <a:prstGeom prst="roundRect">
            <a:avLst>
              <a:gd name="adj" fmla="val 15385"/>
            </a:avLst>
          </a:prstGeom>
          <a:gradFill flip="none" rotWithShape="1">
            <a:gsLst>
              <a:gs pos="0">
                <a:srgbClr val="F99828">
                  <a:shade val="30000"/>
                  <a:satMod val="115000"/>
                </a:srgbClr>
              </a:gs>
              <a:gs pos="50000">
                <a:srgbClr val="F99828">
                  <a:shade val="67500"/>
                  <a:satMod val="115000"/>
                </a:srgbClr>
              </a:gs>
              <a:gs pos="100000">
                <a:srgbClr val="F99828">
                  <a:shade val="100000"/>
                  <a:satMod val="115000"/>
                </a:srgb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4FE3F5B-A918-2084-DBFD-8709F10CDAE3}"/>
              </a:ext>
            </a:extLst>
          </p:cNvPr>
          <p:cNvSpPr/>
          <p:nvPr/>
        </p:nvSpPr>
        <p:spPr>
          <a:xfrm>
            <a:off x="713232" y="17691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pt-BR" sz="1600" noProof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C5B26A4-05C3-EC9D-ED0F-86E79EB55CE9}"/>
              </a:ext>
            </a:extLst>
          </p:cNvPr>
          <p:cNvSpPr/>
          <p:nvPr/>
        </p:nvSpPr>
        <p:spPr>
          <a:xfrm>
            <a:off x="1325880" y="1732532"/>
            <a:ext cx="1424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ABERTURA E INSCRIÇÕES</a:t>
            </a:r>
            <a:endParaRPr lang="pt-BR" sz="950" noProof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F9460C46-6C3F-6451-049C-DEC1BD6FA841}"/>
              </a:ext>
            </a:extLst>
          </p:cNvPr>
          <p:cNvSpPr/>
          <p:nvPr/>
        </p:nvSpPr>
        <p:spPr>
          <a:xfrm>
            <a:off x="3312110" y="1787569"/>
            <a:ext cx="32620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Inscrição no Portal Cidades Inteligentes SP, com identificação do problema público-foco.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305614E-3D2C-720F-BD37-996FE77D7C9F}"/>
              </a:ext>
            </a:extLst>
          </p:cNvPr>
          <p:cNvSpPr/>
          <p:nvPr/>
        </p:nvSpPr>
        <p:spPr>
          <a:xfrm>
            <a:off x="7331162" y="1734257"/>
            <a:ext cx="2521501" cy="38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Devolutiva com indicador de maturidade digital a todos os inscritos.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52DB991-A139-E542-D7F0-290747038707}"/>
              </a:ext>
            </a:extLst>
          </p:cNvPr>
          <p:cNvSpPr/>
          <p:nvPr/>
        </p:nvSpPr>
        <p:spPr>
          <a:xfrm>
            <a:off x="10300508" y="1744957"/>
            <a:ext cx="1065646" cy="512064"/>
          </a:xfrm>
          <a:prstGeom prst="roundRect">
            <a:avLst>
              <a:gd name="adj" fmla="val 14286"/>
            </a:avLst>
          </a:prstGeom>
          <a:solidFill>
            <a:srgbClr val="2A2A2A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sz="950" noProof="0">
              <a:latin typeface="Montserrat" pitchFamily="2" charset="0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1EF0935-5DD8-AC71-A59D-FCCBFD84A2A7}"/>
              </a:ext>
            </a:extLst>
          </p:cNvPr>
          <p:cNvSpPr/>
          <p:nvPr/>
        </p:nvSpPr>
        <p:spPr>
          <a:xfrm>
            <a:off x="10300508" y="1744957"/>
            <a:ext cx="10656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TODOS OS</a:t>
            </a:r>
            <a:endParaRPr lang="pt-BR" sz="950" noProof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pt-BR" sz="95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INSCRITOS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585E75C1-E362-54E9-6492-395037B4AB1F}"/>
              </a:ext>
            </a:extLst>
          </p:cNvPr>
          <p:cNvSpPr/>
          <p:nvPr/>
        </p:nvSpPr>
        <p:spPr>
          <a:xfrm>
            <a:off x="548640" y="2500628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461BBC37-0C1B-4F84-8DDC-F8A975FB8DB7}"/>
              </a:ext>
            </a:extLst>
          </p:cNvPr>
          <p:cNvSpPr/>
          <p:nvPr/>
        </p:nvSpPr>
        <p:spPr>
          <a:xfrm>
            <a:off x="713232" y="2683508"/>
            <a:ext cx="475488" cy="475488"/>
          </a:xfrm>
          <a:prstGeom prst="roundRect">
            <a:avLst>
              <a:gd name="adj" fmla="val 15385"/>
            </a:avLst>
          </a:prstGeom>
          <a:gradFill flip="none" rotWithShape="1">
            <a:gsLst>
              <a:gs pos="0">
                <a:srgbClr val="EA3234">
                  <a:shade val="30000"/>
                  <a:satMod val="115000"/>
                </a:srgbClr>
              </a:gs>
              <a:gs pos="50000">
                <a:srgbClr val="EA3234">
                  <a:shade val="67500"/>
                  <a:satMod val="115000"/>
                </a:srgbClr>
              </a:gs>
              <a:gs pos="100000">
                <a:srgbClr val="EA3234">
                  <a:shade val="100000"/>
                  <a:satMod val="115000"/>
                </a:srgb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753119CD-1386-052C-8E80-1106647FEA69}"/>
              </a:ext>
            </a:extLst>
          </p:cNvPr>
          <p:cNvSpPr/>
          <p:nvPr/>
        </p:nvSpPr>
        <p:spPr>
          <a:xfrm>
            <a:off x="713232" y="26835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pt-BR" sz="1600" noProof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88AA6EEE-D2FE-1545-79D7-490D5DE05BBB}"/>
              </a:ext>
            </a:extLst>
          </p:cNvPr>
          <p:cNvSpPr/>
          <p:nvPr/>
        </p:nvSpPr>
        <p:spPr>
          <a:xfrm>
            <a:off x="1325880" y="2637788"/>
            <a:ext cx="1851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DIAGNÓSTICO E DESCOBERTA</a:t>
            </a:r>
            <a:endParaRPr lang="pt-BR" sz="950" noProof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05D0C91B-1DC8-5190-2136-3A4BE50770E8}"/>
              </a:ext>
            </a:extLst>
          </p:cNvPr>
          <p:cNvSpPr/>
          <p:nvPr/>
        </p:nvSpPr>
        <p:spPr>
          <a:xfrm>
            <a:off x="3312110" y="2628817"/>
            <a:ext cx="32620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Aulas temáticas e reuniões técnicas individualizadas para aprofundamento do diagnóstico institucional e tecnológico.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CC39A776-BC30-632C-71AF-22B708DB87F7}"/>
              </a:ext>
            </a:extLst>
          </p:cNvPr>
          <p:cNvSpPr/>
          <p:nvPr/>
        </p:nvSpPr>
        <p:spPr>
          <a:xfrm>
            <a:off x="7331162" y="2656594"/>
            <a:ext cx="22527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Problema público reformulado, com causa-raiz identificada e aderência aos eixos.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6E4324D1-FEB7-CB41-1FCA-EA076B242596}"/>
              </a:ext>
            </a:extLst>
          </p:cNvPr>
          <p:cNvSpPr/>
          <p:nvPr/>
        </p:nvSpPr>
        <p:spPr>
          <a:xfrm>
            <a:off x="10300508" y="2659357"/>
            <a:ext cx="1065646" cy="512064"/>
          </a:xfrm>
          <a:prstGeom prst="roundRect">
            <a:avLst>
              <a:gd name="adj" fmla="val 14286"/>
            </a:avLst>
          </a:prstGeom>
          <a:solidFill>
            <a:srgbClr val="2A2A2A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sz="950" noProof="0">
              <a:latin typeface="Montserrat" pitchFamily="2" charset="0"/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AF1868F9-C4E0-B820-95D2-716ADE6736EA}"/>
              </a:ext>
            </a:extLst>
          </p:cNvPr>
          <p:cNvSpPr/>
          <p:nvPr/>
        </p:nvSpPr>
        <p:spPr>
          <a:xfrm>
            <a:off x="10300508" y="2659357"/>
            <a:ext cx="10656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 noProof="0">
                <a:solidFill>
                  <a:srgbClr val="EA3234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ATÉ 50</a:t>
            </a:r>
            <a:endParaRPr lang="pt-BR" sz="950" noProof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pt-BR" sz="950" b="1" noProof="0">
                <a:solidFill>
                  <a:srgbClr val="EA3234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0755CA11-16D8-EEA6-5A64-1C598E58850E}"/>
              </a:ext>
            </a:extLst>
          </p:cNvPr>
          <p:cNvSpPr/>
          <p:nvPr/>
        </p:nvSpPr>
        <p:spPr>
          <a:xfrm>
            <a:off x="548640" y="3415028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C967CF69-FB8E-60C3-9C36-419823372CEE}"/>
              </a:ext>
            </a:extLst>
          </p:cNvPr>
          <p:cNvSpPr/>
          <p:nvPr/>
        </p:nvSpPr>
        <p:spPr>
          <a:xfrm>
            <a:off x="713232" y="3597908"/>
            <a:ext cx="475488" cy="475488"/>
          </a:xfrm>
          <a:prstGeom prst="roundRect">
            <a:avLst>
              <a:gd name="adj" fmla="val 15385"/>
            </a:avLst>
          </a:prstGeom>
          <a:gradFill flip="none" rotWithShape="1">
            <a:gsLst>
              <a:gs pos="0">
                <a:srgbClr val="4496CD">
                  <a:shade val="30000"/>
                  <a:satMod val="115000"/>
                </a:srgbClr>
              </a:gs>
              <a:gs pos="50000">
                <a:srgbClr val="4496CD">
                  <a:shade val="67500"/>
                  <a:satMod val="115000"/>
                </a:srgbClr>
              </a:gs>
              <a:gs pos="100000">
                <a:srgbClr val="4496CD">
                  <a:shade val="100000"/>
                  <a:satMod val="115000"/>
                </a:srgb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B5F04828-3FE7-60FD-4518-DCF8F28388CC}"/>
              </a:ext>
            </a:extLst>
          </p:cNvPr>
          <p:cNvSpPr/>
          <p:nvPr/>
        </p:nvSpPr>
        <p:spPr>
          <a:xfrm>
            <a:off x="713232" y="35979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pt-BR" sz="1600" noProof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92C4C175-90EB-E3AC-FC13-DE7C68C21316}"/>
              </a:ext>
            </a:extLst>
          </p:cNvPr>
          <p:cNvSpPr/>
          <p:nvPr/>
        </p:nvSpPr>
        <p:spPr>
          <a:xfrm>
            <a:off x="1325881" y="3561332"/>
            <a:ext cx="160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DE SOLUÇÃO E PLANO DE AÇÃO</a:t>
            </a:r>
            <a:endParaRPr lang="pt-BR" sz="950" noProof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534726D-E605-CB2A-3D6C-B3EA2547CA11}"/>
              </a:ext>
            </a:extLst>
          </p:cNvPr>
          <p:cNvSpPr/>
          <p:nvPr/>
        </p:nvSpPr>
        <p:spPr>
          <a:xfrm>
            <a:off x="3312111" y="3568543"/>
            <a:ext cx="3262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Consultoria técnica para cruzamento do diagnóstico com as soluções de cidades inteligentes disponíveis.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39CEEB29-8832-D6F3-9385-5EB0B8C7B2E7}"/>
              </a:ext>
            </a:extLst>
          </p:cNvPr>
          <p:cNvSpPr/>
          <p:nvPr/>
        </p:nvSpPr>
        <p:spPr>
          <a:xfrm>
            <a:off x="7331161" y="3561331"/>
            <a:ext cx="2252785" cy="574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Plano de Ação estruturado, com análise técnica das soluções viáveis.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BD211917-C36C-1975-D560-5119DB999396}"/>
              </a:ext>
            </a:extLst>
          </p:cNvPr>
          <p:cNvSpPr/>
          <p:nvPr/>
        </p:nvSpPr>
        <p:spPr>
          <a:xfrm>
            <a:off x="10300508" y="3573757"/>
            <a:ext cx="1065646" cy="512064"/>
          </a:xfrm>
          <a:prstGeom prst="roundRect">
            <a:avLst>
              <a:gd name="adj" fmla="val 14286"/>
            </a:avLst>
          </a:prstGeom>
          <a:solidFill>
            <a:srgbClr val="2A2A2A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sz="950" noProof="0">
              <a:latin typeface="Montserrat" pitchFamily="2" charset="0"/>
            </a:endParaRPr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374BEA0C-9FF5-D399-6592-017B26B99E14}"/>
              </a:ext>
            </a:extLst>
          </p:cNvPr>
          <p:cNvSpPr/>
          <p:nvPr/>
        </p:nvSpPr>
        <p:spPr>
          <a:xfrm>
            <a:off x="10300508" y="3573757"/>
            <a:ext cx="10656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 noProof="0">
                <a:solidFill>
                  <a:srgbClr val="4496CD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ATÉ 25</a:t>
            </a:r>
            <a:endParaRPr lang="pt-BR" sz="950" noProof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pt-BR" sz="950" b="1" noProof="0">
                <a:solidFill>
                  <a:srgbClr val="4496CD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68A98AE3-9B9C-1694-A372-A5D28F71F433}"/>
              </a:ext>
            </a:extLst>
          </p:cNvPr>
          <p:cNvSpPr/>
          <p:nvPr/>
        </p:nvSpPr>
        <p:spPr>
          <a:xfrm>
            <a:off x="548640" y="4329428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9C53FEF4-737F-8AB5-8796-AB1C07D9240D}"/>
              </a:ext>
            </a:extLst>
          </p:cNvPr>
          <p:cNvSpPr/>
          <p:nvPr/>
        </p:nvSpPr>
        <p:spPr>
          <a:xfrm>
            <a:off x="713232" y="45123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63253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635AB727-FAED-CE71-4931-6E71FD9BBA42}"/>
              </a:ext>
            </a:extLst>
          </p:cNvPr>
          <p:cNvSpPr/>
          <p:nvPr/>
        </p:nvSpPr>
        <p:spPr>
          <a:xfrm>
            <a:off x="713232" y="45123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pt-BR" sz="1600" noProof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73419826-4FDC-8C77-20AB-30FA905B0056}"/>
              </a:ext>
            </a:extLst>
          </p:cNvPr>
          <p:cNvSpPr/>
          <p:nvPr/>
        </p:nvSpPr>
        <p:spPr>
          <a:xfrm>
            <a:off x="1325880" y="447573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APOIO À EXECUÇÃO</a:t>
            </a:r>
            <a:endParaRPr lang="pt-BR" sz="950" noProof="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87FFEF00-BA15-F717-F616-23E86DE83A79}"/>
              </a:ext>
            </a:extLst>
          </p:cNvPr>
          <p:cNvSpPr/>
          <p:nvPr/>
        </p:nvSpPr>
        <p:spPr>
          <a:xfrm>
            <a:off x="3312110" y="4560357"/>
            <a:ext cx="2783890" cy="39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Assessoria técnica para estruturação do processo de contratação.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CE09DEEE-C8F6-B9CE-D838-D0B151DAE045}"/>
              </a:ext>
            </a:extLst>
          </p:cNvPr>
          <p:cNvSpPr/>
          <p:nvPr/>
        </p:nvSpPr>
        <p:spPr>
          <a:xfrm>
            <a:off x="7331162" y="4494019"/>
            <a:ext cx="2416687" cy="566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Modelos de Estudo Técnico Preliminar (ETP) e de Termo de Referência (TR).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45" name="Shape 42">
            <a:extLst>
              <a:ext uri="{FF2B5EF4-FFF2-40B4-BE49-F238E27FC236}">
                <a16:creationId xmlns:a16="http://schemas.microsoft.com/office/drawing/2014/main" id="{1BC3E0EF-2BB5-6FC3-34F1-2C7A34C62B0C}"/>
              </a:ext>
            </a:extLst>
          </p:cNvPr>
          <p:cNvSpPr/>
          <p:nvPr/>
        </p:nvSpPr>
        <p:spPr>
          <a:xfrm>
            <a:off x="10300508" y="4488157"/>
            <a:ext cx="1065646" cy="512064"/>
          </a:xfrm>
          <a:prstGeom prst="roundRect">
            <a:avLst>
              <a:gd name="adj" fmla="val 14286"/>
            </a:avLst>
          </a:prstGeom>
          <a:solidFill>
            <a:srgbClr val="2A2A2A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sz="950" noProof="0">
              <a:latin typeface="Montserrat" pitchFamily="2" charset="0"/>
            </a:endParaRPr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A9B988AD-F0D5-E816-11EA-EA4399254AF5}"/>
              </a:ext>
            </a:extLst>
          </p:cNvPr>
          <p:cNvSpPr/>
          <p:nvPr/>
        </p:nvSpPr>
        <p:spPr>
          <a:xfrm>
            <a:off x="10300508" y="4488157"/>
            <a:ext cx="10656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 noProof="0">
                <a:solidFill>
                  <a:srgbClr val="7C8EC9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ATÉ 10</a:t>
            </a:r>
            <a:endParaRPr lang="pt-BR" sz="950" noProof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pt-BR" sz="950" b="1" noProof="0">
                <a:solidFill>
                  <a:srgbClr val="7C8EC9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1CEBD02B-D2C8-0FDE-D736-D6B09D3FAD24}"/>
              </a:ext>
            </a:extLst>
          </p:cNvPr>
          <p:cNvSpPr/>
          <p:nvPr/>
        </p:nvSpPr>
        <p:spPr>
          <a:xfrm>
            <a:off x="548640" y="5243828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55A945F9-9728-6B69-3CCA-C349C30D2E4F}"/>
              </a:ext>
            </a:extLst>
          </p:cNvPr>
          <p:cNvSpPr/>
          <p:nvPr/>
        </p:nvSpPr>
        <p:spPr>
          <a:xfrm>
            <a:off x="713232" y="5426708"/>
            <a:ext cx="475488" cy="475488"/>
          </a:xfrm>
          <a:prstGeom prst="roundRect">
            <a:avLst>
              <a:gd name="adj" fmla="val 15385"/>
            </a:avLst>
          </a:prstGeom>
          <a:gradFill flip="none" rotWithShape="1">
            <a:gsLst>
              <a:gs pos="0">
                <a:srgbClr val="6E6E6E">
                  <a:shade val="30000"/>
                  <a:satMod val="115000"/>
                </a:srgbClr>
              </a:gs>
              <a:gs pos="50000">
                <a:srgbClr val="6E6E6E">
                  <a:shade val="67500"/>
                  <a:satMod val="115000"/>
                </a:srgbClr>
              </a:gs>
              <a:gs pos="100000">
                <a:srgbClr val="6E6E6E">
                  <a:shade val="100000"/>
                  <a:satMod val="115000"/>
                </a:srgb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15E33CAA-47A3-D392-784E-E22E63094C3E}"/>
              </a:ext>
            </a:extLst>
          </p:cNvPr>
          <p:cNvSpPr/>
          <p:nvPr/>
        </p:nvSpPr>
        <p:spPr>
          <a:xfrm>
            <a:off x="713232" y="54267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pt-BR" sz="1600" noProof="0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4D19B731-45C2-1438-2203-9F1704255AB7}"/>
              </a:ext>
            </a:extLst>
          </p:cNvPr>
          <p:cNvSpPr/>
          <p:nvPr/>
        </p:nvSpPr>
        <p:spPr>
          <a:xfrm>
            <a:off x="1325880" y="539013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IMPLEMENTAÇÃO E ACOMPANHAMENTO</a:t>
            </a:r>
            <a:endParaRPr lang="pt-BR" sz="950" noProof="0"/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89A8779E-80B7-A7FD-2EA1-24EC82C7687A}"/>
              </a:ext>
            </a:extLst>
          </p:cNvPr>
          <p:cNvSpPr/>
          <p:nvPr/>
        </p:nvSpPr>
        <p:spPr>
          <a:xfrm>
            <a:off x="3312111" y="5479121"/>
            <a:ext cx="30455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Monitoramento contínuo da implantação das soluções contratadas.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3D5B32A7-AB17-E69F-3C6D-56B106C4E122}"/>
              </a:ext>
            </a:extLst>
          </p:cNvPr>
          <p:cNvSpPr/>
          <p:nvPr/>
        </p:nvSpPr>
        <p:spPr>
          <a:xfrm>
            <a:off x="7331162" y="5385612"/>
            <a:ext cx="2599139" cy="38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Avaliação de resultados e mensuração do impacto na eficiência do serviço público.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06A85292-9F6C-B19C-D591-55A2967387C7}"/>
              </a:ext>
            </a:extLst>
          </p:cNvPr>
          <p:cNvSpPr/>
          <p:nvPr/>
        </p:nvSpPr>
        <p:spPr>
          <a:xfrm>
            <a:off x="10300508" y="5402557"/>
            <a:ext cx="1065646" cy="512064"/>
          </a:xfrm>
          <a:prstGeom prst="roundRect">
            <a:avLst>
              <a:gd name="adj" fmla="val 14286"/>
            </a:avLst>
          </a:prstGeom>
          <a:solidFill>
            <a:srgbClr val="2A2A2A"/>
          </a:solidFill>
          <a:ln w="1270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pt-BR" sz="950" noProof="0">
              <a:latin typeface="Montserrat" pitchFamily="2" charset="0"/>
            </a:endParaRPr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86EA2B79-86F2-2940-C2DD-55C3336BE0AE}"/>
              </a:ext>
            </a:extLst>
          </p:cNvPr>
          <p:cNvSpPr/>
          <p:nvPr/>
        </p:nvSpPr>
        <p:spPr>
          <a:xfrm>
            <a:off x="10300508" y="5402557"/>
            <a:ext cx="10656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10</a:t>
            </a:r>
            <a:endParaRPr lang="pt-BR" sz="950" noProof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</a:t>
            </a:r>
            <a:endParaRPr lang="pt-BR" sz="950" noProof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046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788920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453896" y="2788920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2084832" y="2788920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715768" y="2788920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7" name="Text 5"/>
          <p:cNvSpPr/>
          <p:nvPr/>
        </p:nvSpPr>
        <p:spPr>
          <a:xfrm>
            <a:off x="777240" y="322326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METODOLOGIA DE CLASSIFICAÇÃO E SELEÇÃO DOS MUNICÍPIOS</a:t>
            </a:r>
            <a:endParaRPr lang="pt-BR" sz="3200" noProof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10195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Metodologia de classificação e seleção anexa ao edital — base de dados, eixos de avaliação, agrupamento, Índice de Alinhamento ao Perfil e critérios de afunilamento</a:t>
            </a:r>
            <a:endParaRPr lang="pt-BR" sz="1300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PREMISSA: HETEROGENEIDADE DOS MUNICÍPIOS</a:t>
            </a:r>
            <a:endParaRPr lang="pt-BR" sz="2500" noProof="0"/>
          </a:p>
        </p:txBody>
      </p:sp>
      <p:sp>
        <p:nvSpPr>
          <p:cNvPr id="11" name="Shape 8"/>
          <p:cNvSpPr/>
          <p:nvPr/>
        </p:nvSpPr>
        <p:spPr>
          <a:xfrm>
            <a:off x="548640" y="1300708"/>
            <a:ext cx="5440680" cy="4673648"/>
          </a:xfrm>
          <a:prstGeom prst="roundRect">
            <a:avLst>
              <a:gd name="adj" fmla="val 121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2" name="Text 9"/>
          <p:cNvSpPr/>
          <p:nvPr/>
        </p:nvSpPr>
        <p:spPr>
          <a:xfrm>
            <a:off x="822960" y="14835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DISTRIBUIÇÃO DOS MUNICÍPIOS PAULISTAS POR PORTE</a:t>
            </a:r>
            <a:endParaRPr lang="pt-BR" sz="1300" noProof="0"/>
          </a:p>
        </p:txBody>
      </p:sp>
      <p:graphicFrame>
        <p:nvGraphicFramePr>
          <p:cNvPr id="13" name="Chart 0"/>
          <p:cNvGraphicFramePr/>
          <p:nvPr>
            <p:extLst>
              <p:ext uri="{D42A27DB-BD31-4B8C-83A1-F6EECF244321}">
                <p14:modId xmlns:p14="http://schemas.microsoft.com/office/powerpoint/2010/main" val="4093628782"/>
              </p:ext>
            </p:extLst>
          </p:nvPr>
        </p:nvGraphicFramePr>
        <p:xfrm>
          <a:off x="800100" y="1910766"/>
          <a:ext cx="5079492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0"/>
          <p:cNvSpPr/>
          <p:nvPr/>
        </p:nvSpPr>
        <p:spPr>
          <a:xfrm>
            <a:off x="6199632" y="1300707"/>
            <a:ext cx="5440680" cy="1648807"/>
          </a:xfrm>
          <a:prstGeom prst="roundRect">
            <a:avLst>
              <a:gd name="adj" fmla="val 255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5" name="Text 11"/>
          <p:cNvSpPr/>
          <p:nvPr/>
        </p:nvSpPr>
        <p:spPr>
          <a:xfrm>
            <a:off x="6473952" y="14835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>
                <a:solidFill>
                  <a:srgbClr val="EA32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CONSTATAÇÃO</a:t>
            </a:r>
            <a:endParaRPr lang="pt-BR" sz="1400" noProof="0"/>
          </a:p>
        </p:txBody>
      </p:sp>
      <p:sp>
        <p:nvSpPr>
          <p:cNvPr id="16" name="Text 12"/>
          <p:cNvSpPr/>
          <p:nvPr/>
        </p:nvSpPr>
        <p:spPr>
          <a:xfrm>
            <a:off x="6473952" y="1911918"/>
            <a:ext cx="4892040" cy="808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 universo municipal paulista é estruturalmente heterogêneo. </a:t>
            </a:r>
            <a:r>
              <a:rPr lang="pt-BR" sz="11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 com até 20 mil habitantes </a:t>
            </a:r>
            <a:r>
              <a:rPr lang="pt-BR" sz="1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representam a maior parte do Estado e operam com estruturas administrativas, orçamentos e infraestrutura digital incomparáveis aos das metrópoles. </a:t>
            </a:r>
            <a:endParaRPr lang="pt-BR" sz="11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199632" y="3128168"/>
            <a:ext cx="5440680" cy="2846188"/>
          </a:xfrm>
          <a:prstGeom prst="roundRect">
            <a:avLst>
              <a:gd name="adj" fmla="val 244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E68B3708-E6CD-78DC-CB40-C756E5AB239D}"/>
              </a:ext>
            </a:extLst>
          </p:cNvPr>
          <p:cNvSpPr/>
          <p:nvPr/>
        </p:nvSpPr>
        <p:spPr>
          <a:xfrm>
            <a:off x="6473952" y="4872326"/>
            <a:ext cx="4892040" cy="777240"/>
          </a:xfrm>
          <a:prstGeom prst="roundRect">
            <a:avLst>
              <a:gd name="adj" fmla="val 8536"/>
            </a:avLst>
          </a:prstGeom>
          <a:noFill/>
          <a:ln w="9525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8" name="Text 14"/>
          <p:cNvSpPr/>
          <p:nvPr/>
        </p:nvSpPr>
        <p:spPr>
          <a:xfrm>
            <a:off x="6473952" y="3447293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>
                <a:solidFill>
                  <a:srgbClr val="F99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CONSEQUÊNCIA METODOLÓGICA</a:t>
            </a:r>
            <a:endParaRPr lang="pt-BR" sz="1400" noProof="0"/>
          </a:p>
        </p:txBody>
      </p:sp>
      <p:sp>
        <p:nvSpPr>
          <p:cNvPr id="19" name="Text 15"/>
          <p:cNvSpPr/>
          <p:nvPr/>
        </p:nvSpPr>
        <p:spPr>
          <a:xfrm>
            <a:off x="6473952" y="3900266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Um </a:t>
            </a:r>
            <a:r>
              <a:rPr lang="pt-BR" sz="1100" i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ranking</a:t>
            </a:r>
            <a:r>
              <a:rPr lang="pt-BR" sz="1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único aplicado a todos os municípios produziria classificação sistematicamente favorável aos de maior capacidade instalada, concentrando a política onde a maturidade já existe e contrariando a diretriz de redução das desigualdades regionais.</a:t>
            </a:r>
            <a:endParaRPr lang="pt-BR" sz="11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659590" y="4978000"/>
            <a:ext cx="4547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1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Solução adotada: </a:t>
            </a:r>
            <a:r>
              <a:rPr lang="pt-BR" sz="1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formar grupos de municípios com características semelhantes, ordenar os municípios dentro de cada grupo e distribuir as vagas entre os grupos.</a:t>
            </a:r>
            <a:endParaRPr lang="pt-BR" sz="1100" noProof="0">
              <a:solidFill>
                <a:schemeClr val="bg1"/>
              </a:solidFill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VISÃO GERAL DA METODOLOGIA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Sequência de seis procedimentos, aplicada de forma idêntica a todos os municípios</a:t>
            </a:r>
            <a:endParaRPr lang="pt-BR" sz="1250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2015992"/>
            <a:ext cx="1737360" cy="3289252"/>
          </a:xfrm>
          <a:prstGeom prst="roundRect">
            <a:avLst>
              <a:gd name="adj" fmla="val 315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2" name="Text 9"/>
          <p:cNvSpPr/>
          <p:nvPr/>
        </p:nvSpPr>
        <p:spPr>
          <a:xfrm>
            <a:off x="731520" y="22851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noProof="0">
                <a:solidFill>
                  <a:srgbClr val="F99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pt-BR" sz="2800" noProof="0"/>
          </a:p>
        </p:txBody>
      </p:sp>
      <p:sp>
        <p:nvSpPr>
          <p:cNvPr id="13" name="Text 10"/>
          <p:cNvSpPr/>
          <p:nvPr/>
        </p:nvSpPr>
        <p:spPr>
          <a:xfrm>
            <a:off x="731520" y="2797719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INTEGRAÇÃO DAS BASES</a:t>
            </a:r>
            <a:endParaRPr lang="pt-BR" sz="1100" noProof="0"/>
          </a:p>
        </p:txBody>
      </p:sp>
      <p:sp>
        <p:nvSpPr>
          <p:cNvPr id="14" name="Text 11"/>
          <p:cNvSpPr/>
          <p:nvPr/>
        </p:nvSpPr>
        <p:spPr>
          <a:xfrm>
            <a:off x="685800" y="3591177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pt-BR" sz="11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Reunião de </a:t>
            </a:r>
            <a:r>
              <a:rPr lang="pt-BR" sz="1150" b="1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6 indicadores públicos </a:t>
            </a:r>
            <a:r>
              <a:rPr lang="pt-BR" sz="11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oficiais, produzidos por 4 instituições, para todos os municípios.</a:t>
            </a:r>
            <a:endParaRPr lang="pt-BR" sz="1150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414016" y="2015992"/>
            <a:ext cx="1737360" cy="3289252"/>
          </a:xfrm>
          <a:prstGeom prst="roundRect">
            <a:avLst>
              <a:gd name="adj" fmla="val 315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7" name="Text 14"/>
          <p:cNvSpPr/>
          <p:nvPr/>
        </p:nvSpPr>
        <p:spPr>
          <a:xfrm>
            <a:off x="2596896" y="22851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noProof="0">
                <a:solidFill>
                  <a:srgbClr val="F99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pt-BR" sz="2800" noProof="0"/>
          </a:p>
        </p:txBody>
      </p:sp>
      <p:sp>
        <p:nvSpPr>
          <p:cNvPr id="18" name="Text 15"/>
          <p:cNvSpPr/>
          <p:nvPr/>
        </p:nvSpPr>
        <p:spPr>
          <a:xfrm>
            <a:off x="2596896" y="2797719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PADRONIZAÇÃO DOS INDICADORES</a:t>
            </a:r>
            <a:endParaRPr lang="pt-BR" sz="1100" noProof="0"/>
          </a:p>
        </p:txBody>
      </p:sp>
      <p:sp>
        <p:nvSpPr>
          <p:cNvPr id="19" name="Text 16"/>
          <p:cNvSpPr/>
          <p:nvPr/>
        </p:nvSpPr>
        <p:spPr>
          <a:xfrm>
            <a:off x="2552885" y="3591177"/>
            <a:ext cx="146133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pt-BR" sz="11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Conversão de todos os indicadores a uma mesma escala estatística, permitindo </a:t>
            </a:r>
            <a:r>
              <a:rPr lang="pt-BR" sz="1150" b="1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comparação</a:t>
            </a:r>
            <a:r>
              <a:rPr lang="pt-BR" sz="11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direta.</a:t>
            </a:r>
            <a:endParaRPr lang="pt-BR" sz="1150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279392" y="2015991"/>
            <a:ext cx="1737360" cy="3289251"/>
          </a:xfrm>
          <a:prstGeom prst="roundRect">
            <a:avLst>
              <a:gd name="adj" fmla="val 315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2" name="Text 19"/>
          <p:cNvSpPr/>
          <p:nvPr/>
        </p:nvSpPr>
        <p:spPr>
          <a:xfrm>
            <a:off x="4462272" y="22851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noProof="0">
                <a:solidFill>
                  <a:srgbClr val="EA32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pt-BR" sz="2800" noProof="0"/>
          </a:p>
        </p:txBody>
      </p:sp>
      <p:sp>
        <p:nvSpPr>
          <p:cNvPr id="23" name="Text 20"/>
          <p:cNvSpPr/>
          <p:nvPr/>
        </p:nvSpPr>
        <p:spPr>
          <a:xfrm>
            <a:off x="4462272" y="2797719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CONSTRUÇÃO DOS EIXOS</a:t>
            </a:r>
            <a:endParaRPr lang="pt-BR" sz="1100" noProof="0"/>
          </a:p>
        </p:txBody>
      </p:sp>
      <p:sp>
        <p:nvSpPr>
          <p:cNvPr id="24" name="Text 21"/>
          <p:cNvSpPr/>
          <p:nvPr/>
        </p:nvSpPr>
        <p:spPr>
          <a:xfrm>
            <a:off x="4440266" y="3616762"/>
            <a:ext cx="149961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pt-BR" sz="1150" noProof="0" dirty="0">
                <a:solidFill>
                  <a:schemeClr val="bg1">
                    <a:lumMod val="85000"/>
                  </a:schemeClr>
                </a:solidFill>
                <a:latin typeface="Montserrat"/>
                <a:ea typeface="Arial" pitchFamily="34" charset="-122"/>
                <a:cs typeface="Arial"/>
              </a:rPr>
              <a:t>Agregação ponderada dos indicadores em três eixos analíticos: </a:t>
            </a:r>
            <a:r>
              <a:rPr lang="pt-BR" sz="1150" b="1">
                <a:solidFill>
                  <a:schemeClr val="bg1">
                    <a:lumMod val="85000"/>
                  </a:schemeClr>
                </a:solidFill>
                <a:latin typeface="Montserrat"/>
                <a:ea typeface="Arial" pitchFamily="34" charset="-122"/>
                <a:cs typeface="Arial"/>
              </a:rPr>
              <a:t>CFI</a:t>
            </a:r>
            <a:r>
              <a:rPr lang="pt-BR" sz="1150" b="1" noProof="0">
                <a:solidFill>
                  <a:schemeClr val="bg1">
                    <a:lumMod val="85000"/>
                  </a:schemeClr>
                </a:solidFill>
                <a:latin typeface="Montserrat"/>
                <a:ea typeface="Arial" pitchFamily="34" charset="-122"/>
                <a:cs typeface="Arial"/>
              </a:rPr>
              <a:t>, </a:t>
            </a:r>
            <a:r>
              <a:rPr lang="pt-BR" sz="1150" b="1" noProof="0" dirty="0">
                <a:solidFill>
                  <a:schemeClr val="bg1">
                    <a:lumMod val="85000"/>
                  </a:schemeClr>
                </a:solidFill>
                <a:latin typeface="Montserrat"/>
                <a:ea typeface="Arial" pitchFamily="34" charset="-122"/>
                <a:cs typeface="Arial"/>
              </a:rPr>
              <a:t>IMD e CSE</a:t>
            </a:r>
            <a:r>
              <a:rPr lang="pt-BR" sz="1150" noProof="0" dirty="0">
                <a:solidFill>
                  <a:schemeClr val="bg1">
                    <a:lumMod val="85000"/>
                  </a:schemeClr>
                </a:solidFill>
                <a:latin typeface="Montserrat"/>
                <a:ea typeface="Arial" pitchFamily="34" charset="-122"/>
                <a:cs typeface="Arial"/>
              </a:rPr>
              <a:t>.</a:t>
            </a:r>
            <a:endParaRPr lang="pt-BR" sz="1150" noProof="0" dirty="0">
              <a:solidFill>
                <a:schemeClr val="bg1">
                  <a:lumMod val="85000"/>
                </a:schemeClr>
              </a:solidFill>
              <a:latin typeface="Montserrat"/>
              <a:cs typeface="Arial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144768" y="2015992"/>
            <a:ext cx="1737360" cy="3289250"/>
          </a:xfrm>
          <a:prstGeom prst="roundRect">
            <a:avLst>
              <a:gd name="adj" fmla="val 315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7" name="Text 24"/>
          <p:cNvSpPr/>
          <p:nvPr/>
        </p:nvSpPr>
        <p:spPr>
          <a:xfrm>
            <a:off x="6327648" y="22851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noProof="0">
                <a:solidFill>
                  <a:srgbClr val="EA32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pt-BR" sz="2800" noProof="0"/>
          </a:p>
        </p:txBody>
      </p:sp>
      <p:sp>
        <p:nvSpPr>
          <p:cNvPr id="28" name="Text 25"/>
          <p:cNvSpPr/>
          <p:nvPr/>
        </p:nvSpPr>
        <p:spPr>
          <a:xfrm>
            <a:off x="6327648" y="2797719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PONDERAÇÃO DOS EIXOS</a:t>
            </a:r>
            <a:endParaRPr lang="pt-BR" sz="1100" noProof="0"/>
          </a:p>
        </p:txBody>
      </p:sp>
      <p:sp>
        <p:nvSpPr>
          <p:cNvPr id="29" name="Text 26"/>
          <p:cNvSpPr/>
          <p:nvPr/>
        </p:nvSpPr>
        <p:spPr>
          <a:xfrm>
            <a:off x="6327648" y="3616762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pt-BR" sz="11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Nova padronização dos eixos e aplicação dos pesos </a:t>
            </a:r>
            <a:r>
              <a:rPr lang="pt-BR" sz="1150" b="1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35%, 40% e 25%</a:t>
            </a:r>
            <a:r>
              <a:rPr lang="pt-BR" sz="11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, via raiz quadrada no agrupamento.</a:t>
            </a:r>
            <a:endParaRPr lang="pt-BR" sz="1150" b="1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8010144" y="2015992"/>
            <a:ext cx="1737360" cy="3289250"/>
          </a:xfrm>
          <a:prstGeom prst="roundRect">
            <a:avLst>
              <a:gd name="adj" fmla="val 315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2" name="Text 29"/>
          <p:cNvSpPr/>
          <p:nvPr/>
        </p:nvSpPr>
        <p:spPr>
          <a:xfrm>
            <a:off x="8193024" y="22851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noProof="0">
                <a:solidFill>
                  <a:srgbClr val="4496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pt-BR" sz="2800" noProof="0"/>
          </a:p>
        </p:txBody>
      </p:sp>
      <p:sp>
        <p:nvSpPr>
          <p:cNvPr id="33" name="Text 30"/>
          <p:cNvSpPr/>
          <p:nvPr/>
        </p:nvSpPr>
        <p:spPr>
          <a:xfrm>
            <a:off x="8193024" y="2797719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AGRUPAMENTO </a:t>
            </a:r>
          </a:p>
          <a:p>
            <a:pPr marL="0" indent="0">
              <a:buNone/>
            </a:pPr>
            <a:r>
              <a:rPr lang="pt-BR" sz="11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K-MEANS</a:t>
            </a:r>
            <a:endParaRPr lang="pt-BR" sz="1100" noProof="0"/>
          </a:p>
        </p:txBody>
      </p:sp>
      <p:sp>
        <p:nvSpPr>
          <p:cNvPr id="34" name="Text 31"/>
          <p:cNvSpPr/>
          <p:nvPr/>
        </p:nvSpPr>
        <p:spPr>
          <a:xfrm>
            <a:off x="8193024" y="3616762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pt-BR" sz="11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Formação de </a:t>
            </a:r>
            <a:r>
              <a:rPr lang="pt-BR" sz="1150" b="1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quatro perfis</a:t>
            </a:r>
            <a:r>
              <a:rPr lang="pt-BR" sz="11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de municípios com características semelhantes nos três eixos.</a:t>
            </a:r>
            <a:endParaRPr lang="pt-BR" sz="1150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9875520" y="2015992"/>
            <a:ext cx="1737360" cy="3289250"/>
          </a:xfrm>
          <a:prstGeom prst="roundRect">
            <a:avLst>
              <a:gd name="adj" fmla="val 315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7" name="Text 34"/>
          <p:cNvSpPr/>
          <p:nvPr/>
        </p:nvSpPr>
        <p:spPr>
          <a:xfrm>
            <a:off x="10058400" y="22851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noProof="0">
                <a:solidFill>
                  <a:srgbClr val="4496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pt-BR" sz="2800" noProof="0"/>
          </a:p>
        </p:txBody>
      </p:sp>
      <p:sp>
        <p:nvSpPr>
          <p:cNvPr id="38" name="Text 35"/>
          <p:cNvSpPr/>
          <p:nvPr/>
        </p:nvSpPr>
        <p:spPr>
          <a:xfrm>
            <a:off x="10058400" y="2797719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ORDENAÇÃO (IAP)</a:t>
            </a:r>
            <a:endParaRPr lang="pt-BR" sz="1100" noProof="0"/>
          </a:p>
        </p:txBody>
      </p:sp>
      <p:sp>
        <p:nvSpPr>
          <p:cNvPr id="39" name="Text 36"/>
          <p:cNvSpPr/>
          <p:nvPr/>
        </p:nvSpPr>
        <p:spPr>
          <a:xfrm>
            <a:off x="10058400" y="3616762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pt-BR" sz="11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Cálculo do </a:t>
            </a:r>
            <a:r>
              <a:rPr lang="pt-BR" sz="1150" b="1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Índice de Alinhamento ao Perfil </a:t>
            </a:r>
            <a:r>
              <a:rPr lang="pt-BR" sz="11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 ordenação dos municípios dentro de cada perfil.</a:t>
            </a:r>
            <a:endParaRPr lang="pt-BR" sz="1150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DADOS: INDICADORES, FONTES E ANO-BASE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Seis indicadores públicos, produzidos por quatro instituições oficiais, replicáveis por terceiros</a:t>
            </a:r>
            <a:endParaRPr lang="pt-BR" sz="1250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570521"/>
              </p:ext>
            </p:extLst>
          </p:nvPr>
        </p:nvGraphicFramePr>
        <p:xfrm>
          <a:off x="548640" y="1543616"/>
          <a:ext cx="11091672" cy="4510732"/>
        </p:xfrm>
        <a:graphic>
          <a:graphicData uri="http://schemas.openxmlformats.org/drawingml/2006/table">
            <a:tbl>
              <a:tblPr/>
              <a:tblGrid>
                <a:gridCol w="2030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2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6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6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2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rgbClr val="F9982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EIXO</a:t>
                      </a:r>
                      <a:endParaRPr lang="pt-BR" sz="1200" noProof="0">
                        <a:solidFill>
                          <a:srgbClr val="F9982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rgbClr val="F9982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pt-BR" sz="1200" noProof="0">
                        <a:solidFill>
                          <a:srgbClr val="F9982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rgbClr val="F9982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O QUE MEDE</a:t>
                      </a:r>
                      <a:endParaRPr lang="pt-BR" sz="1200" noProof="0">
                        <a:solidFill>
                          <a:srgbClr val="F9982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rgbClr val="F9982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FONTE</a:t>
                      </a:r>
                      <a:endParaRPr lang="pt-BR" sz="1200" noProof="0">
                        <a:solidFill>
                          <a:srgbClr val="F9982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rgbClr val="F9982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ANO-BASE</a:t>
                      </a:r>
                      <a:endParaRPr lang="pt-BR" sz="1200" noProof="0">
                        <a:solidFill>
                          <a:srgbClr val="F9982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719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>
                          <a:solidFill>
                            <a:srgbClr val="E6E6E6"/>
                          </a:solidFill>
                          <a:latin typeface="Montserrat"/>
                          <a:ea typeface="Arial" pitchFamily="34" charset="-122"/>
                          <a:cs typeface="Arial"/>
                        </a:rPr>
                        <a:t>CAPACIDADE FISCAL E INSTITUCIONAL</a:t>
                      </a: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E6E6E6"/>
                          </a:solidFill>
                          <a:latin typeface="Montserrat"/>
                          <a:ea typeface="Arial" pitchFamily="34" charset="-122"/>
                          <a:cs typeface="Arial"/>
                        </a:rPr>
                        <a:t>IEG-M i-</a:t>
                      </a:r>
                      <a:r>
                        <a:rPr lang="pt-BR" sz="900" b="1" noProof="0" dirty="0" err="1">
                          <a:solidFill>
                            <a:srgbClr val="E6E6E6"/>
                          </a:solidFill>
                          <a:latin typeface="Montserrat"/>
                          <a:ea typeface="Arial" pitchFamily="34" charset="-122"/>
                          <a:cs typeface="Arial"/>
                        </a:rPr>
                        <a:t>Plan</a:t>
                      </a:r>
                      <a:r>
                        <a:rPr lang="pt-BR" sz="900" b="1" noProof="0" dirty="0">
                          <a:solidFill>
                            <a:srgbClr val="E6E6E6"/>
                          </a:solidFill>
                          <a:latin typeface="Montserrat"/>
                          <a:ea typeface="Arial" pitchFamily="34" charset="-122"/>
                          <a:cs typeface="Arial"/>
                        </a:rPr>
                        <a:t>*</a:t>
                      </a:r>
                      <a:endParaRPr lang="pt-BR" sz="900" b="1" noProof="0" dirty="0">
                        <a:latin typeface="Montserrat"/>
                        <a:ea typeface="Arial" charset="0"/>
                        <a:cs typeface="Arial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2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Consistência entre o planejamento governamental e sua execução: coerência entre metas e recursos, alteração do planejamento inicial e pontualidade na entrega das peças de planejamento.</a:t>
                      </a:r>
                      <a:endParaRPr lang="pt-BR" sz="92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2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TCE-SP</a:t>
                      </a:r>
                      <a:endParaRPr lang="pt-BR" sz="92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2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pt-BR" sz="92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38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20" b="1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IEG-M i-Fiscal*</a:t>
                      </a:r>
                      <a:endParaRPr lang="pt-BR" sz="920" b="1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2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Desempenho da gestão fiscal: execução orçamentária e financeira, despesa de pessoal, restos a pagar, dívida, liquidez e cumprimento da Lei de Responsabilidade Fiscal.</a:t>
                      </a:r>
                      <a:endParaRPr lang="pt-BR" sz="92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2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TCE-SP</a:t>
                      </a:r>
                      <a:endParaRPr lang="pt-BR" sz="92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2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pt-BR" sz="92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719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INFRAESTRUTURA E MATURIDADE DIGITAL</a:t>
                      </a: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20" b="1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Índice Brasileiro de Conectividade (IBC)</a:t>
                      </a:r>
                      <a:endParaRPr lang="pt-BR" sz="920" b="1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E6E6E6"/>
                          </a:solidFill>
                          <a:latin typeface="Montserrat"/>
                          <a:ea typeface="Arial" pitchFamily="34" charset="-122"/>
                          <a:cs typeface="Arial"/>
                        </a:rPr>
                        <a:t>Estágio de conectividade do município: densidade e cobertura de banda larga fixa e móvel, adensamento de estações, </a:t>
                      </a:r>
                      <a:r>
                        <a:rPr lang="pt-BR" sz="900" noProof="0" dirty="0" err="1">
                          <a:solidFill>
                            <a:srgbClr val="E6E6E6"/>
                          </a:solidFill>
                          <a:latin typeface="Montserrat"/>
                          <a:ea typeface="Arial" pitchFamily="34" charset="-122"/>
                          <a:cs typeface="Arial"/>
                        </a:rPr>
                        <a:t>backhaul</a:t>
                      </a:r>
                      <a:r>
                        <a:rPr lang="pt-BR" sz="900" noProof="0" dirty="0">
                          <a:solidFill>
                            <a:srgbClr val="E6E6E6"/>
                          </a:solidFill>
                          <a:latin typeface="Montserrat"/>
                          <a:ea typeface="Arial" pitchFamily="34" charset="-122"/>
                          <a:cs typeface="Arial"/>
                        </a:rPr>
                        <a:t> de fibra e competitividade do mercado local.</a:t>
                      </a:r>
                      <a:endParaRPr lang="pt-BR" sz="900" noProof="0" dirty="0">
                        <a:latin typeface="Montserrat"/>
                        <a:ea typeface="Arial" charset="0"/>
                        <a:cs typeface="Arial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2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Anatel</a:t>
                      </a:r>
                      <a:endParaRPr lang="pt-BR" sz="92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2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pt-BR" sz="92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71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E6E6E6"/>
                          </a:solidFill>
                          <a:latin typeface="Montserrat"/>
                          <a:ea typeface="Arial" pitchFamily="34" charset="-122"/>
                          <a:cs typeface="Arial"/>
                        </a:rPr>
                        <a:t>IEG-M i-</a:t>
                      </a:r>
                      <a:r>
                        <a:rPr lang="pt-BR" sz="900" b="1" noProof="0" dirty="0" err="1">
                          <a:solidFill>
                            <a:srgbClr val="E6E6E6"/>
                          </a:solidFill>
                          <a:latin typeface="Montserrat"/>
                          <a:ea typeface="Arial" pitchFamily="34" charset="-122"/>
                          <a:cs typeface="Arial"/>
                        </a:rPr>
                        <a:t>Gov</a:t>
                      </a:r>
                      <a:r>
                        <a:rPr lang="pt-BR" sz="900" b="1" noProof="0" dirty="0">
                          <a:solidFill>
                            <a:srgbClr val="E6E6E6"/>
                          </a:solidFill>
                          <a:latin typeface="Montserrat"/>
                          <a:ea typeface="Arial" pitchFamily="34" charset="-122"/>
                          <a:cs typeface="Arial"/>
                        </a:rPr>
                        <a:t> TI*</a:t>
                      </a:r>
                      <a:endParaRPr lang="pt-BR" sz="900" b="1" noProof="0" dirty="0">
                        <a:latin typeface="Montserrat"/>
                        <a:ea typeface="Arial" charset="0"/>
                        <a:cs typeface="Arial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2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Grau de utilização de tecnologia da informação pela administração municipal: governança digital, capacitação de pessoal, transparência e segurança da informação.</a:t>
                      </a:r>
                      <a:endParaRPr lang="pt-BR" sz="92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2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TCE-SP</a:t>
                      </a:r>
                      <a:endParaRPr lang="pt-BR" sz="92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2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pt-BR" sz="92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0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20" b="1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Índice de Maturidade em Cidades Inteligentes (IMCI)</a:t>
                      </a:r>
                      <a:endParaRPr lang="pt-BR" sz="920" b="1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2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Maturidade do município para o desenvolvimento de cidades inteligentes nas dimensões econômica, ambiental, sociocultural e de capacidades institucionais.</a:t>
                      </a:r>
                      <a:endParaRPr lang="pt-BR" sz="92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noProof="0" dirty="0">
                          <a:solidFill>
                            <a:srgbClr val="E6E6E6"/>
                          </a:solidFill>
                          <a:latin typeface="Montserrat"/>
                          <a:ea typeface="Arial" pitchFamily="34" charset="-122"/>
                          <a:cs typeface="Arial"/>
                        </a:rPr>
                        <a:t>MCTI – </a:t>
                      </a:r>
                      <a:r>
                        <a:rPr lang="pt-BR" sz="900" noProof="0" dirty="0" err="1">
                          <a:solidFill>
                            <a:srgbClr val="E6E6E6"/>
                          </a:solidFill>
                          <a:latin typeface="Montserrat"/>
                          <a:ea typeface="Arial" pitchFamily="34" charset="-122"/>
                          <a:cs typeface="Arial"/>
                        </a:rPr>
                        <a:t>Inteli.gente</a:t>
                      </a:r>
                      <a:endParaRPr lang="pt-BR" sz="900" noProof="0" dirty="0">
                        <a:latin typeface="Montserrat"/>
                        <a:ea typeface="Arial" charset="0"/>
                        <a:cs typeface="Arial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2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pt-BR" sz="92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9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CONDIÇÃO SOCIOECONÔMICA</a:t>
                      </a:r>
                      <a:endParaRPr lang="pt-BR" sz="1000" b="1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20" b="1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Índice Firjan de Desenvolvimento Municipal (IFDM)**</a:t>
                      </a:r>
                      <a:endParaRPr lang="pt-BR" sz="920" b="1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2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Desenvolvimento socioeconômico municipal em três áreas: emprego e renda, saúde e educação. Escala de 0 a 1.</a:t>
                      </a:r>
                      <a:endParaRPr lang="pt-BR" sz="92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2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Firjan</a:t>
                      </a:r>
                      <a:endParaRPr lang="pt-BR" sz="92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2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pt-BR" sz="92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5">
            <a:extLst>
              <a:ext uri="{FF2B5EF4-FFF2-40B4-BE49-F238E27FC236}">
                <a16:creationId xmlns:a16="http://schemas.microsoft.com/office/drawing/2014/main" id="{5C9151BB-9A95-DD90-5ABA-151BE15A9846}"/>
              </a:ext>
            </a:extLst>
          </p:cNvPr>
          <p:cNvSpPr/>
          <p:nvPr/>
        </p:nvSpPr>
        <p:spPr>
          <a:xfrm>
            <a:off x="548640" y="616305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*Os índices consideram dados referente a 644 municípios do Estado, com exceção do município de São Paulo</a:t>
            </a:r>
            <a:endParaRPr lang="pt-BR" sz="1000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F4AD0D73-B1B9-2BA8-936E-31D0F4BE139A}"/>
              </a:ext>
            </a:extLst>
          </p:cNvPr>
          <p:cNvSpPr/>
          <p:nvPr/>
        </p:nvSpPr>
        <p:spPr>
          <a:xfrm>
            <a:off x="548640" y="63899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**Metodologia similar à do IDHM, com atualização de dados mais recente - 2023</a:t>
            </a:r>
            <a:endParaRPr lang="pt-BR" sz="1000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500" b="1" noProof="0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EIXO I — CAPACIDADE </a:t>
            </a:r>
            <a:r>
              <a:rPr lang="pt-BR" sz="2500" b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FISCAL E INSTITUCIONAL</a:t>
            </a:r>
            <a:r>
              <a:rPr lang="pt-BR" sz="2500" b="1" noProof="0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 </a:t>
            </a:r>
            <a:endParaRPr lang="pt-BR" sz="2500" noProof="0">
              <a:latin typeface="Montserrat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39" y="1005840"/>
            <a:ext cx="109503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>
                <a:solidFill>
                  <a:schemeClr val="bg1">
                    <a:lumMod val="85000"/>
                  </a:schemeClr>
                </a:solidFill>
                <a:latin typeface="Montserrat"/>
                <a:ea typeface="Arial" pitchFamily="34" charset="-122"/>
                <a:cs typeface="Arial"/>
              </a:rPr>
              <a:t>CFI</a:t>
            </a:r>
            <a:r>
              <a:rPr lang="pt-BR" sz="1250" b="1" noProof="0">
                <a:solidFill>
                  <a:schemeClr val="bg1">
                    <a:lumMod val="85000"/>
                  </a:schemeClr>
                </a:solidFill>
                <a:latin typeface="Montserrat"/>
                <a:ea typeface="Arial" pitchFamily="34" charset="-122"/>
                <a:cs typeface="Arial"/>
              </a:rPr>
              <a:t> </a:t>
            </a:r>
            <a:r>
              <a:rPr lang="pt-BR" sz="1250" noProof="0" dirty="0">
                <a:solidFill>
                  <a:schemeClr val="bg1">
                    <a:lumMod val="85000"/>
                  </a:schemeClr>
                </a:solidFill>
                <a:latin typeface="Montserrat"/>
                <a:ea typeface="Arial" pitchFamily="34" charset="-122"/>
                <a:cs typeface="Arial"/>
              </a:rPr>
              <a:t>· peso de </a:t>
            </a:r>
            <a:r>
              <a:rPr lang="pt-BR" sz="1250" b="1" noProof="0" dirty="0">
                <a:solidFill>
                  <a:schemeClr val="bg1">
                    <a:lumMod val="85000"/>
                  </a:schemeClr>
                </a:solidFill>
                <a:latin typeface="Montserrat"/>
                <a:ea typeface="Arial" pitchFamily="34" charset="-122"/>
                <a:cs typeface="Arial"/>
              </a:rPr>
              <a:t>35%</a:t>
            </a:r>
            <a:r>
              <a:rPr lang="pt-BR" sz="1250" noProof="0" dirty="0">
                <a:solidFill>
                  <a:schemeClr val="bg1">
                    <a:lumMod val="85000"/>
                  </a:schemeClr>
                </a:solidFill>
                <a:latin typeface="Montserrat"/>
                <a:ea typeface="Arial" pitchFamily="34" charset="-122"/>
                <a:cs typeface="Arial"/>
              </a:rPr>
              <a:t> na composição dos perfis · fonte única: Índice de Efetividade da Gestão Municipal (IEG-M), TCE-SP, ano-base 2024</a:t>
            </a:r>
            <a:endParaRPr lang="pt-BR" sz="1250" noProof="0" dirty="0">
              <a:solidFill>
                <a:schemeClr val="bg1">
                  <a:lumMod val="85000"/>
                </a:schemeClr>
              </a:solidFill>
              <a:latin typeface="Montserrat"/>
              <a:cs typeface="Arial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1648510"/>
            <a:ext cx="11091672" cy="978408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2" name="Text 9"/>
          <p:cNvSpPr/>
          <p:nvPr/>
        </p:nvSpPr>
        <p:spPr>
          <a:xfrm>
            <a:off x="832104" y="176738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O EIXO MEDE</a:t>
            </a:r>
            <a:endParaRPr lang="pt-BR" sz="1200" noProof="0"/>
          </a:p>
        </p:txBody>
      </p:sp>
      <p:sp>
        <p:nvSpPr>
          <p:cNvPr id="13" name="Text 10"/>
          <p:cNvSpPr/>
          <p:nvPr/>
        </p:nvSpPr>
        <p:spPr>
          <a:xfrm>
            <a:off x="822960" y="2088458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 </a:t>
            </a:r>
            <a:r>
              <a:rPr lang="pt-BR" sz="11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capacidade administrativa </a:t>
            </a: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do município para </a:t>
            </a:r>
            <a:r>
              <a:rPr lang="pt-BR" sz="11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planejar, executar </a:t>
            </a: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 que planejou e manter o </a:t>
            </a:r>
            <a:r>
              <a:rPr lang="pt-BR" sz="11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equilíbrio das contas públicas</a:t>
            </a: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 É a dimensão que indica se o município tem condições institucionais de conduzir um projeto do diagnóstico à contratação e à execução.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48640" y="2788920"/>
            <a:ext cx="5440680" cy="3456604"/>
          </a:xfrm>
          <a:prstGeom prst="roundRect">
            <a:avLst>
              <a:gd name="adj" fmla="val 166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5" name="Text 12"/>
          <p:cNvSpPr/>
          <p:nvPr/>
        </p:nvSpPr>
        <p:spPr>
          <a:xfrm>
            <a:off x="822960" y="2971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>
                <a:solidFill>
                  <a:srgbClr val="F99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IEG-M i-PLAN</a:t>
            </a:r>
            <a:endParaRPr lang="pt-BR" sz="1300" noProof="0">
              <a:solidFill>
                <a:srgbClr val="F99828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26280" y="2971800"/>
            <a:ext cx="1207008" cy="292608"/>
          </a:xfrm>
          <a:prstGeom prst="roundRect">
            <a:avLst>
              <a:gd name="adj" fmla="val 18750"/>
            </a:avLst>
          </a:prstGeom>
          <a:solidFill>
            <a:srgbClr val="2A2A2A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526280" y="297180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50% do eixo</a:t>
            </a:r>
            <a:endParaRPr lang="pt-BR" sz="900" noProof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22960" y="3477310"/>
            <a:ext cx="4892040" cy="59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Mede a consistência entre o que foi planejado e o que foi efetivamente implementado, e a coerência entre metas e recursos empregados.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22960" y="4011284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COMPONENTES AVALIADOS PELO INDICADOR</a:t>
            </a:r>
            <a:endParaRPr lang="pt-BR" sz="1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22960" y="4466756"/>
            <a:ext cx="4637561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Coerência entre os resultados dos indicadores dos programas e as metas das ações</a:t>
            </a:r>
            <a:endParaRPr lang="pt-BR" sz="100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Confronto entre o resultado físico das metas e os recursos financeiros utilizados</a:t>
            </a:r>
            <a:endParaRPr lang="pt-BR" sz="100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Percentual de alteração do planejamento inicial</a:t>
            </a:r>
            <a:endParaRPr lang="pt-BR" sz="100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Pontualidade na entrega das peças de planejamento (PPA, LDO e LOA)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199632" y="2788920"/>
            <a:ext cx="5440680" cy="3456605"/>
          </a:xfrm>
          <a:prstGeom prst="roundRect">
            <a:avLst>
              <a:gd name="adj" fmla="val 166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2" name="Text 19"/>
          <p:cNvSpPr/>
          <p:nvPr/>
        </p:nvSpPr>
        <p:spPr>
          <a:xfrm>
            <a:off x="6473952" y="2971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>
                <a:solidFill>
                  <a:srgbClr val="F99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IEG-M i-FISCAL</a:t>
            </a:r>
            <a:endParaRPr lang="pt-BR" sz="1300" noProof="0">
              <a:solidFill>
                <a:srgbClr val="F99828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0177272" y="2971800"/>
            <a:ext cx="1207008" cy="292608"/>
          </a:xfrm>
          <a:prstGeom prst="roundRect">
            <a:avLst>
              <a:gd name="adj" fmla="val 18750"/>
            </a:avLst>
          </a:prstGeom>
          <a:solidFill>
            <a:srgbClr val="2A2A2A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4" name="Text 21"/>
          <p:cNvSpPr/>
          <p:nvPr/>
        </p:nvSpPr>
        <p:spPr>
          <a:xfrm>
            <a:off x="10177272" y="297180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50% do eixo</a:t>
            </a:r>
            <a:endParaRPr lang="pt-BR" sz="900" noProof="0">
              <a:latin typeface="Montserrat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492240" y="3477310"/>
            <a:ext cx="4892040" cy="59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Mede o resultado da administração fiscal a partir da execução financeira e orçamentária e do respeito à Lei de Responsabilidade Fiscal.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473952" y="4011284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COMPONENTES AVALIADOS PELO INDICADOR</a:t>
            </a:r>
            <a:endParaRPr lang="pt-BR" sz="1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473952" y="4418562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Execução orçamentária: análise da receita, da despesa e do resultado primário</a:t>
            </a:r>
            <a:endParaRPr lang="pt-BR" sz="100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Despesas com pessoal do Executivo e do Legislativo e limites de endividamento</a:t>
            </a:r>
            <a:endParaRPr lang="pt-BR" sz="100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Restos a pagar: esforço de pagamento e nível de cancelamento</a:t>
            </a:r>
            <a:endParaRPr lang="pt-BR" sz="100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Resultado financeiro, dívida fundada, precatórios e liquidez imediata</a:t>
            </a:r>
            <a:endParaRPr lang="pt-BR" sz="100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Dívida ativa, pontualidade na prestação de contas e alertas do sistema AUDESP</a:t>
            </a:r>
            <a:endParaRPr lang="pt-BR" sz="1000" noProof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8">
            <a:extLst>
              <a:ext uri="{FF2B5EF4-FFF2-40B4-BE49-F238E27FC236}">
                <a16:creationId xmlns:a16="http://schemas.microsoft.com/office/drawing/2014/main" id="{A34494E5-6791-7CD3-4AFD-EC4FF4A3CC14}"/>
              </a:ext>
            </a:extLst>
          </p:cNvPr>
          <p:cNvSpPr/>
          <p:nvPr/>
        </p:nvSpPr>
        <p:spPr>
          <a:xfrm>
            <a:off x="548640" y="1648510"/>
            <a:ext cx="11091672" cy="978408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EIXO II — INFRAESTRUTURA E MATURIDADE DIGITAL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IMD</a:t>
            </a:r>
            <a:r>
              <a:rPr lang="pt-BR" sz="12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· peso de </a:t>
            </a:r>
            <a:r>
              <a:rPr lang="pt-BR" sz="1250" b="1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40%</a:t>
            </a:r>
            <a:r>
              <a:rPr lang="pt-BR" sz="12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na composição dos perfis · três indicadores de fontes independentes</a:t>
            </a:r>
            <a:endParaRPr lang="pt-BR" sz="1250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97082" y="17770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4496CD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O QUE O EIXO MEDE</a:t>
            </a:r>
            <a:endParaRPr lang="pt-BR" sz="1200" noProof="0">
              <a:latin typeface="Montserrat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97081" y="2097084"/>
            <a:ext cx="10719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 nível de preparação do município para </a:t>
            </a:r>
            <a:r>
              <a:rPr lang="pt-BR" sz="11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implantar, operar e expandir soluções de cidades inteligentes</a:t>
            </a: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 Reúne a infraestrutura física de conectividade, a governança da tecnologia da informação na administração e o estágio de maturidade já alcançado em iniciativas de cidade inteligente.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48640" y="2761488"/>
            <a:ext cx="3566160" cy="3712464"/>
          </a:xfrm>
          <a:prstGeom prst="roundRect">
            <a:avLst>
              <a:gd name="adj" fmla="val 157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77240" y="2986462"/>
            <a:ext cx="25439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rgbClr val="4496CD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ÍNDICE BRASILEIRO DE CONECTIVIDADE (IBC)</a:t>
            </a:r>
            <a:endParaRPr lang="pt-BR" sz="1050" noProof="0">
              <a:solidFill>
                <a:srgbClr val="4496CD"/>
              </a:solidFill>
              <a:latin typeface="Montserrat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77240" y="336154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Anatel · 2025</a:t>
            </a:r>
            <a:endParaRPr lang="pt-BR" sz="850" noProof="0"/>
          </a:p>
        </p:txBody>
      </p:sp>
      <p:sp>
        <p:nvSpPr>
          <p:cNvPr id="17" name="Shape 14"/>
          <p:cNvSpPr/>
          <p:nvPr/>
        </p:nvSpPr>
        <p:spPr>
          <a:xfrm>
            <a:off x="3154680" y="2957136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2A2A2A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154680" y="29616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noProof="0">
                <a:solidFill>
                  <a:srgbClr val="4496CD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35%</a:t>
            </a:r>
            <a:endParaRPr lang="pt-BR" sz="900" noProof="0">
              <a:latin typeface="Montserrat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77240" y="3645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Compara o estágio de conectividade dos municípios brasileiros com base nos dados do setor de telecomunicações.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77240" y="4496769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COMPONENTES</a:t>
            </a:r>
            <a:endParaRPr lang="pt-BR" sz="1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71144" y="4795422"/>
            <a:ext cx="3108960" cy="164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Densidade de acessos móveis por habitante </a:t>
            </a:r>
            <a:endParaRPr lang="pt-BR" sz="950" noProof="0">
              <a:latin typeface="Montserrat" pitchFamily="2" charset="0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Densidade de banda larga fixa</a:t>
            </a:r>
            <a:endParaRPr lang="pt-BR" sz="950" noProof="0">
              <a:latin typeface="Montserrat" pitchFamily="2" charset="0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População coberta por sinal 4G ou superior</a:t>
            </a:r>
            <a:endParaRPr lang="pt-BR" sz="950" noProof="0">
              <a:latin typeface="Montserrat" pitchFamily="2" charset="0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Estações rádio base por 10 mil habitantes e </a:t>
            </a:r>
            <a:r>
              <a:rPr lang="pt-BR" sz="950" noProof="0" err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backhaul</a:t>
            </a: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de fibra</a:t>
            </a:r>
            <a:endParaRPr lang="pt-BR" sz="950" noProof="0">
              <a:latin typeface="Montserrat" pitchFamily="2" charset="0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Competitividade dos mercados fixo e móvel e cobertura em áreas agrícolas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315968" y="2761488"/>
            <a:ext cx="3566160" cy="3712464"/>
          </a:xfrm>
          <a:prstGeom prst="roundRect">
            <a:avLst>
              <a:gd name="adj" fmla="val 157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3" name="Text 20"/>
          <p:cNvSpPr/>
          <p:nvPr/>
        </p:nvSpPr>
        <p:spPr>
          <a:xfrm>
            <a:off x="4544568" y="2980251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rgbClr val="4496CD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IEG-M i-GOV TI</a:t>
            </a:r>
            <a:endParaRPr lang="pt-BR" sz="1050" noProof="0">
              <a:solidFill>
                <a:srgbClr val="4496CD"/>
              </a:solidFill>
              <a:latin typeface="Montserrat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544568" y="336154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TCE-SP · 2024</a:t>
            </a:r>
            <a:endParaRPr lang="pt-BR" sz="850" noProof="0"/>
          </a:p>
        </p:txBody>
      </p:sp>
      <p:sp>
        <p:nvSpPr>
          <p:cNvPr id="25" name="Shape 22"/>
          <p:cNvSpPr/>
          <p:nvPr/>
        </p:nvSpPr>
        <p:spPr>
          <a:xfrm>
            <a:off x="6922008" y="2967492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2A2A2A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6" name="Text 23"/>
          <p:cNvSpPr/>
          <p:nvPr/>
        </p:nvSpPr>
        <p:spPr>
          <a:xfrm>
            <a:off x="6922008" y="29616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noProof="0">
                <a:solidFill>
                  <a:srgbClr val="4496CD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25%</a:t>
            </a:r>
            <a:endParaRPr lang="pt-BR" sz="900" noProof="0">
              <a:latin typeface="Montserrat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544568" y="3645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Mede o grau de utilização de recursos tecnológicos pela administração municipal.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544568" y="4496769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COMPONENTES</a:t>
            </a:r>
            <a:endParaRPr lang="pt-BR" sz="1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544568" y="4776608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Governança e planejamento de tecnologia da informação</a:t>
            </a:r>
            <a:endParaRPr lang="pt-BR" sz="950" noProof="0">
              <a:latin typeface="Montserrat" pitchFamily="2" charset="0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Capacitação do pessoal envolvido com TI</a:t>
            </a:r>
            <a:endParaRPr lang="pt-BR" sz="950" noProof="0">
              <a:latin typeface="Montserrat" pitchFamily="2" charset="0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Transparência ativa e disponibilização de informações</a:t>
            </a:r>
            <a:endParaRPr lang="pt-BR" sz="950" noProof="0">
              <a:latin typeface="Montserrat" pitchFamily="2" charset="0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Segurança da informação e proteção de dados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8083296" y="2761488"/>
            <a:ext cx="3566160" cy="3712464"/>
          </a:xfrm>
          <a:prstGeom prst="roundRect">
            <a:avLst>
              <a:gd name="adj" fmla="val 157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1" name="Text 28"/>
          <p:cNvSpPr/>
          <p:nvPr/>
        </p:nvSpPr>
        <p:spPr>
          <a:xfrm>
            <a:off x="8305800" y="2986462"/>
            <a:ext cx="257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rgbClr val="4496CD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ÍNDICE DE MATURIDADE EM CIDADES INTELIGENTES (IMCI)</a:t>
            </a:r>
            <a:endParaRPr lang="pt-BR" sz="1050" noProof="0">
              <a:solidFill>
                <a:srgbClr val="4496CD"/>
              </a:solidFill>
              <a:latin typeface="Montserrat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311896" y="33874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MCTI · 2024</a:t>
            </a:r>
            <a:endParaRPr lang="pt-BR" sz="850" noProof="0"/>
          </a:p>
        </p:txBody>
      </p:sp>
      <p:sp>
        <p:nvSpPr>
          <p:cNvPr id="33" name="Shape 30"/>
          <p:cNvSpPr/>
          <p:nvPr/>
        </p:nvSpPr>
        <p:spPr>
          <a:xfrm>
            <a:off x="10689336" y="2995958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2A2A2A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4" name="Text 31"/>
          <p:cNvSpPr/>
          <p:nvPr/>
        </p:nvSpPr>
        <p:spPr>
          <a:xfrm>
            <a:off x="10689336" y="29961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noProof="0">
                <a:solidFill>
                  <a:srgbClr val="4496CD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40%</a:t>
            </a:r>
            <a:endParaRPr lang="pt-BR" sz="900" noProof="0">
              <a:latin typeface="Montserrat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8311896" y="367139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Sintetiza o nível geral de maturidade do município em cidades inteligentes, pela média das dimensões avaliadas na Plataforma </a:t>
            </a:r>
            <a:r>
              <a:rPr lang="pt-BR" sz="1000" noProof="0" err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Inteli.gente</a:t>
            </a: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8311896" y="4522647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COMPONENTES</a:t>
            </a:r>
            <a:endParaRPr lang="pt-BR" sz="1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8311896" y="4802486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Dimensão econômica</a:t>
            </a:r>
            <a:endParaRPr lang="pt-BR" sz="95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Dimensão ambiental</a:t>
            </a:r>
            <a:endParaRPr lang="pt-BR" sz="95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Dimensão sociocultural</a:t>
            </a:r>
            <a:endParaRPr lang="pt-BR" sz="95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Dimensão de capacidades institucionais</a:t>
            </a:r>
            <a:endParaRPr lang="pt-BR" sz="950" noProof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8">
            <a:extLst>
              <a:ext uri="{FF2B5EF4-FFF2-40B4-BE49-F238E27FC236}">
                <a16:creationId xmlns:a16="http://schemas.microsoft.com/office/drawing/2014/main" id="{85E9BC95-6BD5-9C4C-6C9F-1FC5C2EE1031}"/>
              </a:ext>
            </a:extLst>
          </p:cNvPr>
          <p:cNvSpPr/>
          <p:nvPr/>
        </p:nvSpPr>
        <p:spPr>
          <a:xfrm>
            <a:off x="548640" y="1648510"/>
            <a:ext cx="11091672" cy="978408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EIXO III — CONDIÇÃO SOCIOECONÔMICA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CSE</a:t>
            </a:r>
            <a:r>
              <a:rPr lang="pt-BR" sz="12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· peso de </a:t>
            </a:r>
            <a:r>
              <a:rPr lang="pt-BR" sz="1250" b="1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25%</a:t>
            </a:r>
            <a:r>
              <a:rPr lang="pt-BR" sz="12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na composição dos perfis · indicador único: Índice Firjan de Desenvolvimento Municipal</a:t>
            </a:r>
            <a:endParaRPr lang="pt-BR" sz="1250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22960" y="175979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EA3234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O QUE O EIXO MEDE</a:t>
            </a:r>
            <a:endParaRPr lang="pt-BR" sz="1200" noProof="0">
              <a:latin typeface="Montserrat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22960" y="2079831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 nível de </a:t>
            </a:r>
            <a:r>
              <a:rPr lang="pt-BR" sz="11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desenvolvimento socioeconômico </a:t>
            </a: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do município, que condiciona tanto a demanda por serviços públicos quanto a capacidade de sustentar economicamente a solução contratada após a implantação.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48640" y="2788920"/>
            <a:ext cx="6766560" cy="3557016"/>
          </a:xfrm>
          <a:prstGeom prst="roundRect">
            <a:avLst>
              <a:gd name="adj" fmla="val 166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5" name="Text 12"/>
          <p:cNvSpPr/>
          <p:nvPr/>
        </p:nvSpPr>
        <p:spPr>
          <a:xfrm>
            <a:off x="822960" y="304943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EA32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 FIRJAN DE DESENVOLVIMENTO MUNICIPAL (IFDM)</a:t>
            </a:r>
            <a:endParaRPr lang="pt-BR" sz="1200" noProof="0">
              <a:solidFill>
                <a:srgbClr val="EA3234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822960" y="337051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noProof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Firjan · ano-base 2023 · 100% do eixo</a:t>
            </a:r>
            <a:endParaRPr lang="pt-BR" sz="900" noProof="0"/>
          </a:p>
        </p:txBody>
      </p:sp>
      <p:sp>
        <p:nvSpPr>
          <p:cNvPr id="17" name="Text 14"/>
          <p:cNvSpPr/>
          <p:nvPr/>
        </p:nvSpPr>
        <p:spPr>
          <a:xfrm>
            <a:off x="822960" y="376714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Acompanha, desde 2008, o desenvolvimento socioeconômico de todos os municípios brasileiros a partir de estatísticas públicas oficiais, em três áreas de igual relevância: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22960" y="4413264"/>
            <a:ext cx="1901952" cy="1264458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9" name="Text 16"/>
          <p:cNvSpPr/>
          <p:nvPr/>
        </p:nvSpPr>
        <p:spPr>
          <a:xfrm>
            <a:off x="987552" y="455905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EMPREGO E RENDA</a:t>
            </a:r>
            <a:endParaRPr lang="pt-BR" sz="1000" noProof="0">
              <a:solidFill>
                <a:schemeClr val="bg1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987552" y="492981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Geração de emprego formal, massa salarial e renda média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953512" y="4413264"/>
            <a:ext cx="1901952" cy="1264458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2" name="Text 19"/>
          <p:cNvSpPr/>
          <p:nvPr/>
        </p:nvSpPr>
        <p:spPr>
          <a:xfrm>
            <a:off x="3118104" y="455905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SAÚDE</a:t>
            </a:r>
            <a:endParaRPr lang="pt-BR" sz="1000" noProof="0">
              <a:solidFill>
                <a:schemeClr val="bg1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3118104" y="4929810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Atenção básica, mortalidade infantil e cobertura pré-natal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084064" y="4413264"/>
            <a:ext cx="1901952" cy="1264458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5" name="Text 22"/>
          <p:cNvSpPr/>
          <p:nvPr/>
        </p:nvSpPr>
        <p:spPr>
          <a:xfrm>
            <a:off x="5248656" y="455905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EDUCAÇÃO</a:t>
            </a:r>
            <a:endParaRPr lang="pt-BR" sz="1000" noProof="0">
              <a:solidFill>
                <a:schemeClr val="bg1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5248656" y="4929810"/>
            <a:ext cx="16007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Matrícula, desempenho e infraestrutura do ensino básico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7516368" y="2788920"/>
            <a:ext cx="4123944" cy="3557016"/>
          </a:xfrm>
          <a:prstGeom prst="roundRect">
            <a:avLst>
              <a:gd name="adj" fmla="val 166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9" name="Text 26"/>
          <p:cNvSpPr/>
          <p:nvPr/>
        </p:nvSpPr>
        <p:spPr>
          <a:xfrm>
            <a:off x="7790688" y="304943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 DE LEITURA</a:t>
            </a:r>
            <a:endParaRPr lang="pt-BR" sz="1200" noProof="0"/>
          </a:p>
        </p:txBody>
      </p:sp>
      <p:sp>
        <p:nvSpPr>
          <p:cNvPr id="30" name="Text 27"/>
          <p:cNvSpPr/>
          <p:nvPr/>
        </p:nvSpPr>
        <p:spPr>
          <a:xfrm>
            <a:off x="7790688" y="338776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 índice varia de 0 a 1: quanto mais próximo de 1, maior o desenvolvimento socioeconômico. A Firjan convenciona quatro faixas de referência: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7790688" y="4069076"/>
            <a:ext cx="3566160" cy="438912"/>
          </a:xfrm>
          <a:prstGeom prst="roundRect">
            <a:avLst>
              <a:gd name="adj" fmla="val 12500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2" name="Text 29"/>
          <p:cNvSpPr/>
          <p:nvPr/>
        </p:nvSpPr>
        <p:spPr>
          <a:xfrm>
            <a:off x="7936992" y="406907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0,0 – 0,4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8869680" y="4178804"/>
            <a:ext cx="109728" cy="219456"/>
          </a:xfrm>
          <a:prstGeom prst="rect">
            <a:avLst/>
          </a:prstGeom>
          <a:solidFill>
            <a:srgbClr val="8E2B2B"/>
          </a:solidFill>
          <a:ln w="12700">
            <a:solidFill>
              <a:srgbClr val="8E2B2B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4" name="Text 31"/>
          <p:cNvSpPr/>
          <p:nvPr/>
        </p:nvSpPr>
        <p:spPr>
          <a:xfrm>
            <a:off x="9098280" y="406907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Desenvolvimento crítico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7790688" y="4589248"/>
            <a:ext cx="3566160" cy="438912"/>
          </a:xfrm>
          <a:prstGeom prst="roundRect">
            <a:avLst>
              <a:gd name="adj" fmla="val 12500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6" name="Text 33"/>
          <p:cNvSpPr/>
          <p:nvPr/>
        </p:nvSpPr>
        <p:spPr>
          <a:xfrm>
            <a:off x="7936992" y="458924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0,4 – 0,6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8869680" y="4698976"/>
            <a:ext cx="109728" cy="219456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8" name="Text 35"/>
          <p:cNvSpPr/>
          <p:nvPr/>
        </p:nvSpPr>
        <p:spPr>
          <a:xfrm>
            <a:off x="9098280" y="458924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Desenvolvimento baixo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7790688" y="5109420"/>
            <a:ext cx="3566160" cy="438912"/>
          </a:xfrm>
          <a:prstGeom prst="roundRect">
            <a:avLst>
              <a:gd name="adj" fmla="val 12500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0" name="Text 37"/>
          <p:cNvSpPr/>
          <p:nvPr/>
        </p:nvSpPr>
        <p:spPr>
          <a:xfrm>
            <a:off x="7936992" y="51094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0,6 – 0,8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8869680" y="5219148"/>
            <a:ext cx="109728" cy="219456"/>
          </a:xfrm>
          <a:prstGeom prst="rect">
            <a:avLst/>
          </a:prstGeom>
          <a:solidFill>
            <a:srgbClr val="1F6FA8"/>
          </a:solidFill>
          <a:ln w="12700">
            <a:solidFill>
              <a:srgbClr val="1F6FA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2" name="Text 39"/>
          <p:cNvSpPr/>
          <p:nvPr/>
        </p:nvSpPr>
        <p:spPr>
          <a:xfrm>
            <a:off x="9098280" y="51094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Desenvolvimento moderado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7790688" y="5629592"/>
            <a:ext cx="3566160" cy="438912"/>
          </a:xfrm>
          <a:prstGeom prst="roundRect">
            <a:avLst>
              <a:gd name="adj" fmla="val 12500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4" name="Text 41"/>
          <p:cNvSpPr/>
          <p:nvPr/>
        </p:nvSpPr>
        <p:spPr>
          <a:xfrm>
            <a:off x="7936992" y="562959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0,8 – 1,0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8869680" y="5739320"/>
            <a:ext cx="109728" cy="219456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6" name="Text 43"/>
          <p:cNvSpPr/>
          <p:nvPr/>
        </p:nvSpPr>
        <p:spPr>
          <a:xfrm>
            <a:off x="9098280" y="562959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Desenvolvimento alto</a:t>
            </a:r>
            <a:endParaRPr lang="pt-BR" sz="950" noProof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COMPOSIÇÃO E PESOS DOS EIXOS</a:t>
            </a:r>
            <a:endParaRPr lang="pt-BR" sz="2500" noProof="0"/>
          </a:p>
        </p:txBody>
      </p:sp>
      <p:sp>
        <p:nvSpPr>
          <p:cNvPr id="11" name="Shape 8"/>
          <p:cNvSpPr/>
          <p:nvPr/>
        </p:nvSpPr>
        <p:spPr>
          <a:xfrm>
            <a:off x="548640" y="1410415"/>
            <a:ext cx="5029200" cy="4852361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2" name="Text 9"/>
          <p:cNvSpPr/>
          <p:nvPr/>
        </p:nvSpPr>
        <p:spPr>
          <a:xfrm>
            <a:off x="813816" y="16049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 DE PONDERAÇÃO</a:t>
            </a:r>
            <a:endParaRPr lang="pt-BR" sz="1200" noProof="0"/>
          </a:p>
        </p:txBody>
      </p:sp>
      <p:sp>
        <p:nvSpPr>
          <p:cNvPr id="13" name="Shape 10"/>
          <p:cNvSpPr/>
          <p:nvPr/>
        </p:nvSpPr>
        <p:spPr>
          <a:xfrm>
            <a:off x="822960" y="2019446"/>
            <a:ext cx="4480560" cy="951151"/>
          </a:xfrm>
          <a:prstGeom prst="roundRect">
            <a:avLst>
              <a:gd name="adj" fmla="val 508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4" name="Text 11"/>
          <p:cNvSpPr/>
          <p:nvPr/>
        </p:nvSpPr>
        <p:spPr>
          <a:xfrm>
            <a:off x="1005840" y="2121585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000" b="1" noProof="0">
                <a:solidFill>
                  <a:srgbClr val="F99828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CAPACIDADE </a:t>
            </a:r>
            <a:r>
              <a:rPr lang="pt-BR" sz="1000" b="1">
                <a:solidFill>
                  <a:srgbClr val="F99828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FISCAL E INSTITUCIONAL</a:t>
            </a:r>
            <a:r>
              <a:rPr lang="pt-BR" sz="1000" b="1" noProof="0">
                <a:solidFill>
                  <a:srgbClr val="F99828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 </a:t>
            </a:r>
            <a:endParaRPr lang="pt-BR" sz="1000" b="1" noProof="0">
              <a:solidFill>
                <a:srgbClr val="F99828"/>
              </a:solidFill>
              <a:latin typeface="Montserrat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188127" y="2103297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500" b="1" noProof="0">
                <a:solidFill>
                  <a:srgbClr val="F99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35%</a:t>
            </a:r>
            <a:endParaRPr lang="pt-BR" sz="1500" noProof="0"/>
          </a:p>
        </p:txBody>
      </p:sp>
      <p:sp>
        <p:nvSpPr>
          <p:cNvPr id="16" name="Text 13"/>
          <p:cNvSpPr/>
          <p:nvPr/>
        </p:nvSpPr>
        <p:spPr>
          <a:xfrm>
            <a:off x="1005840" y="247854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i-</a:t>
            </a:r>
            <a:r>
              <a:rPr lang="pt-BR" sz="950" noProof="0" err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Plan</a:t>
            </a: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— 50% do eixo</a:t>
            </a:r>
            <a:endParaRPr lang="pt-BR" sz="95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i-Fiscal — 50% do eixo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22960" y="3098096"/>
            <a:ext cx="4480560" cy="1252728"/>
          </a:xfrm>
          <a:prstGeom prst="roundRect">
            <a:avLst>
              <a:gd name="adj" fmla="val 422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8" name="Text 15"/>
          <p:cNvSpPr/>
          <p:nvPr/>
        </p:nvSpPr>
        <p:spPr>
          <a:xfrm>
            <a:off x="1005840" y="3191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>
                <a:solidFill>
                  <a:srgbClr val="4496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INFRAESTRUTURA E MATURIDADE DIGITAL</a:t>
            </a:r>
            <a:endParaRPr lang="pt-BR" sz="1000" noProof="0"/>
          </a:p>
        </p:txBody>
      </p:sp>
      <p:sp>
        <p:nvSpPr>
          <p:cNvPr id="19" name="Text 16"/>
          <p:cNvSpPr/>
          <p:nvPr/>
        </p:nvSpPr>
        <p:spPr>
          <a:xfrm>
            <a:off x="4188127" y="3173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500" b="1" noProof="0">
                <a:solidFill>
                  <a:srgbClr val="4496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40%</a:t>
            </a:r>
            <a:endParaRPr lang="pt-BR" sz="1500" noProof="0"/>
          </a:p>
        </p:txBody>
      </p:sp>
      <p:sp>
        <p:nvSpPr>
          <p:cNvPr id="20" name="Text 17"/>
          <p:cNvSpPr/>
          <p:nvPr/>
        </p:nvSpPr>
        <p:spPr>
          <a:xfrm>
            <a:off x="1005840" y="357513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IMCI — 40% do eixo</a:t>
            </a:r>
            <a:endParaRPr lang="pt-BR" sz="95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IBC — 35% do eixo</a:t>
            </a:r>
            <a:endParaRPr lang="pt-BR" sz="95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i-</a:t>
            </a:r>
            <a:r>
              <a:rPr lang="pt-BR" sz="950" noProof="0" err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Gov</a:t>
            </a: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TI — 25% do eixo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822960" y="4478322"/>
            <a:ext cx="4480560" cy="875059"/>
          </a:xfrm>
          <a:prstGeom prst="roundRect">
            <a:avLst>
              <a:gd name="adj" fmla="val 6316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2" name="Text 19"/>
          <p:cNvSpPr/>
          <p:nvPr/>
        </p:nvSpPr>
        <p:spPr>
          <a:xfrm>
            <a:off x="1005840" y="4606935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>
                <a:solidFill>
                  <a:srgbClr val="EA32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CONDIÇÃO SOCIOECONÔMICA</a:t>
            </a:r>
            <a:endParaRPr lang="pt-BR" sz="1000" noProof="0"/>
          </a:p>
        </p:txBody>
      </p:sp>
      <p:sp>
        <p:nvSpPr>
          <p:cNvPr id="23" name="Text 20"/>
          <p:cNvSpPr/>
          <p:nvPr/>
        </p:nvSpPr>
        <p:spPr>
          <a:xfrm>
            <a:off x="4188127" y="4661203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500" b="1" noProof="0">
                <a:solidFill>
                  <a:srgbClr val="EA32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25%</a:t>
            </a:r>
            <a:endParaRPr lang="pt-BR" sz="1500" noProof="0"/>
          </a:p>
        </p:txBody>
      </p:sp>
      <p:sp>
        <p:nvSpPr>
          <p:cNvPr id="24" name="Text 21"/>
          <p:cNvSpPr/>
          <p:nvPr/>
        </p:nvSpPr>
        <p:spPr>
          <a:xfrm>
            <a:off x="1005840" y="499711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9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IFDM — 100% do eixo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22960" y="5536262"/>
            <a:ext cx="4480560" cy="568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b="1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Critério de definição dos pesos: </a:t>
            </a:r>
            <a:r>
              <a:rPr lang="pt-BR" sz="100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maior peso ao eixo que mede diretamente a preparação para cidades inteligentes (IMD) e, dentro dele, ao indicador de maturidade temática (IMCI).</a:t>
            </a:r>
            <a:endParaRPr lang="pt-BR" sz="1000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806440" y="1410415"/>
            <a:ext cx="5833872" cy="4852361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7" name="Text 24"/>
          <p:cNvSpPr/>
          <p:nvPr/>
        </p:nvSpPr>
        <p:spPr>
          <a:xfrm>
            <a:off x="6080760" y="1656275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PESO EFETIVO DE CADA INDICADOR NO MODELO</a:t>
            </a:r>
            <a:endParaRPr lang="pt-BR" sz="1200" noProof="0"/>
          </a:p>
        </p:txBody>
      </p:sp>
      <p:graphicFrame>
        <p:nvGraphicFramePr>
          <p:cNvPr id="28" name="Chart 0"/>
          <p:cNvGraphicFramePr/>
          <p:nvPr>
            <p:extLst>
              <p:ext uri="{D42A27DB-BD31-4B8C-83A1-F6EECF244321}">
                <p14:modId xmlns:p14="http://schemas.microsoft.com/office/powerpoint/2010/main" val="1398977176"/>
              </p:ext>
            </p:extLst>
          </p:nvPr>
        </p:nvGraphicFramePr>
        <p:xfrm>
          <a:off x="6096000" y="2144548"/>
          <a:ext cx="5305849" cy="37611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AGRUPAMENTO DOS MUNICÍPIOS POR SIMILARIDADE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Aplicação de algoritmo de aprendizado de máquina não supervisionado (K-</a:t>
            </a:r>
            <a:r>
              <a:rPr lang="pt-BR" sz="1250" noProof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Means</a:t>
            </a:r>
            <a:r>
              <a:rPr lang="pt-BR" sz="12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)</a:t>
            </a:r>
            <a:endParaRPr lang="pt-BR" sz="1250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1645920"/>
            <a:ext cx="5577840" cy="4434840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2" name="Text 9"/>
          <p:cNvSpPr/>
          <p:nvPr/>
        </p:nvSpPr>
        <p:spPr>
          <a:xfrm>
            <a:off x="822960" y="19150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4496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</a:t>
            </a:r>
            <a:endParaRPr lang="pt-BR" sz="1200" noProof="0"/>
          </a:p>
        </p:txBody>
      </p:sp>
      <p:sp>
        <p:nvSpPr>
          <p:cNvPr id="13" name="Text 10"/>
          <p:cNvSpPr/>
          <p:nvPr/>
        </p:nvSpPr>
        <p:spPr>
          <a:xfrm>
            <a:off x="822960" y="2343194"/>
            <a:ext cx="5029200" cy="1222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Clusterização é a técnica que identifica, em um conjunto de dados, grupos de elementos com características semelhantes entre si e distintas dos demais grupos. O algoritmo </a:t>
            </a:r>
            <a:r>
              <a:rPr lang="pt-BR" sz="1050" b="1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K-</a:t>
            </a:r>
            <a:r>
              <a:rPr lang="pt-BR" sz="1050" b="1" noProof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Means</a:t>
            </a:r>
            <a:r>
              <a:rPr lang="pt-BR" sz="10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, utilizado nesta metodologia, é um método não supervisionado: os grupos não são definidos previamente pelo analista, mas emergem da própria estrutura dos dados.</a:t>
            </a:r>
            <a:endParaRPr lang="pt-BR" sz="1050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22960" y="359522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4496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FOI UTILIZADA</a:t>
            </a:r>
            <a:endParaRPr lang="pt-BR" sz="1200" noProof="0"/>
          </a:p>
        </p:txBody>
      </p:sp>
      <p:sp>
        <p:nvSpPr>
          <p:cNvPr id="15" name="Text 12"/>
          <p:cNvSpPr/>
          <p:nvPr/>
        </p:nvSpPr>
        <p:spPr>
          <a:xfrm>
            <a:off x="822960" y="4023360"/>
            <a:ext cx="502375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00" b="1" noProof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Variáveis de entrada: </a:t>
            </a:r>
            <a:r>
              <a:rPr lang="pt-BR" sz="1000" noProof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exclusivamente os três eixos padronizados (CFI, IMD e CSE), multiplicados pela </a:t>
            </a:r>
            <a:r>
              <a:rPr lang="pt-BR" sz="1000" b="1" noProof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raiz quadrada dos pesos</a:t>
            </a:r>
            <a:r>
              <a:rPr lang="pt-BR" sz="1000" noProof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.</a:t>
            </a:r>
            <a:endParaRPr lang="pt-BR" sz="1000" noProof="0">
              <a:latin typeface="Montserrat"/>
              <a:cs typeface="Arial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Número de perfis definido em quatro (</a:t>
            </a:r>
            <a:r>
              <a:rPr lang="pt-BR" sz="10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K = 4</a:t>
            </a: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), compatível com a distribuição observada e com a capacidade operacional do programa.</a:t>
            </a:r>
            <a:endParaRPr lang="pt-BR" sz="1000" noProof="0">
              <a:latin typeface="Montserrat" pitchFamily="2" charset="0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Critério do algoritmo: </a:t>
            </a: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máxima semelhança entre municípios do mesmo perfil e máxima distinção entre perfis.</a:t>
            </a:r>
            <a:endParaRPr lang="pt-BR" sz="1000" noProof="0">
              <a:latin typeface="Montserrat" pitchFamily="2" charset="0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Nenhuma variável de porte, região ou natureza política participa da formação dos grupos.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400800" y="1645920"/>
            <a:ext cx="5239512" cy="4434840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7" name="Text 14"/>
          <p:cNvSpPr/>
          <p:nvPr/>
        </p:nvSpPr>
        <p:spPr>
          <a:xfrm>
            <a:off x="6675120" y="1828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REPRESENTAÇÃO ESQUEMÁTICA</a:t>
            </a:r>
            <a:endParaRPr lang="pt-BR" sz="1200" noProof="0"/>
          </a:p>
        </p:txBody>
      </p:sp>
      <p:sp>
        <p:nvSpPr>
          <p:cNvPr id="18" name="Text 15"/>
          <p:cNvSpPr/>
          <p:nvPr/>
        </p:nvSpPr>
        <p:spPr>
          <a:xfrm>
            <a:off x="6675120" y="217627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9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Cada ponto representa um município posicionado segundo seus três eixos. O algoritmo identifica as concentrações e delimita os perfis.</a:t>
            </a:r>
            <a:endParaRPr lang="pt-BR" sz="950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923562" y="2887950"/>
            <a:ext cx="1828800" cy="1316736"/>
          </a:xfrm>
          <a:prstGeom prst="ellipse">
            <a:avLst/>
          </a:prstGeom>
          <a:solidFill>
            <a:srgbClr val="4496CD">
              <a:alpha val="12000"/>
            </a:srgbClr>
          </a:solidFill>
          <a:ln w="12700">
            <a:solidFill>
              <a:srgbClr val="4496CD"/>
            </a:solidFill>
            <a:prstDash val="dash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0" name="Shape 17"/>
          <p:cNvSpPr/>
          <p:nvPr/>
        </p:nvSpPr>
        <p:spPr>
          <a:xfrm>
            <a:off x="7378272" y="3511999"/>
            <a:ext cx="100584" cy="100584"/>
          </a:xfrm>
          <a:prstGeom prst="ellipse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1" name="Shape 18"/>
          <p:cNvSpPr/>
          <p:nvPr/>
        </p:nvSpPr>
        <p:spPr>
          <a:xfrm>
            <a:off x="7980294" y="3606573"/>
            <a:ext cx="100584" cy="100584"/>
          </a:xfrm>
          <a:prstGeom prst="ellipse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2" name="Shape 19"/>
          <p:cNvSpPr/>
          <p:nvPr/>
        </p:nvSpPr>
        <p:spPr>
          <a:xfrm>
            <a:off x="7427929" y="3582799"/>
            <a:ext cx="100584" cy="100584"/>
          </a:xfrm>
          <a:prstGeom prst="ellipse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3" name="Shape 20"/>
          <p:cNvSpPr/>
          <p:nvPr/>
        </p:nvSpPr>
        <p:spPr>
          <a:xfrm>
            <a:off x="8283839" y="3668756"/>
            <a:ext cx="100584" cy="100584"/>
          </a:xfrm>
          <a:prstGeom prst="ellipse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4" name="Shape 21"/>
          <p:cNvSpPr/>
          <p:nvPr/>
        </p:nvSpPr>
        <p:spPr>
          <a:xfrm>
            <a:off x="7501736" y="3379554"/>
            <a:ext cx="100584" cy="100584"/>
          </a:xfrm>
          <a:prstGeom prst="ellipse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5" name="Shape 22"/>
          <p:cNvSpPr/>
          <p:nvPr/>
        </p:nvSpPr>
        <p:spPr>
          <a:xfrm>
            <a:off x="7676801" y="3822363"/>
            <a:ext cx="100584" cy="100584"/>
          </a:xfrm>
          <a:prstGeom prst="ellipse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6" name="Shape 23"/>
          <p:cNvSpPr/>
          <p:nvPr/>
        </p:nvSpPr>
        <p:spPr>
          <a:xfrm>
            <a:off x="7690545" y="3400429"/>
            <a:ext cx="100584" cy="100584"/>
          </a:xfrm>
          <a:prstGeom prst="ellipse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7" name="Shape 24"/>
          <p:cNvSpPr/>
          <p:nvPr/>
        </p:nvSpPr>
        <p:spPr>
          <a:xfrm>
            <a:off x="7534496" y="3497517"/>
            <a:ext cx="100584" cy="100584"/>
          </a:xfrm>
          <a:prstGeom prst="ellipse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8" name="Shape 25"/>
          <p:cNvSpPr/>
          <p:nvPr/>
        </p:nvSpPr>
        <p:spPr>
          <a:xfrm>
            <a:off x="7685942" y="3372710"/>
            <a:ext cx="100584" cy="100584"/>
          </a:xfrm>
          <a:prstGeom prst="ellipse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9" name="Shape 26"/>
          <p:cNvSpPr/>
          <p:nvPr/>
        </p:nvSpPr>
        <p:spPr>
          <a:xfrm>
            <a:off x="7439624" y="3406206"/>
            <a:ext cx="100584" cy="100584"/>
          </a:xfrm>
          <a:prstGeom prst="ellipse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0" name="Shape 27"/>
          <p:cNvSpPr/>
          <p:nvPr/>
        </p:nvSpPr>
        <p:spPr>
          <a:xfrm>
            <a:off x="7861035" y="3590957"/>
            <a:ext cx="100584" cy="100584"/>
          </a:xfrm>
          <a:prstGeom prst="ellipse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1" name="Shape 28"/>
          <p:cNvSpPr/>
          <p:nvPr/>
        </p:nvSpPr>
        <p:spPr>
          <a:xfrm>
            <a:off x="8351061" y="3349356"/>
            <a:ext cx="100584" cy="100584"/>
          </a:xfrm>
          <a:prstGeom prst="ellipse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2" name="Shape 29"/>
          <p:cNvSpPr/>
          <p:nvPr/>
        </p:nvSpPr>
        <p:spPr>
          <a:xfrm>
            <a:off x="8044536" y="3653615"/>
            <a:ext cx="100584" cy="100584"/>
          </a:xfrm>
          <a:prstGeom prst="ellipse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3" name="Shape 30"/>
          <p:cNvSpPr/>
          <p:nvPr/>
        </p:nvSpPr>
        <p:spPr>
          <a:xfrm>
            <a:off x="8009826" y="3454949"/>
            <a:ext cx="100584" cy="100584"/>
          </a:xfrm>
          <a:prstGeom prst="ellipse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4" name="Shape 31"/>
          <p:cNvSpPr/>
          <p:nvPr/>
        </p:nvSpPr>
        <p:spPr>
          <a:xfrm>
            <a:off x="9231384" y="2916822"/>
            <a:ext cx="1828800" cy="1316736"/>
          </a:xfrm>
          <a:prstGeom prst="ellipse">
            <a:avLst/>
          </a:prstGeom>
          <a:solidFill>
            <a:srgbClr val="EA3234">
              <a:alpha val="12000"/>
            </a:srgbClr>
          </a:solidFill>
          <a:ln w="12700">
            <a:solidFill>
              <a:srgbClr val="EA3234"/>
            </a:solidFill>
            <a:prstDash val="dash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5" name="Shape 32"/>
          <p:cNvSpPr/>
          <p:nvPr/>
        </p:nvSpPr>
        <p:spPr>
          <a:xfrm>
            <a:off x="9719622" y="3616498"/>
            <a:ext cx="100584" cy="100584"/>
          </a:xfrm>
          <a:prstGeom prst="ellipse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6" name="Shape 33"/>
          <p:cNvSpPr/>
          <p:nvPr/>
        </p:nvSpPr>
        <p:spPr>
          <a:xfrm>
            <a:off x="9943921" y="3332065"/>
            <a:ext cx="100584" cy="100584"/>
          </a:xfrm>
          <a:prstGeom prst="ellipse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7" name="Shape 34"/>
          <p:cNvSpPr/>
          <p:nvPr/>
        </p:nvSpPr>
        <p:spPr>
          <a:xfrm>
            <a:off x="10368569" y="3838230"/>
            <a:ext cx="100584" cy="100584"/>
          </a:xfrm>
          <a:prstGeom prst="ellipse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8" name="Shape 35"/>
          <p:cNvSpPr/>
          <p:nvPr/>
        </p:nvSpPr>
        <p:spPr>
          <a:xfrm>
            <a:off x="9836232" y="3543725"/>
            <a:ext cx="100584" cy="100584"/>
          </a:xfrm>
          <a:prstGeom prst="ellipse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9" name="Shape 36"/>
          <p:cNvSpPr/>
          <p:nvPr/>
        </p:nvSpPr>
        <p:spPr>
          <a:xfrm>
            <a:off x="9787532" y="3432737"/>
            <a:ext cx="100584" cy="100584"/>
          </a:xfrm>
          <a:prstGeom prst="ellipse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0" name="Shape 37"/>
          <p:cNvSpPr/>
          <p:nvPr/>
        </p:nvSpPr>
        <p:spPr>
          <a:xfrm>
            <a:off x="10365375" y="3761645"/>
            <a:ext cx="100584" cy="100584"/>
          </a:xfrm>
          <a:prstGeom prst="ellipse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1" name="Shape 38"/>
          <p:cNvSpPr/>
          <p:nvPr/>
        </p:nvSpPr>
        <p:spPr>
          <a:xfrm>
            <a:off x="9889632" y="3649405"/>
            <a:ext cx="100584" cy="100584"/>
          </a:xfrm>
          <a:prstGeom prst="ellipse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2" name="Shape 39"/>
          <p:cNvSpPr/>
          <p:nvPr/>
        </p:nvSpPr>
        <p:spPr>
          <a:xfrm>
            <a:off x="10588047" y="3671116"/>
            <a:ext cx="100584" cy="100584"/>
          </a:xfrm>
          <a:prstGeom prst="ellipse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3" name="Shape 40"/>
          <p:cNvSpPr/>
          <p:nvPr/>
        </p:nvSpPr>
        <p:spPr>
          <a:xfrm>
            <a:off x="10114000" y="3854398"/>
            <a:ext cx="100584" cy="100584"/>
          </a:xfrm>
          <a:prstGeom prst="ellipse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4" name="Shape 41"/>
          <p:cNvSpPr/>
          <p:nvPr/>
        </p:nvSpPr>
        <p:spPr>
          <a:xfrm>
            <a:off x="6694962" y="4488150"/>
            <a:ext cx="1828800" cy="1316736"/>
          </a:xfrm>
          <a:prstGeom prst="ellipse">
            <a:avLst/>
          </a:prstGeom>
          <a:solidFill>
            <a:srgbClr val="F99828">
              <a:alpha val="12000"/>
            </a:srgbClr>
          </a:solidFill>
          <a:ln w="12700">
            <a:solidFill>
              <a:srgbClr val="F99828"/>
            </a:solidFill>
            <a:prstDash val="dash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5" name="Shape 42"/>
          <p:cNvSpPr/>
          <p:nvPr/>
        </p:nvSpPr>
        <p:spPr>
          <a:xfrm>
            <a:off x="7309707" y="5126266"/>
            <a:ext cx="100584" cy="100584"/>
          </a:xfrm>
          <a:prstGeom prst="ellipse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6" name="Shape 43"/>
          <p:cNvSpPr/>
          <p:nvPr/>
        </p:nvSpPr>
        <p:spPr>
          <a:xfrm>
            <a:off x="7292967" y="4966156"/>
            <a:ext cx="100584" cy="100584"/>
          </a:xfrm>
          <a:prstGeom prst="ellipse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7" name="Shape 44"/>
          <p:cNvSpPr/>
          <p:nvPr/>
        </p:nvSpPr>
        <p:spPr>
          <a:xfrm>
            <a:off x="7584445" y="4802602"/>
            <a:ext cx="100584" cy="100584"/>
          </a:xfrm>
          <a:prstGeom prst="ellipse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8" name="Shape 45"/>
          <p:cNvSpPr/>
          <p:nvPr/>
        </p:nvSpPr>
        <p:spPr>
          <a:xfrm>
            <a:off x="7721752" y="5217162"/>
            <a:ext cx="100584" cy="100584"/>
          </a:xfrm>
          <a:prstGeom prst="ellipse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9" name="Shape 46"/>
          <p:cNvSpPr/>
          <p:nvPr/>
        </p:nvSpPr>
        <p:spPr>
          <a:xfrm>
            <a:off x="7384550" y="5132628"/>
            <a:ext cx="100584" cy="100584"/>
          </a:xfrm>
          <a:prstGeom prst="ellipse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0" name="Shape 47"/>
          <p:cNvSpPr/>
          <p:nvPr/>
        </p:nvSpPr>
        <p:spPr>
          <a:xfrm>
            <a:off x="7882577" y="5160841"/>
            <a:ext cx="100584" cy="100584"/>
          </a:xfrm>
          <a:prstGeom prst="ellipse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1" name="Shape 48"/>
          <p:cNvSpPr/>
          <p:nvPr/>
        </p:nvSpPr>
        <p:spPr>
          <a:xfrm>
            <a:off x="7369194" y="4831074"/>
            <a:ext cx="100584" cy="100584"/>
          </a:xfrm>
          <a:prstGeom prst="ellipse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2" name="Shape 49"/>
          <p:cNvSpPr/>
          <p:nvPr/>
        </p:nvSpPr>
        <p:spPr>
          <a:xfrm>
            <a:off x="7843876" y="5042910"/>
            <a:ext cx="100584" cy="100584"/>
          </a:xfrm>
          <a:prstGeom prst="ellipse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3" name="Shape 50"/>
          <p:cNvSpPr/>
          <p:nvPr/>
        </p:nvSpPr>
        <p:spPr>
          <a:xfrm>
            <a:off x="7208402" y="5188940"/>
            <a:ext cx="100584" cy="100584"/>
          </a:xfrm>
          <a:prstGeom prst="ellipse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4" name="Shape 51"/>
          <p:cNvSpPr/>
          <p:nvPr/>
        </p:nvSpPr>
        <p:spPr>
          <a:xfrm>
            <a:off x="7054810" y="5228177"/>
            <a:ext cx="100584" cy="100584"/>
          </a:xfrm>
          <a:prstGeom prst="ellipse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5" name="Shape 52"/>
          <p:cNvSpPr/>
          <p:nvPr/>
        </p:nvSpPr>
        <p:spPr>
          <a:xfrm>
            <a:off x="7224181" y="5165538"/>
            <a:ext cx="100584" cy="100584"/>
          </a:xfrm>
          <a:prstGeom prst="ellipse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6" name="Shape 53"/>
          <p:cNvSpPr/>
          <p:nvPr/>
        </p:nvSpPr>
        <p:spPr>
          <a:xfrm>
            <a:off x="7536663" y="5259916"/>
            <a:ext cx="100584" cy="100584"/>
          </a:xfrm>
          <a:prstGeom prst="ellipse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7" name="Shape 54"/>
          <p:cNvSpPr/>
          <p:nvPr/>
        </p:nvSpPr>
        <p:spPr>
          <a:xfrm>
            <a:off x="9438162" y="4579590"/>
            <a:ext cx="1828800" cy="1316736"/>
          </a:xfrm>
          <a:prstGeom prst="ellipse">
            <a:avLst/>
          </a:prstGeom>
          <a:solidFill>
            <a:srgbClr val="7C8EC9">
              <a:alpha val="12000"/>
            </a:srgbClr>
          </a:solidFill>
          <a:ln w="12700">
            <a:solidFill>
              <a:srgbClr val="7C8EC9"/>
            </a:solidFill>
            <a:prstDash val="dash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8" name="Shape 55"/>
          <p:cNvSpPr/>
          <p:nvPr/>
        </p:nvSpPr>
        <p:spPr>
          <a:xfrm>
            <a:off x="10293364" y="5056164"/>
            <a:ext cx="100584" cy="100584"/>
          </a:xfrm>
          <a:prstGeom prst="ellipse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9" name="Shape 56"/>
          <p:cNvSpPr/>
          <p:nvPr/>
        </p:nvSpPr>
        <p:spPr>
          <a:xfrm>
            <a:off x="10237311" y="5514551"/>
            <a:ext cx="100584" cy="100584"/>
          </a:xfrm>
          <a:prstGeom prst="ellipse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0" name="Shape 57"/>
          <p:cNvSpPr/>
          <p:nvPr/>
        </p:nvSpPr>
        <p:spPr>
          <a:xfrm>
            <a:off x="10684108" y="4882726"/>
            <a:ext cx="100584" cy="100584"/>
          </a:xfrm>
          <a:prstGeom prst="ellipse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1" name="Shape 58"/>
          <p:cNvSpPr/>
          <p:nvPr/>
        </p:nvSpPr>
        <p:spPr>
          <a:xfrm>
            <a:off x="10799245" y="5028502"/>
            <a:ext cx="100584" cy="100584"/>
          </a:xfrm>
          <a:prstGeom prst="ellipse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2" name="Shape 59"/>
          <p:cNvSpPr/>
          <p:nvPr/>
        </p:nvSpPr>
        <p:spPr>
          <a:xfrm>
            <a:off x="10294902" y="4897530"/>
            <a:ext cx="100584" cy="100584"/>
          </a:xfrm>
          <a:prstGeom prst="ellipse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3" name="Shape 60"/>
          <p:cNvSpPr/>
          <p:nvPr/>
        </p:nvSpPr>
        <p:spPr>
          <a:xfrm>
            <a:off x="10159566" y="5154721"/>
            <a:ext cx="100584" cy="100584"/>
          </a:xfrm>
          <a:prstGeom prst="ellipse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4" name="Shape 61"/>
          <p:cNvSpPr/>
          <p:nvPr/>
        </p:nvSpPr>
        <p:spPr>
          <a:xfrm>
            <a:off x="10162934" y="5368423"/>
            <a:ext cx="100584" cy="100584"/>
          </a:xfrm>
          <a:prstGeom prst="ellipse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5" name="Shape 62"/>
          <p:cNvSpPr/>
          <p:nvPr/>
        </p:nvSpPr>
        <p:spPr>
          <a:xfrm>
            <a:off x="10373841" y="5395817"/>
            <a:ext cx="100584" cy="100584"/>
          </a:xfrm>
          <a:prstGeom prst="ellipse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6" name="Shape 63"/>
          <p:cNvSpPr/>
          <p:nvPr/>
        </p:nvSpPr>
        <p:spPr>
          <a:xfrm>
            <a:off x="10108178" y="4892901"/>
            <a:ext cx="100584" cy="100584"/>
          </a:xfrm>
          <a:prstGeom prst="ellipse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7" name="Shape 64"/>
          <p:cNvSpPr/>
          <p:nvPr/>
        </p:nvSpPr>
        <p:spPr>
          <a:xfrm>
            <a:off x="10239276" y="5574275"/>
            <a:ext cx="100584" cy="100584"/>
          </a:xfrm>
          <a:prstGeom prst="ellipse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8" name="Shape 65"/>
          <p:cNvSpPr/>
          <p:nvPr/>
        </p:nvSpPr>
        <p:spPr>
          <a:xfrm>
            <a:off x="10615247" y="5196584"/>
            <a:ext cx="100584" cy="100584"/>
          </a:xfrm>
          <a:prstGeom prst="ellipse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9" name="Shape 66"/>
          <p:cNvSpPr/>
          <p:nvPr/>
        </p:nvSpPr>
        <p:spPr>
          <a:xfrm>
            <a:off x="9999749" y="5070622"/>
            <a:ext cx="100584" cy="100584"/>
          </a:xfrm>
          <a:prstGeom prst="ellipse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70" name="Shape 67"/>
          <p:cNvSpPr/>
          <p:nvPr/>
        </p:nvSpPr>
        <p:spPr>
          <a:xfrm>
            <a:off x="10824611" y="5400461"/>
            <a:ext cx="100584" cy="100584"/>
          </a:xfrm>
          <a:prstGeom prst="ellipse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71" name="Shape 68"/>
          <p:cNvSpPr/>
          <p:nvPr/>
        </p:nvSpPr>
        <p:spPr>
          <a:xfrm>
            <a:off x="9763036" y="5286050"/>
            <a:ext cx="100584" cy="100584"/>
          </a:xfrm>
          <a:prstGeom prst="ellipse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72" name="Shape 69"/>
          <p:cNvSpPr/>
          <p:nvPr/>
        </p:nvSpPr>
        <p:spPr>
          <a:xfrm>
            <a:off x="9990238" y="5063955"/>
            <a:ext cx="100584" cy="100584"/>
          </a:xfrm>
          <a:prstGeom prst="ellipse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 DO AGRUPAMENTO: QUATRO PERFIS</a:t>
            </a:r>
            <a:endParaRPr lang="pt-BR" sz="2500" noProof="0"/>
          </a:p>
        </p:txBody>
      </p:sp>
      <p:sp>
        <p:nvSpPr>
          <p:cNvPr id="11" name="Shape 8"/>
          <p:cNvSpPr/>
          <p:nvPr/>
        </p:nvSpPr>
        <p:spPr>
          <a:xfrm>
            <a:off x="548640" y="1316735"/>
            <a:ext cx="6035040" cy="4894283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2" name="Text 9"/>
          <p:cNvSpPr/>
          <p:nvPr/>
        </p:nvSpPr>
        <p:spPr>
          <a:xfrm>
            <a:off x="822960" y="1539213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MUNICÍPIOS POR PERFIL</a:t>
            </a:r>
            <a:endParaRPr lang="pt-BR" sz="1400" noProof="0"/>
          </a:p>
        </p:txBody>
      </p:sp>
      <p:graphicFrame>
        <p:nvGraphicFramePr>
          <p:cNvPr id="13" name="Chart 0"/>
          <p:cNvGraphicFramePr/>
          <p:nvPr>
            <p:extLst>
              <p:ext uri="{D42A27DB-BD31-4B8C-83A1-F6EECF244321}">
                <p14:modId xmlns:p14="http://schemas.microsoft.com/office/powerpoint/2010/main" val="106129014"/>
              </p:ext>
            </p:extLst>
          </p:nvPr>
        </p:nvGraphicFramePr>
        <p:xfrm>
          <a:off x="731520" y="1955780"/>
          <a:ext cx="5669280" cy="3896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0"/>
          <p:cNvSpPr/>
          <p:nvPr/>
        </p:nvSpPr>
        <p:spPr>
          <a:xfrm>
            <a:off x="6808254" y="3104784"/>
            <a:ext cx="4828032" cy="799186"/>
          </a:xfrm>
          <a:prstGeom prst="roundRect">
            <a:avLst>
              <a:gd name="adj" fmla="val 769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6" name="Text 12"/>
          <p:cNvSpPr/>
          <p:nvPr/>
        </p:nvSpPr>
        <p:spPr>
          <a:xfrm>
            <a:off x="7539774" y="3281657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PERFIL C</a:t>
            </a:r>
            <a:endParaRPr lang="pt-BR" sz="1200" noProof="0"/>
          </a:p>
        </p:txBody>
      </p:sp>
      <p:sp>
        <p:nvSpPr>
          <p:cNvPr id="17" name="Text 13"/>
          <p:cNvSpPr/>
          <p:nvPr/>
        </p:nvSpPr>
        <p:spPr>
          <a:xfrm>
            <a:off x="7539774" y="34877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180</a:t>
            </a:r>
            <a:r>
              <a:rPr lang="pt-BR" sz="105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municípios · </a:t>
            </a:r>
            <a:r>
              <a:rPr lang="pt-BR" sz="1050" b="1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28,0%</a:t>
            </a:r>
            <a:endParaRPr lang="pt-BR" sz="1050" b="1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FD3B7B37-339B-92FC-DCCA-D95C2DF5B15D}"/>
              </a:ext>
            </a:extLst>
          </p:cNvPr>
          <p:cNvGrpSpPr/>
          <p:nvPr/>
        </p:nvGrpSpPr>
        <p:grpSpPr>
          <a:xfrm>
            <a:off x="6812280" y="1317500"/>
            <a:ext cx="4828032" cy="799185"/>
            <a:chOff x="6812280" y="2209228"/>
            <a:chExt cx="4828032" cy="799185"/>
          </a:xfrm>
        </p:grpSpPr>
        <p:sp>
          <p:nvSpPr>
            <p:cNvPr id="18" name="Shape 14"/>
            <p:cNvSpPr/>
            <p:nvPr/>
          </p:nvSpPr>
          <p:spPr>
            <a:xfrm>
              <a:off x="6812280" y="2209228"/>
              <a:ext cx="4828032" cy="799185"/>
            </a:xfrm>
            <a:prstGeom prst="roundRect">
              <a:avLst>
                <a:gd name="adj" fmla="val 7692"/>
              </a:avLst>
            </a:prstGeom>
            <a:solidFill>
              <a:srgbClr val="1E1E1E"/>
            </a:solidFill>
            <a:ln w="12700">
              <a:solidFill>
                <a:srgbClr val="1E1E1E"/>
              </a:solidFill>
              <a:prstDash val="solid"/>
            </a:ln>
          </p:spPr>
          <p:txBody>
            <a:bodyPr/>
            <a:lstStyle/>
            <a:p>
              <a:endParaRPr lang="pt-BR" noProof="0"/>
            </a:p>
          </p:txBody>
        </p:sp>
        <p:sp>
          <p:nvSpPr>
            <p:cNvPr id="19" name="Shape 15"/>
            <p:cNvSpPr/>
            <p:nvPr/>
          </p:nvSpPr>
          <p:spPr>
            <a:xfrm>
              <a:off x="7086600" y="2465400"/>
              <a:ext cx="310896" cy="310896"/>
            </a:xfrm>
            <a:prstGeom prst="rect">
              <a:avLst/>
            </a:prstGeom>
            <a:solidFill>
              <a:srgbClr val="F99828"/>
            </a:solidFill>
            <a:ln w="12700">
              <a:solidFill>
                <a:srgbClr val="F99828"/>
              </a:solidFill>
              <a:prstDash val="solid"/>
            </a:ln>
          </p:spPr>
          <p:txBody>
            <a:bodyPr/>
            <a:lstStyle/>
            <a:p>
              <a:endParaRPr lang="pt-BR" noProof="0"/>
            </a:p>
          </p:txBody>
        </p:sp>
        <p:sp>
          <p:nvSpPr>
            <p:cNvPr id="20" name="Text 16"/>
            <p:cNvSpPr/>
            <p:nvPr/>
          </p:nvSpPr>
          <p:spPr>
            <a:xfrm>
              <a:off x="7543800" y="2371339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200" b="1" noProof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PERFIL A</a:t>
              </a:r>
              <a:endParaRPr lang="pt-BR" sz="1200" noProof="0"/>
            </a:p>
          </p:txBody>
        </p:sp>
        <p:sp>
          <p:nvSpPr>
            <p:cNvPr id="21" name="Text 17"/>
            <p:cNvSpPr/>
            <p:nvPr/>
          </p:nvSpPr>
          <p:spPr>
            <a:xfrm>
              <a:off x="7543800" y="2593758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050" b="1" noProof="0">
                  <a:solidFill>
                    <a:schemeClr val="bg1">
                      <a:lumMod val="95000"/>
                    </a:schemeClr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156</a:t>
              </a:r>
              <a:r>
                <a:rPr lang="pt-BR" sz="1050" noProof="0">
                  <a:solidFill>
                    <a:schemeClr val="bg1">
                      <a:lumMod val="95000"/>
                    </a:schemeClr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 municípios · </a:t>
              </a:r>
              <a:r>
                <a:rPr lang="pt-BR" sz="1050" b="1" noProof="0">
                  <a:solidFill>
                    <a:schemeClr val="bg1">
                      <a:lumMod val="95000"/>
                    </a:schemeClr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24,2%</a:t>
              </a:r>
              <a:endParaRPr lang="pt-BR" sz="1050" b="1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</a:endParaRPr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75FE73D5-A6E5-088E-8FD5-1F634F5DADE8}"/>
              </a:ext>
            </a:extLst>
          </p:cNvPr>
          <p:cNvGrpSpPr/>
          <p:nvPr/>
        </p:nvGrpSpPr>
        <p:grpSpPr>
          <a:xfrm>
            <a:off x="6815328" y="3998168"/>
            <a:ext cx="4828032" cy="799184"/>
            <a:chOff x="6812280" y="3101368"/>
            <a:chExt cx="4828032" cy="799184"/>
          </a:xfrm>
        </p:grpSpPr>
        <p:sp>
          <p:nvSpPr>
            <p:cNvPr id="22" name="Shape 18"/>
            <p:cNvSpPr/>
            <p:nvPr/>
          </p:nvSpPr>
          <p:spPr>
            <a:xfrm>
              <a:off x="6812280" y="3101368"/>
              <a:ext cx="4828032" cy="799184"/>
            </a:xfrm>
            <a:prstGeom prst="roundRect">
              <a:avLst>
                <a:gd name="adj" fmla="val 7692"/>
              </a:avLst>
            </a:prstGeom>
            <a:solidFill>
              <a:srgbClr val="1E1E1E"/>
            </a:solidFill>
            <a:ln w="12700">
              <a:solidFill>
                <a:srgbClr val="1E1E1E"/>
              </a:solidFill>
              <a:prstDash val="solid"/>
            </a:ln>
          </p:spPr>
          <p:txBody>
            <a:bodyPr/>
            <a:lstStyle/>
            <a:p>
              <a:endParaRPr lang="pt-BR" noProof="0"/>
            </a:p>
          </p:txBody>
        </p:sp>
        <p:sp>
          <p:nvSpPr>
            <p:cNvPr id="23" name="Shape 19"/>
            <p:cNvSpPr/>
            <p:nvPr/>
          </p:nvSpPr>
          <p:spPr>
            <a:xfrm>
              <a:off x="7086600" y="3341496"/>
              <a:ext cx="310896" cy="310896"/>
            </a:xfrm>
            <a:prstGeom prst="rect">
              <a:avLst/>
            </a:prstGeom>
            <a:solidFill>
              <a:srgbClr val="EA3234"/>
            </a:solidFill>
            <a:ln w="12700">
              <a:solidFill>
                <a:srgbClr val="EA3234"/>
              </a:solidFill>
              <a:prstDash val="solid"/>
            </a:ln>
          </p:spPr>
          <p:txBody>
            <a:bodyPr/>
            <a:lstStyle/>
            <a:p>
              <a:endParaRPr lang="pt-BR" noProof="0"/>
            </a:p>
          </p:txBody>
        </p:sp>
        <p:sp>
          <p:nvSpPr>
            <p:cNvPr id="24" name="Text 20"/>
            <p:cNvSpPr/>
            <p:nvPr/>
          </p:nvSpPr>
          <p:spPr>
            <a:xfrm>
              <a:off x="7543800" y="3259753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200" b="1" noProof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PERFIL D</a:t>
              </a:r>
              <a:endParaRPr lang="pt-BR" sz="1200" noProof="0"/>
            </a:p>
          </p:txBody>
        </p:sp>
        <p:sp>
          <p:nvSpPr>
            <p:cNvPr id="25" name="Text 21"/>
            <p:cNvSpPr/>
            <p:nvPr/>
          </p:nvSpPr>
          <p:spPr>
            <a:xfrm>
              <a:off x="7543800" y="3475754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050" b="1" noProof="0">
                  <a:solidFill>
                    <a:schemeClr val="bg1">
                      <a:lumMod val="95000"/>
                    </a:schemeClr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72</a:t>
              </a:r>
              <a:r>
                <a:rPr lang="pt-BR" sz="1050" noProof="0">
                  <a:solidFill>
                    <a:schemeClr val="bg1">
                      <a:lumMod val="95000"/>
                    </a:schemeClr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 municípios · </a:t>
              </a:r>
              <a:r>
                <a:rPr lang="pt-BR" sz="1050" b="1" noProof="0">
                  <a:solidFill>
                    <a:schemeClr val="bg1">
                      <a:lumMod val="95000"/>
                    </a:schemeClr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11,2%</a:t>
              </a:r>
              <a:endParaRPr lang="pt-BR" sz="1050" b="1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</a:endParaRPr>
            </a:p>
          </p:txBody>
        </p:sp>
      </p:grpSp>
      <p:sp>
        <p:nvSpPr>
          <p:cNvPr id="26" name="Shape 22"/>
          <p:cNvSpPr/>
          <p:nvPr/>
        </p:nvSpPr>
        <p:spPr>
          <a:xfrm>
            <a:off x="6808254" y="2209174"/>
            <a:ext cx="4828032" cy="803120"/>
          </a:xfrm>
          <a:prstGeom prst="roundRect">
            <a:avLst>
              <a:gd name="adj" fmla="val 769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7" name="Shape 23"/>
          <p:cNvSpPr/>
          <p:nvPr/>
        </p:nvSpPr>
        <p:spPr>
          <a:xfrm>
            <a:off x="7086600" y="3334336"/>
            <a:ext cx="310896" cy="310896"/>
          </a:xfrm>
          <a:prstGeom prst="rect">
            <a:avLst/>
          </a:prstGeom>
          <a:solidFill>
            <a:srgbClr val="4496CD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8" name="Text 24"/>
          <p:cNvSpPr/>
          <p:nvPr/>
        </p:nvSpPr>
        <p:spPr>
          <a:xfrm>
            <a:off x="7539774" y="237154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PERFIL B</a:t>
            </a:r>
            <a:endParaRPr lang="pt-BR" sz="1200" noProof="0"/>
          </a:p>
        </p:txBody>
      </p:sp>
      <p:sp>
        <p:nvSpPr>
          <p:cNvPr id="29" name="Text 25"/>
          <p:cNvSpPr/>
          <p:nvPr/>
        </p:nvSpPr>
        <p:spPr>
          <a:xfrm>
            <a:off x="7539774" y="260542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236 </a:t>
            </a:r>
            <a:r>
              <a:rPr lang="pt-BR" sz="105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 · </a:t>
            </a:r>
            <a:r>
              <a:rPr lang="pt-BR" sz="1050" b="1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36,6%</a:t>
            </a:r>
            <a:endParaRPr lang="pt-BR" sz="1050" b="1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6812280" y="4937970"/>
            <a:ext cx="4828032" cy="1273047"/>
          </a:xfrm>
          <a:prstGeom prst="roundRect">
            <a:avLst>
              <a:gd name="adj" fmla="val 521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1" name="Text 27"/>
          <p:cNvSpPr/>
          <p:nvPr/>
        </p:nvSpPr>
        <p:spPr>
          <a:xfrm>
            <a:off x="7037717" y="5096400"/>
            <a:ext cx="44227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Os perfis não expressam hierarquia de desempenho. São agrupamentos de municípios com padrões semelhantes nos três eixos, utilizados para assegurar que a comparação e a concorrência por vagas ocorram entre municípios equivalentes.</a:t>
            </a:r>
            <a:endParaRPr lang="pt-BR" sz="11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086600" y="2449973"/>
            <a:ext cx="310896" cy="310896"/>
          </a:xfrm>
          <a:prstGeom prst="rect">
            <a:avLst/>
          </a:prstGeom>
          <a:solidFill>
            <a:srgbClr val="263253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22EFE-141C-8DC0-5E1D-212DB8662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25">
            <a:extLst>
              <a:ext uri="{FF2B5EF4-FFF2-40B4-BE49-F238E27FC236}">
                <a16:creationId xmlns:a16="http://schemas.microsoft.com/office/drawing/2014/main" id="{FC53507B-4086-B534-0A5A-2CF22C1D8E05}"/>
              </a:ext>
            </a:extLst>
          </p:cNvPr>
          <p:cNvSpPr/>
          <p:nvPr/>
        </p:nvSpPr>
        <p:spPr>
          <a:xfrm>
            <a:off x="532088" y="1207008"/>
            <a:ext cx="5440680" cy="5138928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E29C3452-418C-6EAD-B68B-93A0176DA429}"/>
              </a:ext>
            </a:extLst>
          </p:cNvPr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A674228-B763-D6F1-E8F2-7D8ECB3C3D57}"/>
              </a:ext>
            </a:extLst>
          </p:cNvPr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B84E5B-57C0-3C47-D277-BE7572F261F3}"/>
              </a:ext>
            </a:extLst>
          </p:cNvPr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0D9053-7FA0-D504-50E7-4B1E99D7603E}"/>
              </a:ext>
            </a:extLst>
          </p:cNvPr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0C9D71B-EEF6-EF2F-6ECE-BE70502FFAD7}"/>
              </a:ext>
            </a:extLst>
          </p:cNvPr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PERFIS IDENTIFICADOS (1 DE 2)</a:t>
            </a:r>
            <a:endParaRPr lang="pt-BR" sz="2500" noProof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5342D01E-A75E-1208-F3AA-D5A3AD3973E8}"/>
              </a:ext>
            </a:extLst>
          </p:cNvPr>
          <p:cNvSpPr/>
          <p:nvPr/>
        </p:nvSpPr>
        <p:spPr>
          <a:xfrm>
            <a:off x="806408" y="1555341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8DB2D43B-8176-D73A-770B-D4855D4FC9EA}"/>
              </a:ext>
            </a:extLst>
          </p:cNvPr>
          <p:cNvSpPr/>
          <p:nvPr/>
        </p:nvSpPr>
        <p:spPr>
          <a:xfrm>
            <a:off x="806408" y="1555341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pt-BR" sz="2400" noProof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2FFA9473-BFA6-185A-AA2A-DB83C8048A1A}"/>
              </a:ext>
            </a:extLst>
          </p:cNvPr>
          <p:cNvSpPr/>
          <p:nvPr/>
        </p:nvSpPr>
        <p:spPr>
          <a:xfrm>
            <a:off x="1492208" y="1546197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>
                <a:solidFill>
                  <a:srgbClr val="9AA0A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PERFIL A</a:t>
            </a:r>
            <a:endParaRPr lang="pt-BR" sz="900" noProof="0">
              <a:latin typeface="Montserrat" pitchFamily="2" charset="0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9C357E27-DD8B-ABDC-7166-72DA3AD06197}"/>
              </a:ext>
            </a:extLst>
          </p:cNvPr>
          <p:cNvSpPr/>
          <p:nvPr/>
        </p:nvSpPr>
        <p:spPr>
          <a:xfrm>
            <a:off x="1492208" y="1783941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CAPACIDADES EM ESTÁGIO INICIAL</a:t>
            </a:r>
            <a:endParaRPr lang="pt-BR" sz="1150" noProof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B9B75BB0-61A0-7EB1-3BE0-3E7F4C61CC1E}"/>
              </a:ext>
            </a:extLst>
          </p:cNvPr>
          <p:cNvSpPr/>
          <p:nvPr/>
        </p:nvSpPr>
        <p:spPr>
          <a:xfrm>
            <a:off x="806408" y="2259429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156</a:t>
            </a:r>
            <a:r>
              <a:rPr lang="pt-BR" sz="1000" noProof="0">
                <a:solidFill>
                  <a:srgbClr val="9AA0A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 </a:t>
            </a:r>
            <a:r>
              <a:rPr lang="pt-BR" sz="12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</a:t>
            </a:r>
            <a:endParaRPr lang="pt-BR" sz="2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B8CC4532-BD22-C681-FC86-F2FD01245985}"/>
              </a:ext>
            </a:extLst>
          </p:cNvPr>
          <p:cNvSpPr/>
          <p:nvPr/>
        </p:nvSpPr>
        <p:spPr>
          <a:xfrm>
            <a:off x="806408" y="2796677"/>
            <a:ext cx="1600200" cy="364900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8E5A2B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6F37AF39-86F9-28E4-89A5-469ABA634E07}"/>
              </a:ext>
            </a:extLst>
          </p:cNvPr>
          <p:cNvSpPr/>
          <p:nvPr/>
        </p:nvSpPr>
        <p:spPr>
          <a:xfrm>
            <a:off x="916136" y="2796677"/>
            <a:ext cx="1463040" cy="36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FFFFFF"/>
                </a:solidFill>
                <a:latin typeface="Montserrat"/>
                <a:ea typeface="Arial" pitchFamily="34" charset="-122"/>
                <a:cs typeface="Arial"/>
              </a:rPr>
              <a:t>CFI</a:t>
            </a:r>
            <a:r>
              <a:rPr lang="pt-BR" sz="950" b="1" noProof="0">
                <a:solidFill>
                  <a:srgbClr val="FFFFFF"/>
                </a:solidFill>
                <a:latin typeface="Montserrat"/>
                <a:ea typeface="Arial" pitchFamily="34" charset="-122"/>
                <a:cs typeface="Arial"/>
              </a:rPr>
              <a:t>  </a:t>
            </a:r>
            <a:r>
              <a:rPr lang="pt-BR" sz="900" noProof="0" dirty="0">
                <a:solidFill>
                  <a:srgbClr val="E0A05A"/>
                </a:solidFill>
                <a:latin typeface="Montserrat"/>
                <a:ea typeface="Arial" pitchFamily="34" charset="-122"/>
                <a:cs typeface="Arial"/>
              </a:rPr>
              <a:t>▼ abaixo</a:t>
            </a:r>
            <a:endParaRPr lang="pt-BR" sz="950" noProof="0" dirty="0">
              <a:latin typeface="Montserrat"/>
              <a:cs typeface="Arial"/>
            </a:endParaRPr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BBD95BFA-B7E7-0F55-736A-B88A0ADB710A}"/>
              </a:ext>
            </a:extLst>
          </p:cNvPr>
          <p:cNvSpPr/>
          <p:nvPr/>
        </p:nvSpPr>
        <p:spPr>
          <a:xfrm>
            <a:off x="2498048" y="2796677"/>
            <a:ext cx="1600200" cy="364900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8E5A2B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51F901FD-D9F4-7BCB-17A0-40BFCF6F64CD}"/>
              </a:ext>
            </a:extLst>
          </p:cNvPr>
          <p:cNvSpPr/>
          <p:nvPr/>
        </p:nvSpPr>
        <p:spPr>
          <a:xfrm>
            <a:off x="2607776" y="2796677"/>
            <a:ext cx="1463040" cy="36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IMD  </a:t>
            </a:r>
            <a:r>
              <a:rPr lang="pt-BR" sz="900" noProof="0">
                <a:solidFill>
                  <a:srgbClr val="E0A05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▼ abaixo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337ABDA2-9434-7984-317C-59E4D359F32C}"/>
              </a:ext>
            </a:extLst>
          </p:cNvPr>
          <p:cNvSpPr/>
          <p:nvPr/>
        </p:nvSpPr>
        <p:spPr>
          <a:xfrm>
            <a:off x="4189688" y="2796677"/>
            <a:ext cx="1600200" cy="364900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8E5A2B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CA8B0D9D-1D5E-2A53-FF49-66BB531E40C4}"/>
              </a:ext>
            </a:extLst>
          </p:cNvPr>
          <p:cNvSpPr/>
          <p:nvPr/>
        </p:nvSpPr>
        <p:spPr>
          <a:xfrm>
            <a:off x="4299416" y="2796677"/>
            <a:ext cx="1463040" cy="36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CSE  </a:t>
            </a:r>
            <a:r>
              <a:rPr lang="pt-BR" sz="900" noProof="0">
                <a:solidFill>
                  <a:srgbClr val="E0A05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▼ abaixo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F6C134A1-FDEA-05AE-85A4-3FAC87EACE5F}"/>
              </a:ext>
            </a:extLst>
          </p:cNvPr>
          <p:cNvSpPr/>
          <p:nvPr/>
        </p:nvSpPr>
        <p:spPr>
          <a:xfrm>
            <a:off x="806408" y="3409847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CARACTERÍSTICAS PREDOMINANTES</a:t>
            </a:r>
            <a:endParaRPr lang="pt-BR" sz="1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F001C14F-0BCF-5438-070A-2BA018675115}"/>
              </a:ext>
            </a:extLst>
          </p:cNvPr>
          <p:cNvSpPr/>
          <p:nvPr/>
        </p:nvSpPr>
        <p:spPr>
          <a:xfrm>
            <a:off x="806408" y="3699347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 com desempenho abaixo da média estadual nos três eixos, concentrando simultaneamente desafios institucionais, digitais e socioeconômicos.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D75DA84A-5694-FE0A-5196-A9815F04A8DB}"/>
              </a:ext>
            </a:extLst>
          </p:cNvPr>
          <p:cNvSpPr/>
          <p:nvPr/>
        </p:nvSpPr>
        <p:spPr>
          <a:xfrm>
            <a:off x="806408" y="4379801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JUSTIFICATIVA TÉCNICA E IMPLICAÇÃO PARA O PROGRAMA</a:t>
            </a:r>
            <a:endParaRPr lang="pt-BR" sz="1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77AF48BE-D5AD-2E48-E205-626F88137E54}"/>
              </a:ext>
            </a:extLst>
          </p:cNvPr>
          <p:cNvSpPr/>
          <p:nvPr/>
        </p:nvSpPr>
        <p:spPr>
          <a:xfrm>
            <a:off x="806408" y="4686553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Grupo com maior necessidade de desenvolvimento de capacidades e menor probabilidade de acesso em processos competitivos abertos. </a:t>
            </a:r>
            <a:endParaRPr lang="pt-BR" sz="1000" noProof="0">
              <a:latin typeface="Montserrat" pitchFamily="2" charset="0"/>
            </a:endParaRPr>
          </a:p>
        </p:txBody>
      </p: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A0E9F3DA-4001-2639-E707-4335CF6569AC}"/>
              </a:ext>
            </a:extLst>
          </p:cNvPr>
          <p:cNvGrpSpPr/>
          <p:nvPr/>
        </p:nvGrpSpPr>
        <p:grpSpPr>
          <a:xfrm>
            <a:off x="2404959" y="2282732"/>
            <a:ext cx="1487194" cy="296737"/>
            <a:chOff x="4206240" y="2362170"/>
            <a:chExt cx="1600200" cy="320040"/>
          </a:xfrm>
        </p:grpSpPr>
        <p:sp>
          <p:nvSpPr>
            <p:cNvPr id="53" name="Shape 18">
              <a:extLst>
                <a:ext uri="{FF2B5EF4-FFF2-40B4-BE49-F238E27FC236}">
                  <a16:creationId xmlns:a16="http://schemas.microsoft.com/office/drawing/2014/main" id="{DE185AED-B892-67A0-C7F1-33D632CC3E38}"/>
                </a:ext>
              </a:extLst>
            </p:cNvPr>
            <p:cNvSpPr/>
            <p:nvPr/>
          </p:nvSpPr>
          <p:spPr>
            <a:xfrm>
              <a:off x="4206240" y="2362170"/>
              <a:ext cx="1600200" cy="320040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pPr algn="ctr"/>
              <a:endParaRPr lang="pt-BR" sz="1200" noProof="0">
                <a:latin typeface="Montserrat" pitchFamily="2" charset="0"/>
              </a:endParaRPr>
            </a:p>
          </p:txBody>
        </p:sp>
        <p:sp>
          <p:nvSpPr>
            <p:cNvPr id="54" name="Text 21">
              <a:extLst>
                <a:ext uri="{FF2B5EF4-FFF2-40B4-BE49-F238E27FC236}">
                  <a16:creationId xmlns:a16="http://schemas.microsoft.com/office/drawing/2014/main" id="{8414CE73-1ED6-F255-FEA4-2183C4AB098D}"/>
                </a:ext>
              </a:extLst>
            </p:cNvPr>
            <p:cNvSpPr/>
            <p:nvPr/>
          </p:nvSpPr>
          <p:spPr>
            <a:xfrm>
              <a:off x="4391621" y="2424472"/>
              <a:ext cx="1229437" cy="2004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pt-BR" sz="1050" b="1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24,2% </a:t>
              </a:r>
              <a:r>
                <a:rPr lang="pt-BR" sz="105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do Estado</a:t>
              </a:r>
              <a:endParaRPr lang="pt-BR" sz="105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  <p:sp>
        <p:nvSpPr>
          <p:cNvPr id="60" name="Shape 18">
            <a:extLst>
              <a:ext uri="{FF2B5EF4-FFF2-40B4-BE49-F238E27FC236}">
                <a16:creationId xmlns:a16="http://schemas.microsoft.com/office/drawing/2014/main" id="{4455CD8B-6004-599E-D545-270E7F8D708C}"/>
              </a:ext>
            </a:extLst>
          </p:cNvPr>
          <p:cNvSpPr/>
          <p:nvPr/>
        </p:nvSpPr>
        <p:spPr>
          <a:xfrm>
            <a:off x="806408" y="5608069"/>
            <a:ext cx="4892041" cy="4735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99828">
                  <a:shade val="30000"/>
                  <a:satMod val="115000"/>
                </a:srgbClr>
              </a:gs>
              <a:gs pos="50000">
                <a:srgbClr val="F99828">
                  <a:shade val="67500"/>
                  <a:satMod val="115000"/>
                </a:srgbClr>
              </a:gs>
              <a:gs pos="100000">
                <a:srgbClr val="F99828">
                  <a:shade val="100000"/>
                  <a:satMod val="115000"/>
                </a:srgb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pt-BR" sz="1200" noProof="0"/>
          </a:p>
        </p:txBody>
      </p:sp>
      <p:sp>
        <p:nvSpPr>
          <p:cNvPr id="62" name="Text 41">
            <a:extLst>
              <a:ext uri="{FF2B5EF4-FFF2-40B4-BE49-F238E27FC236}">
                <a16:creationId xmlns:a16="http://schemas.microsoft.com/office/drawing/2014/main" id="{4C0B369C-793D-BB00-9D0B-71A93B954FD7}"/>
              </a:ext>
            </a:extLst>
          </p:cNvPr>
          <p:cNvSpPr/>
          <p:nvPr/>
        </p:nvSpPr>
        <p:spPr>
          <a:xfrm>
            <a:off x="1035182" y="5711540"/>
            <a:ext cx="4474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 MAIS ALINHADOS AO PERFIL: </a:t>
            </a:r>
          </a:p>
          <a:p>
            <a:pPr marL="0" indent="0">
              <a:buNone/>
            </a:pPr>
            <a:r>
              <a:rPr lang="pt-BR" sz="10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CANANÉIA, CAIUÁ E GUAPIARA</a:t>
            </a:r>
            <a:endParaRPr lang="pt-BR" sz="10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E7ACABF7-9043-4185-12C0-D9BEC160C7FB}"/>
              </a:ext>
            </a:extLst>
          </p:cNvPr>
          <p:cNvSpPr/>
          <p:nvPr/>
        </p:nvSpPr>
        <p:spPr>
          <a:xfrm>
            <a:off x="6259315" y="1207009"/>
            <a:ext cx="5440680" cy="5138928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8" name="Shape 9"/>
          <p:cNvSpPr/>
          <p:nvPr/>
        </p:nvSpPr>
        <p:spPr>
          <a:xfrm>
            <a:off x="6533635" y="1555341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9" name="Text 10"/>
          <p:cNvSpPr/>
          <p:nvPr/>
        </p:nvSpPr>
        <p:spPr>
          <a:xfrm>
            <a:off x="6533635" y="1555341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pt-BR" sz="2400" noProof="0">
              <a:solidFill>
                <a:schemeClr val="bg1"/>
              </a:solidFill>
            </a:endParaRPr>
          </a:p>
        </p:txBody>
      </p:sp>
      <p:sp>
        <p:nvSpPr>
          <p:cNvPr id="10" name="Text 11"/>
          <p:cNvSpPr/>
          <p:nvPr/>
        </p:nvSpPr>
        <p:spPr>
          <a:xfrm>
            <a:off x="7219435" y="1546197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>
                <a:solidFill>
                  <a:srgbClr val="9AA0A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PERFIL B</a:t>
            </a:r>
            <a:endParaRPr lang="pt-BR" sz="900" noProof="0">
              <a:latin typeface="Montserrat" pitchFamily="2" charset="0"/>
            </a:endParaRPr>
          </a:p>
        </p:txBody>
      </p:sp>
      <p:sp>
        <p:nvSpPr>
          <p:cNvPr id="11" name="Text 12"/>
          <p:cNvSpPr/>
          <p:nvPr/>
        </p:nvSpPr>
        <p:spPr>
          <a:xfrm>
            <a:off x="7219435" y="1783941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GESTÃO ESTRUTURADA COM INFRAESTRUTURA A DESENVOLVER</a:t>
            </a:r>
            <a:endParaRPr lang="pt-BR" sz="1150" noProof="0"/>
          </a:p>
        </p:txBody>
      </p:sp>
      <p:sp>
        <p:nvSpPr>
          <p:cNvPr id="27" name="Text 13"/>
          <p:cNvSpPr/>
          <p:nvPr/>
        </p:nvSpPr>
        <p:spPr>
          <a:xfrm>
            <a:off x="6533635" y="2259429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>
                <a:solidFill>
                  <a:srgbClr val="7C8EC9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236</a:t>
            </a:r>
            <a:r>
              <a:rPr lang="pt-BR" sz="1000" noProof="0">
                <a:solidFill>
                  <a:srgbClr val="9AA0A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 </a:t>
            </a:r>
            <a:r>
              <a:rPr lang="pt-BR" sz="12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</a:t>
            </a:r>
            <a:endParaRPr lang="pt-BR" sz="2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8" name="Shape 14"/>
          <p:cNvSpPr/>
          <p:nvPr/>
        </p:nvSpPr>
        <p:spPr>
          <a:xfrm>
            <a:off x="6533635" y="2796677"/>
            <a:ext cx="1600200" cy="364900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3F7D5A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44" name="Text 15"/>
          <p:cNvSpPr/>
          <p:nvPr/>
        </p:nvSpPr>
        <p:spPr>
          <a:xfrm>
            <a:off x="6643363" y="2796677"/>
            <a:ext cx="1463040" cy="36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FFFFFF"/>
                </a:solidFill>
                <a:latin typeface="Montserrat"/>
                <a:ea typeface="Arial" pitchFamily="34" charset="-122"/>
                <a:cs typeface="Arial"/>
              </a:rPr>
              <a:t>CFI</a:t>
            </a:r>
            <a:r>
              <a:rPr lang="pt-BR" sz="950" b="1" noProof="0">
                <a:solidFill>
                  <a:srgbClr val="FFFFFF"/>
                </a:solidFill>
                <a:latin typeface="Montserrat"/>
                <a:ea typeface="Arial" pitchFamily="34" charset="-122"/>
                <a:cs typeface="Arial"/>
              </a:rPr>
              <a:t>  </a:t>
            </a:r>
            <a:r>
              <a:rPr lang="pt-BR" sz="900" noProof="0" dirty="0">
                <a:solidFill>
                  <a:srgbClr val="6FBF8F"/>
                </a:solidFill>
                <a:latin typeface="Montserrat"/>
                <a:ea typeface="Arial" pitchFamily="34" charset="-122"/>
                <a:cs typeface="Arial"/>
              </a:rPr>
              <a:t>▲ acima</a:t>
            </a:r>
            <a:endParaRPr lang="pt-BR" sz="950" noProof="0" dirty="0">
              <a:latin typeface="Montserrat"/>
              <a:cs typeface="Arial"/>
            </a:endParaRPr>
          </a:p>
        </p:txBody>
      </p:sp>
      <p:sp>
        <p:nvSpPr>
          <p:cNvPr id="45" name="Shape 16"/>
          <p:cNvSpPr/>
          <p:nvPr/>
        </p:nvSpPr>
        <p:spPr>
          <a:xfrm>
            <a:off x="8225275" y="2796677"/>
            <a:ext cx="1600200" cy="364900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8E5A2B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8335003" y="2796677"/>
            <a:ext cx="1463040" cy="36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IMD  </a:t>
            </a:r>
            <a:r>
              <a:rPr lang="pt-BR" sz="900" noProof="0">
                <a:solidFill>
                  <a:srgbClr val="E0A05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▼ abaixo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55" name="Shape 18"/>
          <p:cNvSpPr/>
          <p:nvPr/>
        </p:nvSpPr>
        <p:spPr>
          <a:xfrm>
            <a:off x="9916915" y="2796677"/>
            <a:ext cx="1600200" cy="364900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8E5A2B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10026643" y="2796677"/>
            <a:ext cx="1463040" cy="36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CSE  </a:t>
            </a:r>
            <a:r>
              <a:rPr lang="pt-BR" sz="900" noProof="0">
                <a:solidFill>
                  <a:srgbClr val="E0A05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▼ abaixo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59" name="Text 20"/>
          <p:cNvSpPr/>
          <p:nvPr/>
        </p:nvSpPr>
        <p:spPr>
          <a:xfrm>
            <a:off x="6533635" y="3409847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CARACTERÍSTICAS PREDOMINANTES</a:t>
            </a:r>
            <a:endParaRPr lang="pt-BR" sz="1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6533635" y="3699347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8000"/>
              </a:lnSpc>
            </a:pPr>
            <a:r>
              <a:rPr lang="pt-BR" sz="1000" noProof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Municípios com </a:t>
            </a:r>
            <a:r>
              <a:rPr lang="pt-BR" sz="1000" noProof="0" b="1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capacidade fiscal e institucional </a:t>
            </a:r>
            <a:r>
              <a:rPr lang="pt-BR" sz="1000" noProof="0" b="1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acima da média </a:t>
            </a:r>
            <a:r>
              <a:rPr lang="pt-BR" sz="1000" noProof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estadual, porém com infraestrutura digital abaixo da média e condição socioeconômica muito próxima da média. É o agrupamento mais numeroso do Estado.</a:t>
            </a:r>
            <a:endParaRPr lang="pt-BR" sz="1000" noProof="0" dirty="0">
              <a:latin typeface="Montserrat"/>
              <a:cs typeface="Arial"/>
            </a:endParaRPr>
          </a:p>
        </p:txBody>
      </p:sp>
      <p:sp>
        <p:nvSpPr>
          <p:cNvPr id="63" name="Text 22"/>
          <p:cNvSpPr/>
          <p:nvPr/>
        </p:nvSpPr>
        <p:spPr>
          <a:xfrm>
            <a:off x="6533635" y="4379801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JUSTIFICATIVA TÉCNICA E IMPLICAÇÃO PARA O PROGRAMA</a:t>
            </a:r>
            <a:endParaRPr lang="pt-BR" sz="1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64" name="Text 23"/>
          <p:cNvSpPr/>
          <p:nvPr/>
        </p:nvSpPr>
        <p:spPr>
          <a:xfrm>
            <a:off x="6533635" y="4686553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Grupo em que a gestão pública apresenta condições de conduzir o processo, mas a infraestrutura habilitadora é limitante. O apoio prioriza soluções compatíveis com a infraestrutura disponível e a articulação de conectividade.</a:t>
            </a:r>
            <a:endParaRPr lang="pt-BR" sz="1000" noProof="0">
              <a:latin typeface="Montserrat" pitchFamily="2" charset="0"/>
            </a:endParaRPr>
          </a:p>
        </p:txBody>
      </p: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7BA5283D-BD71-1082-EFAA-CBD46EA8304B}"/>
              </a:ext>
            </a:extLst>
          </p:cNvPr>
          <p:cNvGrpSpPr/>
          <p:nvPr/>
        </p:nvGrpSpPr>
        <p:grpSpPr>
          <a:xfrm>
            <a:off x="8170689" y="2275489"/>
            <a:ext cx="1487194" cy="296737"/>
            <a:chOff x="4206240" y="2362170"/>
            <a:chExt cx="1600200" cy="320040"/>
          </a:xfrm>
        </p:grpSpPr>
        <p:sp>
          <p:nvSpPr>
            <p:cNvPr id="66" name="Shape 18">
              <a:extLst>
                <a:ext uri="{FF2B5EF4-FFF2-40B4-BE49-F238E27FC236}">
                  <a16:creationId xmlns:a16="http://schemas.microsoft.com/office/drawing/2014/main" id="{F96721B8-44A1-91FC-13DA-B19A2D3A72B8}"/>
                </a:ext>
              </a:extLst>
            </p:cNvPr>
            <p:cNvSpPr/>
            <p:nvPr/>
          </p:nvSpPr>
          <p:spPr>
            <a:xfrm>
              <a:off x="4206240" y="2362170"/>
              <a:ext cx="1600200" cy="320040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pPr algn="ctr"/>
              <a:endParaRPr lang="pt-BR" sz="1200" noProof="0">
                <a:latin typeface="Montserrat" pitchFamily="2" charset="0"/>
              </a:endParaRPr>
            </a:p>
          </p:txBody>
        </p:sp>
        <p:sp>
          <p:nvSpPr>
            <p:cNvPr id="67" name="Text 21">
              <a:extLst>
                <a:ext uri="{FF2B5EF4-FFF2-40B4-BE49-F238E27FC236}">
                  <a16:creationId xmlns:a16="http://schemas.microsoft.com/office/drawing/2014/main" id="{B2C5EBE8-570E-5B46-FD28-DF40F622BFE9}"/>
                </a:ext>
              </a:extLst>
            </p:cNvPr>
            <p:cNvSpPr/>
            <p:nvPr/>
          </p:nvSpPr>
          <p:spPr>
            <a:xfrm>
              <a:off x="4391621" y="2424472"/>
              <a:ext cx="1229437" cy="2004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pt-BR" sz="1050" b="1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36,6% </a:t>
              </a:r>
              <a:r>
                <a:rPr lang="pt-BR" sz="105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do Estado</a:t>
              </a:r>
              <a:endParaRPr lang="pt-BR" sz="105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  <p:sp>
        <p:nvSpPr>
          <p:cNvPr id="68" name="Shape 18">
            <a:extLst>
              <a:ext uri="{FF2B5EF4-FFF2-40B4-BE49-F238E27FC236}">
                <a16:creationId xmlns:a16="http://schemas.microsoft.com/office/drawing/2014/main" id="{C9705414-A869-0468-895C-3D6CF653E1E9}"/>
              </a:ext>
            </a:extLst>
          </p:cNvPr>
          <p:cNvSpPr/>
          <p:nvPr/>
        </p:nvSpPr>
        <p:spPr>
          <a:xfrm>
            <a:off x="6533634" y="5608069"/>
            <a:ext cx="4892041" cy="473508"/>
          </a:xfrm>
          <a:prstGeom prst="roundRect">
            <a:avLst>
              <a:gd name="adj" fmla="val 50000"/>
            </a:avLst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pPr algn="ctr"/>
            <a:endParaRPr lang="pt-BR" sz="1200" noProof="0"/>
          </a:p>
        </p:txBody>
      </p:sp>
      <p:sp>
        <p:nvSpPr>
          <p:cNvPr id="69" name="Text 24">
            <a:extLst>
              <a:ext uri="{FF2B5EF4-FFF2-40B4-BE49-F238E27FC236}">
                <a16:creationId xmlns:a16="http://schemas.microsoft.com/office/drawing/2014/main" id="{AA75690C-7C70-327F-AC0C-1D13D200015D}"/>
              </a:ext>
            </a:extLst>
          </p:cNvPr>
          <p:cNvSpPr/>
          <p:nvPr/>
        </p:nvSpPr>
        <p:spPr>
          <a:xfrm>
            <a:off x="6751537" y="5707663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 MAIS ALINHADOS AO PERFIL: </a:t>
            </a:r>
          </a:p>
          <a:p>
            <a:pPr marL="0" indent="0">
              <a:buNone/>
            </a:pPr>
            <a:r>
              <a:rPr lang="pt-BR" sz="10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IEPÊ, BOM SUCESSO DE ITARARÉ E BANANAL</a:t>
            </a:r>
            <a:endParaRPr lang="pt-BR" sz="1050" noProof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958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PERFIS IDENTIFICADOS (</a:t>
            </a:r>
            <a:r>
              <a:rPr lang="pt-BR" sz="25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2)</a:t>
            </a:r>
            <a:endParaRPr lang="pt-BR" sz="2500" noProof="0"/>
          </a:p>
        </p:txBody>
      </p:sp>
      <p:sp>
        <p:nvSpPr>
          <p:cNvPr id="11" name="Shape 8"/>
          <p:cNvSpPr/>
          <p:nvPr/>
        </p:nvSpPr>
        <p:spPr>
          <a:xfrm>
            <a:off x="548640" y="1207009"/>
            <a:ext cx="5440680" cy="5138928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2" name="Shape 9"/>
          <p:cNvSpPr/>
          <p:nvPr/>
        </p:nvSpPr>
        <p:spPr>
          <a:xfrm>
            <a:off x="822960" y="152946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4" name="Shape 18">
            <a:extLst>
              <a:ext uri="{FF2B5EF4-FFF2-40B4-BE49-F238E27FC236}">
                <a16:creationId xmlns:a16="http://schemas.microsoft.com/office/drawing/2014/main" id="{422B7A43-E812-C9E9-817F-943BAF899B0B}"/>
              </a:ext>
            </a:extLst>
          </p:cNvPr>
          <p:cNvSpPr/>
          <p:nvPr/>
        </p:nvSpPr>
        <p:spPr>
          <a:xfrm>
            <a:off x="822959" y="5608069"/>
            <a:ext cx="4892041" cy="4735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496CD">
                  <a:shade val="30000"/>
                  <a:satMod val="115000"/>
                </a:srgbClr>
              </a:gs>
              <a:gs pos="50000">
                <a:srgbClr val="4496CD">
                  <a:shade val="67500"/>
                  <a:satMod val="115000"/>
                </a:srgbClr>
              </a:gs>
              <a:gs pos="100000">
                <a:srgbClr val="4496CD">
                  <a:shade val="100000"/>
                  <a:satMod val="115000"/>
                </a:srgb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pt-BR" sz="1200" noProof="0"/>
          </a:p>
        </p:txBody>
      </p:sp>
      <p:sp>
        <p:nvSpPr>
          <p:cNvPr id="13" name="Text 10"/>
          <p:cNvSpPr/>
          <p:nvPr/>
        </p:nvSpPr>
        <p:spPr>
          <a:xfrm>
            <a:off x="822960" y="15294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pt-BR" sz="2400" noProof="0"/>
          </a:p>
        </p:txBody>
      </p:sp>
      <p:sp>
        <p:nvSpPr>
          <p:cNvPr id="14" name="Text 11"/>
          <p:cNvSpPr/>
          <p:nvPr/>
        </p:nvSpPr>
        <p:spPr>
          <a:xfrm>
            <a:off x="1508760" y="15203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PERFIL C</a:t>
            </a:r>
            <a:endParaRPr lang="pt-BR" sz="900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508760" y="17580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MATURIDADE DIGITAL CONSOLIDADA</a:t>
            </a:r>
            <a:endParaRPr lang="pt-BR" sz="1150" noProof="0"/>
          </a:p>
        </p:txBody>
      </p:sp>
      <p:sp>
        <p:nvSpPr>
          <p:cNvPr id="16" name="Text 13"/>
          <p:cNvSpPr/>
          <p:nvPr/>
        </p:nvSpPr>
        <p:spPr>
          <a:xfrm>
            <a:off x="822960" y="224219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>
                <a:solidFill>
                  <a:srgbClr val="4496CD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180</a:t>
            </a:r>
            <a:r>
              <a:rPr lang="pt-BR" sz="1050" noProof="0">
                <a:solidFill>
                  <a:srgbClr val="9AA0A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 </a:t>
            </a:r>
            <a:r>
              <a:rPr lang="pt-BR" sz="120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</a:t>
            </a:r>
            <a:r>
              <a:rPr lang="pt-BR" sz="105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</a:t>
            </a:r>
            <a:endParaRPr lang="pt-BR" sz="2400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22960" y="2782028"/>
            <a:ext cx="1600200" cy="384048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8E5A2B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32688" y="27820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FFFFFF"/>
                </a:solidFill>
                <a:latin typeface="Montserrat"/>
                <a:ea typeface="Arial" pitchFamily="34" charset="-122"/>
                <a:cs typeface="Arial"/>
              </a:rPr>
              <a:t>CFI</a:t>
            </a:r>
            <a:r>
              <a:rPr lang="pt-BR" sz="950" b="1" noProof="0">
                <a:solidFill>
                  <a:srgbClr val="FFFFFF"/>
                </a:solidFill>
                <a:latin typeface="Montserrat"/>
                <a:ea typeface="Arial" pitchFamily="34" charset="-122"/>
                <a:cs typeface="Arial"/>
              </a:rPr>
              <a:t>  </a:t>
            </a:r>
            <a:r>
              <a:rPr lang="pt-BR" sz="900" noProof="0" dirty="0">
                <a:solidFill>
                  <a:srgbClr val="E0A05A"/>
                </a:solidFill>
                <a:latin typeface="Montserrat"/>
                <a:ea typeface="Arial" pitchFamily="34" charset="-122"/>
                <a:cs typeface="Arial"/>
              </a:rPr>
              <a:t>▼ abaixo</a:t>
            </a:r>
            <a:endParaRPr lang="pt-BR" sz="950" noProof="0" dirty="0">
              <a:latin typeface="Montserrat"/>
              <a:cs typeface="Arial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514600" y="2782028"/>
            <a:ext cx="1600200" cy="384048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3F7D5A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624328" y="27820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IMD  </a:t>
            </a:r>
            <a:r>
              <a:rPr lang="pt-BR" sz="900" noProof="0">
                <a:solidFill>
                  <a:srgbClr val="6FBF8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▲ acima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206240" y="2782028"/>
            <a:ext cx="1600200" cy="384048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3F7D5A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315968" y="27820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CSE  </a:t>
            </a:r>
            <a:r>
              <a:rPr lang="pt-BR" sz="900" noProof="0">
                <a:solidFill>
                  <a:srgbClr val="6FBF8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▲ acima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22960" y="338397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CARACTERÍSTICAS PREDOMINANTES</a:t>
            </a:r>
            <a:endParaRPr lang="pt-BR" sz="1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22960" y="362171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8000"/>
              </a:lnSpc>
            </a:pPr>
            <a:r>
              <a:rPr lang="pt-BR" sz="1000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Municípios com infraestrutura de conectividade, governança de TI e maturidade em cidades inteligentes acima da média estadual, acompanhadas de condição socioeconômica também favorável. A </a:t>
            </a:r>
            <a:r>
              <a:rPr lang="pt-BR" sz="1000" noProof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capacidade </a:t>
            </a:r>
            <a:r>
              <a:rPr lang="pt-BR" sz="100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fiscal e institucional situa-se</a:t>
            </a:r>
            <a:r>
              <a:rPr lang="pt-BR" sz="1000" noProof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 ligeiramente abaixo da </a:t>
            </a:r>
            <a:r>
              <a:rPr lang="pt-BR" sz="1000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média do Estado.</a:t>
            </a:r>
            <a:endParaRPr lang="pt-BR" sz="1000" noProof="0" dirty="0">
              <a:latin typeface="Montserrat"/>
              <a:cs typeface="Arial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22960" y="458114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JUSTIFICATIVA TÉCNICA E IMPLICAÇÃO PARA O PROGRAMA</a:t>
            </a:r>
            <a:endParaRPr lang="pt-BR" sz="1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22960" y="491947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Grupo com base tecnológica instalada e demanda por qualificação da gestão. O apoio do programa concentra-se no planejamento, na modelagem contratual e na sustentação fiscal das soluções.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040862" y="5707663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 MAIS ALINHADOS AO PERFIL: </a:t>
            </a:r>
          </a:p>
          <a:p>
            <a:pPr marL="0" indent="0">
              <a:buNone/>
            </a:pPr>
            <a:r>
              <a:rPr lang="pt-BR" sz="10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SOROCABA, SÃO CAETANO DO SUL E ARARAS</a:t>
            </a:r>
            <a:endParaRPr lang="pt-BR" sz="10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199632" y="1207008"/>
            <a:ext cx="5440680" cy="5138928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9" name="Shape 26"/>
          <p:cNvSpPr/>
          <p:nvPr/>
        </p:nvSpPr>
        <p:spPr>
          <a:xfrm>
            <a:off x="6473952" y="152946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0" name="Text 27"/>
          <p:cNvSpPr/>
          <p:nvPr/>
        </p:nvSpPr>
        <p:spPr>
          <a:xfrm>
            <a:off x="6473952" y="15294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pt-BR" sz="2400" noProof="0"/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81EEBD9C-0F25-834C-367A-4E99965E0A3D}"/>
              </a:ext>
            </a:extLst>
          </p:cNvPr>
          <p:cNvSpPr/>
          <p:nvPr/>
        </p:nvSpPr>
        <p:spPr>
          <a:xfrm>
            <a:off x="6473952" y="5608069"/>
            <a:ext cx="4892041" cy="4735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A3234">
                  <a:shade val="30000"/>
                  <a:satMod val="115000"/>
                </a:srgbClr>
              </a:gs>
              <a:gs pos="50000">
                <a:srgbClr val="EA3234">
                  <a:shade val="67500"/>
                  <a:satMod val="115000"/>
                </a:srgbClr>
              </a:gs>
              <a:gs pos="100000">
                <a:srgbClr val="EA3234">
                  <a:shade val="100000"/>
                  <a:satMod val="115000"/>
                </a:srgb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pt-BR" sz="1200" noProof="0"/>
          </a:p>
        </p:txBody>
      </p:sp>
      <p:sp>
        <p:nvSpPr>
          <p:cNvPr id="31" name="Text 28"/>
          <p:cNvSpPr/>
          <p:nvPr/>
        </p:nvSpPr>
        <p:spPr>
          <a:xfrm>
            <a:off x="7159752" y="15203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PERFIL D</a:t>
            </a:r>
            <a:endParaRPr lang="pt-BR" sz="900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159752" y="17580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CAPACIDADES CONSOLIDADAS NAS TRÊS DIMENSÕES</a:t>
            </a:r>
            <a:endParaRPr lang="pt-BR" sz="1150" noProof="0"/>
          </a:p>
        </p:txBody>
      </p:sp>
      <p:sp>
        <p:nvSpPr>
          <p:cNvPr id="33" name="Text 30"/>
          <p:cNvSpPr/>
          <p:nvPr/>
        </p:nvSpPr>
        <p:spPr>
          <a:xfrm>
            <a:off x="6473952" y="2257691"/>
            <a:ext cx="26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>
                <a:solidFill>
                  <a:srgbClr val="EA3234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72</a:t>
            </a:r>
            <a:r>
              <a:rPr lang="pt-BR" sz="1050" noProof="0">
                <a:solidFill>
                  <a:srgbClr val="9AA0A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 </a:t>
            </a:r>
            <a:r>
              <a:rPr lang="pt-BR" sz="120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</a:t>
            </a:r>
            <a:endParaRPr lang="pt-BR" sz="2400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473952" y="2782028"/>
            <a:ext cx="1600200" cy="384048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3F7D5A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583680" y="27820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FFFFFF"/>
                </a:solidFill>
                <a:latin typeface="Montserrat"/>
                <a:ea typeface="Arial" pitchFamily="34" charset="-122"/>
                <a:cs typeface="Arial"/>
              </a:rPr>
              <a:t>CFI</a:t>
            </a:r>
            <a:r>
              <a:rPr lang="pt-BR" sz="950" b="1" noProof="0">
                <a:solidFill>
                  <a:srgbClr val="FFFFFF"/>
                </a:solidFill>
                <a:latin typeface="Montserrat"/>
                <a:ea typeface="Arial" pitchFamily="34" charset="-122"/>
                <a:cs typeface="Arial"/>
              </a:rPr>
              <a:t>  </a:t>
            </a:r>
            <a:r>
              <a:rPr lang="pt-BR" sz="900" noProof="0" dirty="0">
                <a:solidFill>
                  <a:srgbClr val="6FBF8F"/>
                </a:solidFill>
                <a:latin typeface="Montserrat"/>
                <a:ea typeface="Arial" pitchFamily="34" charset="-122"/>
                <a:cs typeface="Arial"/>
              </a:rPr>
              <a:t>▲ acima</a:t>
            </a:r>
            <a:endParaRPr lang="pt-BR" sz="950" noProof="0" dirty="0">
              <a:latin typeface="Montserrat"/>
              <a:cs typeface="Arial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8165592" y="2782028"/>
            <a:ext cx="1600200" cy="384048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3F7D5A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8275320" y="27820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IMD  </a:t>
            </a:r>
            <a:r>
              <a:rPr lang="pt-BR" sz="900" noProof="0">
                <a:solidFill>
                  <a:srgbClr val="6FBF8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▲ acima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9857232" y="2782028"/>
            <a:ext cx="1600200" cy="384048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3F7D5A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9966960" y="27820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CSE  </a:t>
            </a:r>
            <a:r>
              <a:rPr lang="pt-BR" sz="900" noProof="0">
                <a:solidFill>
                  <a:srgbClr val="6FBF8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▲ acima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473952" y="338397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CARACTERÍSTICAS PREDOMINANTES</a:t>
            </a:r>
            <a:endParaRPr lang="pt-BR" sz="1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473952" y="362171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8000"/>
              </a:lnSpc>
            </a:pPr>
            <a:r>
              <a:rPr lang="pt-BR" sz="1000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Municípios com desempenho acima da média estadual nos três eixos, com </a:t>
            </a:r>
            <a:r>
              <a:rPr lang="pt-BR" sz="1000" noProof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destaque para a capacidade </a:t>
            </a:r>
            <a:r>
              <a:rPr lang="pt-BR" sz="100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fiscal e </a:t>
            </a:r>
            <a:r>
              <a:rPr lang="pt-BR" sz="1000" noProof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institucional. Reúnem </a:t>
            </a:r>
            <a:r>
              <a:rPr lang="pt-BR" sz="1000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simultaneamente estrutura administrativa, infraestrutura digital e condição socioeconômica favoráveis.</a:t>
            </a:r>
            <a:endParaRPr lang="pt-BR" sz="1000" noProof="0" dirty="0">
              <a:latin typeface="Montserrat"/>
              <a:cs typeface="Arial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473952" y="458735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JUSTIFICATIVA TÉCNICA E IMPLICAÇÃO PARA O PROGRAMA</a:t>
            </a:r>
            <a:endParaRPr lang="pt-BR" sz="1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473952" y="491947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Grupo com maior capacidade de execução imediata e de replicação, ideal para projetos pilotos e replicação em perfis consolidados. 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702726" y="5694288"/>
            <a:ext cx="4474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 MAIS ALINHADOS AO PERFIL: </a:t>
            </a:r>
            <a:r>
              <a:rPr lang="pt-BR" sz="10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PINDAMONHANGABA, SANTANA DE PARNAÍBA E SALTINHO</a:t>
            </a:r>
            <a:endParaRPr lang="pt-BR" sz="1050" noProof="0">
              <a:solidFill>
                <a:schemeClr val="bg1"/>
              </a:solidFill>
              <a:latin typeface="Montserrat" pitchFamily="2" charset="0"/>
            </a:endParaRP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C0100993-0F19-E95E-FFB5-52359B680FB7}"/>
              </a:ext>
            </a:extLst>
          </p:cNvPr>
          <p:cNvGrpSpPr/>
          <p:nvPr/>
        </p:nvGrpSpPr>
        <p:grpSpPr>
          <a:xfrm>
            <a:off x="2287725" y="2275489"/>
            <a:ext cx="1487194" cy="296737"/>
            <a:chOff x="4206240" y="2362170"/>
            <a:chExt cx="1600200" cy="320040"/>
          </a:xfrm>
        </p:grpSpPr>
        <p:sp>
          <p:nvSpPr>
            <p:cNvPr id="46" name="Shape 18">
              <a:extLst>
                <a:ext uri="{FF2B5EF4-FFF2-40B4-BE49-F238E27FC236}">
                  <a16:creationId xmlns:a16="http://schemas.microsoft.com/office/drawing/2014/main" id="{40079209-F775-2B4C-3FB0-ECC2A1E85929}"/>
                </a:ext>
              </a:extLst>
            </p:cNvPr>
            <p:cNvSpPr/>
            <p:nvPr/>
          </p:nvSpPr>
          <p:spPr>
            <a:xfrm>
              <a:off x="4206240" y="2362170"/>
              <a:ext cx="1600200" cy="320040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pPr algn="ctr"/>
              <a:endParaRPr lang="pt-BR" sz="1200" noProof="0"/>
            </a:p>
          </p:txBody>
        </p:sp>
        <p:sp>
          <p:nvSpPr>
            <p:cNvPr id="48" name="Text 21">
              <a:extLst>
                <a:ext uri="{FF2B5EF4-FFF2-40B4-BE49-F238E27FC236}">
                  <a16:creationId xmlns:a16="http://schemas.microsoft.com/office/drawing/2014/main" id="{EBD4E5DC-89CD-ACC4-ED77-FB0D7479662A}"/>
                </a:ext>
              </a:extLst>
            </p:cNvPr>
            <p:cNvSpPr/>
            <p:nvPr/>
          </p:nvSpPr>
          <p:spPr>
            <a:xfrm>
              <a:off x="4391621" y="2424472"/>
              <a:ext cx="1229437" cy="2004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pt-BR" sz="1050" b="1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28,0%</a:t>
              </a:r>
              <a:r>
                <a:rPr lang="pt-BR" sz="120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pt-BR" sz="105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do Estado</a:t>
              </a:r>
              <a:endParaRPr lang="pt-BR" sz="1050">
                <a:solidFill>
                  <a:schemeClr val="bg1"/>
                </a:solidFill>
              </a:endParaRPr>
            </a:p>
          </p:txBody>
        </p: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148014F9-35C6-CA76-E4C6-6D41180BE3AE}"/>
              </a:ext>
            </a:extLst>
          </p:cNvPr>
          <p:cNvGrpSpPr/>
          <p:nvPr/>
        </p:nvGrpSpPr>
        <p:grpSpPr>
          <a:xfrm>
            <a:off x="7957262" y="2277690"/>
            <a:ext cx="1487194" cy="296737"/>
            <a:chOff x="4206240" y="2362170"/>
            <a:chExt cx="1600200" cy="320040"/>
          </a:xfrm>
        </p:grpSpPr>
        <p:sp>
          <p:nvSpPr>
            <p:cNvPr id="51" name="Shape 18">
              <a:extLst>
                <a:ext uri="{FF2B5EF4-FFF2-40B4-BE49-F238E27FC236}">
                  <a16:creationId xmlns:a16="http://schemas.microsoft.com/office/drawing/2014/main" id="{201D396C-1D8F-8A16-E788-3F15912689B3}"/>
                </a:ext>
              </a:extLst>
            </p:cNvPr>
            <p:cNvSpPr/>
            <p:nvPr/>
          </p:nvSpPr>
          <p:spPr>
            <a:xfrm>
              <a:off x="4206240" y="2362170"/>
              <a:ext cx="1600200" cy="320040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pPr algn="ctr"/>
              <a:endParaRPr lang="pt-BR" sz="1200" noProof="0"/>
            </a:p>
          </p:txBody>
        </p:sp>
        <p:sp>
          <p:nvSpPr>
            <p:cNvPr id="52" name="Text 21">
              <a:extLst>
                <a:ext uri="{FF2B5EF4-FFF2-40B4-BE49-F238E27FC236}">
                  <a16:creationId xmlns:a16="http://schemas.microsoft.com/office/drawing/2014/main" id="{70A473E9-2644-513E-FA89-AEB10024EA61}"/>
                </a:ext>
              </a:extLst>
            </p:cNvPr>
            <p:cNvSpPr/>
            <p:nvPr/>
          </p:nvSpPr>
          <p:spPr>
            <a:xfrm>
              <a:off x="4391621" y="2433776"/>
              <a:ext cx="1229437" cy="2004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pt-BR" sz="1050" b="1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11,2% </a:t>
              </a:r>
              <a:r>
                <a:rPr lang="pt-BR" sz="105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do Estado</a:t>
              </a:r>
              <a:endParaRPr lang="pt-BR" sz="105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DE4FC-07C5-53A5-5534-618D6D4F7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ipse 11">
            <a:extLst>
              <a:ext uri="{FF2B5EF4-FFF2-40B4-BE49-F238E27FC236}">
                <a16:creationId xmlns:a16="http://schemas.microsoft.com/office/drawing/2014/main" id="{3B4B4E1C-FE1B-BAF5-63B4-0C254456600D}"/>
              </a:ext>
            </a:extLst>
          </p:cNvPr>
          <p:cNvSpPr/>
          <p:nvPr/>
        </p:nvSpPr>
        <p:spPr>
          <a:xfrm>
            <a:off x="7650885" y="4533275"/>
            <a:ext cx="742837" cy="8710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8AEFC13-95A0-FF81-8C3B-B53800EE4A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t="6179" b="6179"/>
          <a:stretch/>
        </p:blipFill>
        <p:spPr>
          <a:xfrm>
            <a:off x="1115568" y="922221"/>
            <a:ext cx="9686203" cy="6002355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1672F44C-A0CF-9385-FE94-C3EE9C617644}"/>
              </a:ext>
            </a:extLst>
          </p:cNvPr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E7C3ABA-7118-F495-CF5F-47E87708F4EE}"/>
              </a:ext>
            </a:extLst>
          </p:cNvPr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666E56E-C4D9-23EE-78E0-EC6C7BA9D471}"/>
              </a:ext>
            </a:extLst>
          </p:cNvPr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AC5D189-0A60-67CC-3FFC-202CA86B6A3C}"/>
              </a:ext>
            </a:extLst>
          </p:cNvPr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4B3826C-8D88-A45B-5E8F-31D4741CA4AD}"/>
              </a:ext>
            </a:extLst>
          </p:cNvPr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500" b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DISTRIBUIÇÃO NO TERRITÓRIO</a:t>
            </a:r>
            <a:r>
              <a:rPr lang="pt-BR" sz="2500" b="1" noProof="0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: QUATRO PERFIS</a:t>
            </a:r>
            <a:endParaRPr lang="pt-BR" sz="2500" noProof="0">
              <a:latin typeface="Montserrat"/>
            </a:endParaRP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D5467A2F-1CC6-4FC5-B622-3AF5CBCED127}"/>
              </a:ext>
            </a:extLst>
          </p:cNvPr>
          <p:cNvGrpSpPr/>
          <p:nvPr/>
        </p:nvGrpSpPr>
        <p:grpSpPr>
          <a:xfrm>
            <a:off x="1343646" y="4906477"/>
            <a:ext cx="2377360" cy="995721"/>
            <a:chOff x="557824" y="4684143"/>
            <a:chExt cx="2377360" cy="995721"/>
          </a:xfrm>
        </p:grpSpPr>
        <p:sp>
          <p:nvSpPr>
            <p:cNvPr id="11" name="Text 21">
              <a:extLst>
                <a:ext uri="{FF2B5EF4-FFF2-40B4-BE49-F238E27FC236}">
                  <a16:creationId xmlns:a16="http://schemas.microsoft.com/office/drawing/2014/main" id="{7519F7A8-AB75-99E6-AA65-C2A27E4B4ADA}"/>
                </a:ext>
              </a:extLst>
            </p:cNvPr>
            <p:cNvSpPr/>
            <p:nvPr/>
          </p:nvSpPr>
          <p:spPr>
            <a:xfrm>
              <a:off x="1146239" y="4758339"/>
              <a:ext cx="1142614" cy="303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pt-BR" sz="1400" b="1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PERFIL</a:t>
              </a:r>
              <a:endParaRPr lang="pt-BR" sz="140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14" name="Shape 15">
              <a:extLst>
                <a:ext uri="{FF2B5EF4-FFF2-40B4-BE49-F238E27FC236}">
                  <a16:creationId xmlns:a16="http://schemas.microsoft.com/office/drawing/2014/main" id="{39BF7365-B117-824F-9CD2-CFD4326014D7}"/>
                </a:ext>
              </a:extLst>
            </p:cNvPr>
            <p:cNvSpPr/>
            <p:nvPr/>
          </p:nvSpPr>
          <p:spPr>
            <a:xfrm>
              <a:off x="917493" y="5087580"/>
              <a:ext cx="310896" cy="231033"/>
            </a:xfrm>
            <a:prstGeom prst="rect">
              <a:avLst/>
            </a:prstGeom>
            <a:solidFill>
              <a:srgbClr val="F99828"/>
            </a:solidFill>
            <a:ln w="12700">
              <a:solidFill>
                <a:srgbClr val="F99828"/>
              </a:solidFill>
              <a:prstDash val="solid"/>
            </a:ln>
          </p:spPr>
          <p:txBody>
            <a:bodyPr/>
            <a:lstStyle/>
            <a:p>
              <a:endParaRPr lang="pt-BR" noProof="0"/>
            </a:p>
          </p:txBody>
        </p:sp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76F9B064-7344-CDBA-5461-2F0894E6CEDF}"/>
                </a:ext>
              </a:extLst>
            </p:cNvPr>
            <p:cNvSpPr/>
            <p:nvPr/>
          </p:nvSpPr>
          <p:spPr>
            <a:xfrm>
              <a:off x="1374613" y="5087580"/>
              <a:ext cx="310896" cy="231033"/>
            </a:xfrm>
            <a:prstGeom prst="rect">
              <a:avLst/>
            </a:prstGeom>
            <a:solidFill>
              <a:srgbClr val="263253"/>
            </a:solidFill>
            <a:ln w="12700">
              <a:solidFill>
                <a:srgbClr val="263253"/>
              </a:solidFill>
              <a:prstDash val="solid"/>
            </a:ln>
          </p:spPr>
          <p:txBody>
            <a:bodyPr/>
            <a:lstStyle/>
            <a:p>
              <a:endParaRPr lang="pt-BR" noProof="0"/>
            </a:p>
          </p:txBody>
        </p:sp>
        <p:sp>
          <p:nvSpPr>
            <p:cNvPr id="18" name="Shape 15">
              <a:extLst>
                <a:ext uri="{FF2B5EF4-FFF2-40B4-BE49-F238E27FC236}">
                  <a16:creationId xmlns:a16="http://schemas.microsoft.com/office/drawing/2014/main" id="{2C6E2EC9-9F98-066B-C97F-E5CA96424A14}"/>
                </a:ext>
              </a:extLst>
            </p:cNvPr>
            <p:cNvSpPr/>
            <p:nvPr/>
          </p:nvSpPr>
          <p:spPr>
            <a:xfrm>
              <a:off x="1831733" y="5087580"/>
              <a:ext cx="310896" cy="231033"/>
            </a:xfrm>
            <a:prstGeom prst="rect">
              <a:avLst/>
            </a:prstGeom>
            <a:solidFill>
              <a:srgbClr val="4496CD"/>
            </a:solidFill>
            <a:ln w="12700">
              <a:solidFill>
                <a:srgbClr val="4496CD"/>
              </a:solidFill>
              <a:prstDash val="solid"/>
            </a:ln>
          </p:spPr>
          <p:txBody>
            <a:bodyPr/>
            <a:lstStyle/>
            <a:p>
              <a:endParaRPr lang="pt-BR" noProof="0"/>
            </a:p>
          </p:txBody>
        </p:sp>
        <p:sp>
          <p:nvSpPr>
            <p:cNvPr id="20" name="Shape 15">
              <a:extLst>
                <a:ext uri="{FF2B5EF4-FFF2-40B4-BE49-F238E27FC236}">
                  <a16:creationId xmlns:a16="http://schemas.microsoft.com/office/drawing/2014/main" id="{7CE271E0-7B63-8CC4-0699-D180134D9DB9}"/>
                </a:ext>
              </a:extLst>
            </p:cNvPr>
            <p:cNvSpPr/>
            <p:nvPr/>
          </p:nvSpPr>
          <p:spPr>
            <a:xfrm>
              <a:off x="2288853" y="5087580"/>
              <a:ext cx="310896" cy="231033"/>
            </a:xfrm>
            <a:prstGeom prst="rect">
              <a:avLst/>
            </a:prstGeom>
            <a:solidFill>
              <a:srgbClr val="EA3234"/>
            </a:solidFill>
            <a:ln w="12700">
              <a:solidFill>
                <a:srgbClr val="EA3234"/>
              </a:solidFill>
              <a:prstDash val="solid"/>
            </a:ln>
          </p:spPr>
          <p:txBody>
            <a:bodyPr/>
            <a:lstStyle/>
            <a:p>
              <a:endParaRPr lang="pt-BR" noProof="0"/>
            </a:p>
          </p:txBody>
        </p:sp>
        <p:sp>
          <p:nvSpPr>
            <p:cNvPr id="22" name="Shape 18">
              <a:extLst>
                <a:ext uri="{FF2B5EF4-FFF2-40B4-BE49-F238E27FC236}">
                  <a16:creationId xmlns:a16="http://schemas.microsoft.com/office/drawing/2014/main" id="{C124D220-352B-6834-337C-F0A4F12992AB}"/>
                </a:ext>
              </a:extLst>
            </p:cNvPr>
            <p:cNvSpPr/>
            <p:nvPr/>
          </p:nvSpPr>
          <p:spPr>
            <a:xfrm>
              <a:off x="557824" y="4684143"/>
              <a:ext cx="2377360" cy="995721"/>
            </a:xfrm>
            <a:prstGeom prst="roundRect">
              <a:avLst>
                <a:gd name="adj" fmla="val 14348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  <p:txBody>
            <a:bodyPr/>
            <a:lstStyle/>
            <a:p>
              <a:pPr algn="ctr"/>
              <a:endParaRPr lang="pt-BR" sz="1200" noProof="0">
                <a:latin typeface="Montserrat" pitchFamily="2" charset="0"/>
              </a:endParaRPr>
            </a:p>
          </p:txBody>
        </p:sp>
        <p:sp>
          <p:nvSpPr>
            <p:cNvPr id="24" name="Text 21">
              <a:extLst>
                <a:ext uri="{FF2B5EF4-FFF2-40B4-BE49-F238E27FC236}">
                  <a16:creationId xmlns:a16="http://schemas.microsoft.com/office/drawing/2014/main" id="{CD40B0D3-33B6-98EA-3FCA-EAAAB8FF5D8D}"/>
                </a:ext>
              </a:extLst>
            </p:cNvPr>
            <p:cNvSpPr/>
            <p:nvPr/>
          </p:nvSpPr>
          <p:spPr>
            <a:xfrm>
              <a:off x="944195" y="5347557"/>
              <a:ext cx="257491" cy="303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pt-BR" sz="1400" b="1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A</a:t>
              </a:r>
              <a:endParaRPr lang="pt-BR" sz="140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26" name="Text 21">
              <a:extLst>
                <a:ext uri="{FF2B5EF4-FFF2-40B4-BE49-F238E27FC236}">
                  <a16:creationId xmlns:a16="http://schemas.microsoft.com/office/drawing/2014/main" id="{C13C79CF-9740-0971-4BB1-43A13FCB0411}"/>
                </a:ext>
              </a:extLst>
            </p:cNvPr>
            <p:cNvSpPr/>
            <p:nvPr/>
          </p:nvSpPr>
          <p:spPr>
            <a:xfrm>
              <a:off x="1413526" y="5346055"/>
              <a:ext cx="257491" cy="303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pt-BR" sz="1400" b="1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B</a:t>
              </a:r>
              <a:endParaRPr lang="pt-BR" sz="140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28" name="Text 21">
              <a:extLst>
                <a:ext uri="{FF2B5EF4-FFF2-40B4-BE49-F238E27FC236}">
                  <a16:creationId xmlns:a16="http://schemas.microsoft.com/office/drawing/2014/main" id="{DB4416BD-FC36-C6E5-6964-5CA6D1FC1DF6}"/>
                </a:ext>
              </a:extLst>
            </p:cNvPr>
            <p:cNvSpPr/>
            <p:nvPr/>
          </p:nvSpPr>
          <p:spPr>
            <a:xfrm>
              <a:off x="1865605" y="5350623"/>
              <a:ext cx="257491" cy="303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pt-BR" sz="1400" b="1">
                  <a:solidFill>
                    <a:schemeClr val="bg1"/>
                  </a:solidFill>
                  <a:latin typeface="Montserrat" pitchFamily="2" charset="0"/>
                  <a:cs typeface="Arial" pitchFamily="34" charset="-120"/>
                </a:rPr>
                <a:t>C</a:t>
              </a:r>
              <a:endParaRPr lang="pt-BR" sz="140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30" name="Text 21">
              <a:extLst>
                <a:ext uri="{FF2B5EF4-FFF2-40B4-BE49-F238E27FC236}">
                  <a16:creationId xmlns:a16="http://schemas.microsoft.com/office/drawing/2014/main" id="{8824E2B9-436D-304D-7796-373E9B364BA4}"/>
                </a:ext>
              </a:extLst>
            </p:cNvPr>
            <p:cNvSpPr/>
            <p:nvPr/>
          </p:nvSpPr>
          <p:spPr>
            <a:xfrm>
              <a:off x="2317684" y="5346055"/>
              <a:ext cx="257491" cy="303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pt-BR" sz="1400" b="1">
                  <a:solidFill>
                    <a:schemeClr val="bg1"/>
                  </a:solidFill>
                  <a:latin typeface="Montserrat" pitchFamily="2" charset="0"/>
                  <a:cs typeface="Arial" pitchFamily="34" charset="-120"/>
                </a:rPr>
                <a:t>D</a:t>
              </a:r>
              <a:endParaRPr lang="pt-BR" sz="140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598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ASSINATURA ESTATÍSTICA DOS PERFIS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Valor médio de cada eixo por perfil, em escala padronizada e ponderada (eixo × √peso)</a:t>
            </a:r>
            <a:endParaRPr lang="pt-BR" sz="12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1567592"/>
            <a:ext cx="7680960" cy="4582352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graphicFrame>
        <p:nvGraphicFramePr>
          <p:cNvPr id="12" name="Chart 0"/>
          <p:cNvGraphicFramePr/>
          <p:nvPr>
            <p:extLst>
              <p:ext uri="{D42A27DB-BD31-4B8C-83A1-F6EECF244321}">
                <p14:modId xmlns:p14="http://schemas.microsoft.com/office/powerpoint/2010/main" val="1883791753"/>
              </p:ext>
            </p:extLst>
          </p:nvPr>
        </p:nvGraphicFramePr>
        <p:xfrm>
          <a:off x="731520" y="1828800"/>
          <a:ext cx="73152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 11"/>
          <p:cNvSpPr/>
          <p:nvPr/>
        </p:nvSpPr>
        <p:spPr>
          <a:xfrm>
            <a:off x="8598557" y="2065723"/>
            <a:ext cx="3120174" cy="3786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r>
              <a:rPr lang="pt-BR" sz="1200" b="1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PERFIL A: </a:t>
            </a:r>
            <a:r>
              <a:rPr lang="pt-BR" sz="1200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os três eixos abaixo da média, em magnitudes semelhantes.</a:t>
            </a:r>
            <a:endParaRPr lang="pt-BR" sz="1200" noProof="0">
              <a:latin typeface="Montserrat"/>
              <a:cs typeface="Arial"/>
            </a:endParaRP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endParaRPr lang="pt-BR" sz="1200" noProof="0" dirty="0">
              <a:latin typeface="Montserrat" pitchFamily="2" charset="0"/>
            </a:endParaRP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r>
              <a:rPr lang="pt-BR" sz="1200" b="1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PERFIL B: </a:t>
            </a:r>
            <a:r>
              <a:rPr lang="pt-BR" sz="1200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capacidade fiscal e institucional acima da média; infraestrutura digital abaixo da média; condição socioeconômica praticamente na média.</a:t>
            </a: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endParaRPr lang="pt-BR" sz="1200" noProof="0" dirty="0">
              <a:solidFill>
                <a:srgbClr val="E6E6E6"/>
              </a:solidFill>
              <a:latin typeface="Montserrat" pitchFamily="2" charset="0"/>
              <a:ea typeface="Arial" pitchFamily="34" charset="-122"/>
              <a:cs typeface="Arial" pitchFamily="34" charset="-120"/>
            </a:endParaRP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r>
              <a:rPr lang="pt-BR" sz="1200" b="1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PERFIL C: </a:t>
            </a:r>
            <a:r>
              <a:rPr lang="pt-BR" sz="120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infraestrutura digital e condição socioeconômica acima da </a:t>
            </a:r>
            <a:r>
              <a:rPr lang="pt-BR" sz="120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média; capacidade fiscal e institucional abaixo da média.</a:t>
            </a: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endParaRPr lang="pt-BR" sz="1200" dirty="0">
              <a:solidFill>
                <a:srgbClr val="E6E6E6"/>
              </a:solidFill>
              <a:latin typeface="Montserrat" pitchFamily="2" charset="0"/>
              <a:cs typeface="Arial" pitchFamily="34" charset="-120"/>
            </a:endParaRP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r>
              <a:rPr lang="pt-BR" sz="1200" b="1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PERFIL D: </a:t>
            </a:r>
            <a:r>
              <a:rPr lang="pt-BR" sz="120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os três eixos acima da média, com destaque para a capacidade fiscal e institucional; condição socioeconômica próxima da média.</a:t>
            </a: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endParaRPr lang="pt-BR" sz="1200" noProof="0" dirty="0">
              <a:latin typeface="Montserrat" pitchFamily="2" charset="0"/>
            </a:endParaRP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CE88268-2BE1-3AC3-CF51-4CAE6C6291D3}"/>
              </a:ext>
            </a:extLst>
          </p:cNvPr>
          <p:cNvCxnSpPr>
            <a:cxnSpLocks/>
          </p:cNvCxnSpPr>
          <p:nvPr/>
        </p:nvCxnSpPr>
        <p:spPr>
          <a:xfrm>
            <a:off x="8568623" y="2777122"/>
            <a:ext cx="3150108" cy="0"/>
          </a:xfrm>
          <a:prstGeom prst="line">
            <a:avLst/>
          </a:prstGeom>
          <a:ln>
            <a:solidFill>
              <a:srgbClr val="EA32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2B02CCDB-144C-94AC-E958-9AD3B30DB9EB}"/>
              </a:ext>
            </a:extLst>
          </p:cNvPr>
          <p:cNvCxnSpPr>
            <a:cxnSpLocks/>
          </p:cNvCxnSpPr>
          <p:nvPr/>
        </p:nvCxnSpPr>
        <p:spPr>
          <a:xfrm>
            <a:off x="8577249" y="3880129"/>
            <a:ext cx="3120174" cy="0"/>
          </a:xfrm>
          <a:prstGeom prst="line">
            <a:avLst/>
          </a:prstGeom>
          <a:ln>
            <a:solidFill>
              <a:srgbClr val="F998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06A103A3-B491-CF25-D040-0809C32219F5}"/>
              </a:ext>
            </a:extLst>
          </p:cNvPr>
          <p:cNvCxnSpPr>
            <a:cxnSpLocks/>
          </p:cNvCxnSpPr>
          <p:nvPr/>
        </p:nvCxnSpPr>
        <p:spPr>
          <a:xfrm>
            <a:off x="8577249" y="4990060"/>
            <a:ext cx="3120174" cy="0"/>
          </a:xfrm>
          <a:prstGeom prst="line">
            <a:avLst/>
          </a:prstGeom>
          <a:ln>
            <a:solidFill>
              <a:srgbClr val="4496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89E2F-5427-EFBB-9308-DBC476D52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9A16163-16B8-2EAC-4CFD-CFC0D930D701}"/>
              </a:ext>
            </a:extLst>
          </p:cNvPr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E437E91-688B-BC71-8DD2-E47FDF299FBB}"/>
              </a:ext>
            </a:extLst>
          </p:cNvPr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6118EE5-5E53-835B-3903-984BDD2402A8}"/>
              </a:ext>
            </a:extLst>
          </p:cNvPr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E1C1B57-B7DD-2D30-9193-E89546613C4F}"/>
              </a:ext>
            </a:extLst>
          </p:cNvPr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4CFBA36-6261-7BC8-0946-6775AB98FE1D}"/>
              </a:ext>
            </a:extLst>
          </p:cNvPr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OS DADOS MUNICIPAIS REVELAM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1AF48D5-5317-034C-B135-7A0F6777A339}"/>
              </a:ext>
            </a:extLst>
          </p:cNvPr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Universo: 644 municípios classificados; São Paulo capital não está incluída. População 2022, PIB 2023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2772817-9618-234C-AD6A-B3B271A35E8A}"/>
              </a:ext>
            </a:extLst>
          </p:cNvPr>
          <p:cNvSpPr/>
          <p:nvPr/>
        </p:nvSpPr>
        <p:spPr>
          <a:xfrm>
            <a:off x="1918833" y="1664207"/>
            <a:ext cx="2333127" cy="4466953"/>
          </a:xfrm>
          <a:prstGeom prst="roundRect">
            <a:avLst>
              <a:gd name="adj" fmla="val 20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 dirty="0">
              <a:latin typeface="Montserrat" pitchFamily="2" charset="0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007B731-EB6D-0B6D-AB5A-58C3F578988D}"/>
              </a:ext>
            </a:extLst>
          </p:cNvPr>
          <p:cNvSpPr/>
          <p:nvPr/>
        </p:nvSpPr>
        <p:spPr>
          <a:xfrm>
            <a:off x="2140361" y="1874520"/>
            <a:ext cx="256032" cy="256032"/>
          </a:xfrm>
          <a:prstGeom prst="rect">
            <a:avLst/>
          </a:prstGeom>
          <a:gradFill flip="none" rotWithShape="1">
            <a:gsLst>
              <a:gs pos="0">
                <a:srgbClr val="F99828">
                  <a:shade val="30000"/>
                  <a:satMod val="115000"/>
                </a:srgbClr>
              </a:gs>
              <a:gs pos="50000">
                <a:srgbClr val="F99828">
                  <a:shade val="67500"/>
                  <a:satMod val="115000"/>
                </a:srgbClr>
              </a:gs>
              <a:gs pos="100000">
                <a:srgbClr val="F99828">
                  <a:shade val="100000"/>
                  <a:satMod val="115000"/>
                </a:srgb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endParaRPr lang="pt-BR" sz="2000" noProof="0">
              <a:latin typeface="Montserrat" pitchFamily="2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2BD1978-ED7A-C8B8-DE16-6CE9DE2FEB7F}"/>
              </a:ext>
            </a:extLst>
          </p:cNvPr>
          <p:cNvSpPr/>
          <p:nvPr/>
        </p:nvSpPr>
        <p:spPr>
          <a:xfrm>
            <a:off x="2506121" y="1856232"/>
            <a:ext cx="1759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PERFIL A</a:t>
            </a:r>
            <a:endParaRPr lang="pt-BR" sz="1200" noProof="0" dirty="0">
              <a:latin typeface="Montserrat" pitchFamily="2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3DB1151-BF46-A456-E8C4-683339F3E3C4}"/>
              </a:ext>
            </a:extLst>
          </p:cNvPr>
          <p:cNvSpPr/>
          <p:nvPr/>
        </p:nvSpPr>
        <p:spPr>
          <a:xfrm>
            <a:off x="769503" y="2684928"/>
            <a:ext cx="977001" cy="38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POP TOTAL</a:t>
            </a:r>
          </a:p>
          <a:p>
            <a:pPr marL="0" indent="0" algn="r">
              <a:buNone/>
            </a:pPr>
            <a:r>
              <a:rPr lang="pt-BR" sz="1000" dirty="0">
                <a:solidFill>
                  <a:schemeClr val="bg1"/>
                </a:solidFill>
                <a:latin typeface="Montserrat" pitchFamily="2" charset="0"/>
                <a:cs typeface="Arial" pitchFamily="34" charset="-120"/>
              </a:rPr>
              <a:t>(IBGE, 2022)</a:t>
            </a:r>
            <a:endParaRPr lang="pt-BR" sz="1000" noProof="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C84472F1-4730-5E5C-1F9F-D43501B7AF1F}"/>
              </a:ext>
            </a:extLst>
          </p:cNvPr>
          <p:cNvSpPr/>
          <p:nvPr/>
        </p:nvSpPr>
        <p:spPr>
          <a:xfrm>
            <a:off x="4334921" y="1664207"/>
            <a:ext cx="2333127" cy="4466955"/>
          </a:xfrm>
          <a:prstGeom prst="roundRect">
            <a:avLst>
              <a:gd name="adj" fmla="val 20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3FADAA89-CAB7-95FE-DCD1-1CC37144B7E8}"/>
              </a:ext>
            </a:extLst>
          </p:cNvPr>
          <p:cNvSpPr/>
          <p:nvPr/>
        </p:nvSpPr>
        <p:spPr>
          <a:xfrm>
            <a:off x="4556449" y="1874520"/>
            <a:ext cx="256032" cy="256032"/>
          </a:xfrm>
          <a:prstGeom prst="rect">
            <a:avLst/>
          </a:prstGeom>
          <a:gradFill flip="none" rotWithShape="1">
            <a:gsLst>
              <a:gs pos="0">
                <a:srgbClr val="263253">
                  <a:shade val="30000"/>
                  <a:satMod val="115000"/>
                </a:srgbClr>
              </a:gs>
              <a:gs pos="50000">
                <a:srgbClr val="263253">
                  <a:shade val="67500"/>
                  <a:satMod val="115000"/>
                </a:srgbClr>
              </a:gs>
              <a:gs pos="100000">
                <a:srgbClr val="263253">
                  <a:shade val="100000"/>
                  <a:satMod val="115000"/>
                </a:srgb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endParaRPr lang="pt-BR" sz="2000" noProof="0">
              <a:latin typeface="Montserrat" pitchFamily="2" charset="0"/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3BA106D7-2D86-FAA9-A587-F9C11E6EA66B}"/>
              </a:ext>
            </a:extLst>
          </p:cNvPr>
          <p:cNvSpPr/>
          <p:nvPr/>
        </p:nvSpPr>
        <p:spPr>
          <a:xfrm>
            <a:off x="4922209" y="1856232"/>
            <a:ext cx="171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PERFIL B</a:t>
            </a:r>
            <a:endParaRPr lang="pt-BR" sz="1200" noProof="0" dirty="0">
              <a:latin typeface="Montserrat" pitchFamily="2" charset="0"/>
            </a:endParaRPr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F58AF00A-E96E-E9AA-09B4-C64731E34079}"/>
              </a:ext>
            </a:extLst>
          </p:cNvPr>
          <p:cNvSpPr/>
          <p:nvPr/>
        </p:nvSpPr>
        <p:spPr>
          <a:xfrm>
            <a:off x="6751009" y="1664207"/>
            <a:ext cx="2333127" cy="4466947"/>
          </a:xfrm>
          <a:prstGeom prst="roundRect">
            <a:avLst>
              <a:gd name="adj" fmla="val 20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BE0DA464-281F-10C7-1093-CC8873A8BE7A}"/>
              </a:ext>
            </a:extLst>
          </p:cNvPr>
          <p:cNvSpPr/>
          <p:nvPr/>
        </p:nvSpPr>
        <p:spPr>
          <a:xfrm>
            <a:off x="6972537" y="1874520"/>
            <a:ext cx="256032" cy="256032"/>
          </a:xfrm>
          <a:prstGeom prst="rect">
            <a:avLst/>
          </a:prstGeom>
          <a:gradFill flip="none" rotWithShape="1">
            <a:gsLst>
              <a:gs pos="0">
                <a:srgbClr val="4496CD">
                  <a:shade val="30000"/>
                  <a:satMod val="115000"/>
                </a:srgbClr>
              </a:gs>
              <a:gs pos="50000">
                <a:srgbClr val="4496CD">
                  <a:shade val="67500"/>
                  <a:satMod val="115000"/>
                </a:srgbClr>
              </a:gs>
              <a:gs pos="100000">
                <a:srgbClr val="4496CD">
                  <a:shade val="100000"/>
                  <a:satMod val="115000"/>
                </a:srgb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endParaRPr lang="pt-BR" sz="2000" noProof="0">
              <a:latin typeface="Montserrat" pitchFamily="2" charset="0"/>
            </a:endParaRPr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DBFD7EB4-C95D-1F87-ADE2-3FA3CC37729A}"/>
              </a:ext>
            </a:extLst>
          </p:cNvPr>
          <p:cNvSpPr/>
          <p:nvPr/>
        </p:nvSpPr>
        <p:spPr>
          <a:xfrm>
            <a:off x="7338297" y="1856232"/>
            <a:ext cx="1755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PERFIL C</a:t>
            </a:r>
            <a:endParaRPr lang="pt-BR" sz="1200" noProof="0" dirty="0">
              <a:latin typeface="Montserrat" pitchFamily="2" charset="0"/>
            </a:endParaRPr>
          </a:p>
        </p:txBody>
      </p:sp>
      <p:sp>
        <p:nvSpPr>
          <p:cNvPr id="71" name="Shape 68">
            <a:extLst>
              <a:ext uri="{FF2B5EF4-FFF2-40B4-BE49-F238E27FC236}">
                <a16:creationId xmlns:a16="http://schemas.microsoft.com/office/drawing/2014/main" id="{6139171C-FDED-9AAA-288E-286D16F3F16B}"/>
              </a:ext>
            </a:extLst>
          </p:cNvPr>
          <p:cNvSpPr/>
          <p:nvPr/>
        </p:nvSpPr>
        <p:spPr>
          <a:xfrm>
            <a:off x="9167097" y="1664207"/>
            <a:ext cx="2333127" cy="4466943"/>
          </a:xfrm>
          <a:prstGeom prst="roundRect">
            <a:avLst>
              <a:gd name="adj" fmla="val 20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 dirty="0">
              <a:latin typeface="Montserrat" pitchFamily="2" charset="0"/>
            </a:endParaRPr>
          </a:p>
        </p:txBody>
      </p:sp>
      <p:sp>
        <p:nvSpPr>
          <p:cNvPr id="72" name="Shape 69">
            <a:extLst>
              <a:ext uri="{FF2B5EF4-FFF2-40B4-BE49-F238E27FC236}">
                <a16:creationId xmlns:a16="http://schemas.microsoft.com/office/drawing/2014/main" id="{AD85AC4D-A6F1-A351-A864-DEEF9558ADBE}"/>
              </a:ext>
            </a:extLst>
          </p:cNvPr>
          <p:cNvSpPr/>
          <p:nvPr/>
        </p:nvSpPr>
        <p:spPr>
          <a:xfrm>
            <a:off x="9388625" y="1874520"/>
            <a:ext cx="256032" cy="25603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sz="2000" noProof="0">
              <a:latin typeface="Montserrat" pitchFamily="2" charset="0"/>
            </a:endParaRPr>
          </a:p>
        </p:txBody>
      </p:sp>
      <p:sp>
        <p:nvSpPr>
          <p:cNvPr id="73" name="Text 70">
            <a:extLst>
              <a:ext uri="{FF2B5EF4-FFF2-40B4-BE49-F238E27FC236}">
                <a16:creationId xmlns:a16="http://schemas.microsoft.com/office/drawing/2014/main" id="{86A0F715-B78F-E6F0-B824-C8A5EFB1B67C}"/>
              </a:ext>
            </a:extLst>
          </p:cNvPr>
          <p:cNvSpPr/>
          <p:nvPr/>
        </p:nvSpPr>
        <p:spPr>
          <a:xfrm>
            <a:off x="9754385" y="1856232"/>
            <a:ext cx="17835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PERFIL D</a:t>
            </a:r>
            <a:endParaRPr lang="pt-BR" sz="1200" noProof="0" dirty="0">
              <a:latin typeface="Montserrat" pitchFamily="2" charset="0"/>
            </a:endParaRPr>
          </a:p>
        </p:txBody>
      </p:sp>
      <p:cxnSp>
        <p:nvCxnSpPr>
          <p:cNvPr id="97" name="Conector reto 96">
            <a:extLst>
              <a:ext uri="{FF2B5EF4-FFF2-40B4-BE49-F238E27FC236}">
                <a16:creationId xmlns:a16="http://schemas.microsoft.com/office/drawing/2014/main" id="{5EF0A60B-9516-3F69-D6CA-FFB5BE5746AA}"/>
              </a:ext>
            </a:extLst>
          </p:cNvPr>
          <p:cNvCxnSpPr/>
          <p:nvPr/>
        </p:nvCxnSpPr>
        <p:spPr>
          <a:xfrm>
            <a:off x="1918833" y="2596896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to 97">
            <a:extLst>
              <a:ext uri="{FF2B5EF4-FFF2-40B4-BE49-F238E27FC236}">
                <a16:creationId xmlns:a16="http://schemas.microsoft.com/office/drawing/2014/main" id="{839E9727-8AA6-4A1C-B027-B3A8F1DC418C}"/>
              </a:ext>
            </a:extLst>
          </p:cNvPr>
          <p:cNvCxnSpPr/>
          <p:nvPr/>
        </p:nvCxnSpPr>
        <p:spPr>
          <a:xfrm>
            <a:off x="4334921" y="2596896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to 98">
            <a:extLst>
              <a:ext uri="{FF2B5EF4-FFF2-40B4-BE49-F238E27FC236}">
                <a16:creationId xmlns:a16="http://schemas.microsoft.com/office/drawing/2014/main" id="{9F5069AE-1CA8-9AE2-1121-D5878F8E88AC}"/>
              </a:ext>
            </a:extLst>
          </p:cNvPr>
          <p:cNvCxnSpPr/>
          <p:nvPr/>
        </p:nvCxnSpPr>
        <p:spPr>
          <a:xfrm>
            <a:off x="6751009" y="2596896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to 99">
            <a:extLst>
              <a:ext uri="{FF2B5EF4-FFF2-40B4-BE49-F238E27FC236}">
                <a16:creationId xmlns:a16="http://schemas.microsoft.com/office/drawing/2014/main" id="{AFC68341-AD77-6406-77FA-AF783EA24E96}"/>
              </a:ext>
            </a:extLst>
          </p:cNvPr>
          <p:cNvCxnSpPr/>
          <p:nvPr/>
        </p:nvCxnSpPr>
        <p:spPr>
          <a:xfrm>
            <a:off x="9167097" y="2593848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 11">
            <a:extLst>
              <a:ext uri="{FF2B5EF4-FFF2-40B4-BE49-F238E27FC236}">
                <a16:creationId xmlns:a16="http://schemas.microsoft.com/office/drawing/2014/main" id="{F85E6BC5-B0A1-A3ED-91A9-C6D4BC1A4CDA}"/>
              </a:ext>
            </a:extLst>
          </p:cNvPr>
          <p:cNvSpPr/>
          <p:nvPr/>
        </p:nvSpPr>
        <p:spPr>
          <a:xfrm>
            <a:off x="548640" y="3501203"/>
            <a:ext cx="1197864" cy="38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POP MÉDIA</a:t>
            </a:r>
          </a:p>
          <a:p>
            <a:pPr marL="0" indent="0" algn="r">
              <a:buNone/>
            </a:pPr>
            <a:r>
              <a:rPr lang="pt-BR" sz="1000" dirty="0">
                <a:solidFill>
                  <a:schemeClr val="bg1"/>
                </a:solidFill>
                <a:latin typeface="Montserrat" pitchFamily="2" charset="0"/>
                <a:cs typeface="Arial" pitchFamily="34" charset="-120"/>
              </a:rPr>
              <a:t>(IBGE, 2022)</a:t>
            </a:r>
            <a:endParaRPr lang="pt-BR" sz="1000" noProof="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04" name="Text 11">
            <a:extLst>
              <a:ext uri="{FF2B5EF4-FFF2-40B4-BE49-F238E27FC236}">
                <a16:creationId xmlns:a16="http://schemas.microsoft.com/office/drawing/2014/main" id="{2C9C1611-527F-67EE-E6FE-573573DDFE25}"/>
              </a:ext>
            </a:extLst>
          </p:cNvPr>
          <p:cNvSpPr/>
          <p:nvPr/>
        </p:nvSpPr>
        <p:spPr>
          <a:xfrm>
            <a:off x="512064" y="4320755"/>
            <a:ext cx="1197864" cy="38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PIB</a:t>
            </a:r>
          </a:p>
          <a:p>
            <a:pPr marL="0" indent="0" algn="r">
              <a:buNone/>
            </a:pPr>
            <a:r>
              <a:rPr lang="pt-BR" sz="1000" dirty="0">
                <a:solidFill>
                  <a:schemeClr val="bg1"/>
                </a:solidFill>
                <a:latin typeface="Montserrat" pitchFamily="2" charset="0"/>
                <a:cs typeface="Arial" pitchFamily="34" charset="-120"/>
              </a:rPr>
              <a:t>(IBGE, 2023)</a:t>
            </a:r>
            <a:endParaRPr lang="pt-BR" sz="1000" noProof="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06" name="Text 11">
            <a:extLst>
              <a:ext uri="{FF2B5EF4-FFF2-40B4-BE49-F238E27FC236}">
                <a16:creationId xmlns:a16="http://schemas.microsoft.com/office/drawing/2014/main" id="{0D539DCE-7E66-382D-44C5-648D2D27D1AF}"/>
              </a:ext>
            </a:extLst>
          </p:cNvPr>
          <p:cNvSpPr/>
          <p:nvPr/>
        </p:nvSpPr>
        <p:spPr>
          <a:xfrm>
            <a:off x="548640" y="5307941"/>
            <a:ext cx="1197864" cy="38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COMPOSIÇÃO POR </a:t>
            </a:r>
            <a:r>
              <a:rPr lang="pt-BR" sz="1000" b="1" noProof="0" dirty="0" err="1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RAs</a:t>
            </a:r>
            <a:endParaRPr lang="pt-BR" sz="1000" noProof="0" dirty="0">
              <a:solidFill>
                <a:schemeClr val="bg1"/>
              </a:solidFill>
              <a:latin typeface="Montserrat" pitchFamily="2" charset="0"/>
            </a:endParaRPr>
          </a:p>
        </p:txBody>
      </p:sp>
      <p:cxnSp>
        <p:nvCxnSpPr>
          <p:cNvPr id="107" name="Conector reto 106">
            <a:extLst>
              <a:ext uri="{FF2B5EF4-FFF2-40B4-BE49-F238E27FC236}">
                <a16:creationId xmlns:a16="http://schemas.microsoft.com/office/drawing/2014/main" id="{DAFF2B19-B5C0-204F-9E27-F026B90FCBEC}"/>
              </a:ext>
            </a:extLst>
          </p:cNvPr>
          <p:cNvCxnSpPr/>
          <p:nvPr/>
        </p:nvCxnSpPr>
        <p:spPr>
          <a:xfrm>
            <a:off x="1918833" y="3145536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to 107">
            <a:extLst>
              <a:ext uri="{FF2B5EF4-FFF2-40B4-BE49-F238E27FC236}">
                <a16:creationId xmlns:a16="http://schemas.microsoft.com/office/drawing/2014/main" id="{E058E979-0418-46EA-F715-BD88504AE9A6}"/>
              </a:ext>
            </a:extLst>
          </p:cNvPr>
          <p:cNvCxnSpPr/>
          <p:nvPr/>
        </p:nvCxnSpPr>
        <p:spPr>
          <a:xfrm>
            <a:off x="4334921" y="3145536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to 108">
            <a:extLst>
              <a:ext uri="{FF2B5EF4-FFF2-40B4-BE49-F238E27FC236}">
                <a16:creationId xmlns:a16="http://schemas.microsoft.com/office/drawing/2014/main" id="{1756C148-E013-99F0-B161-AD996FF4C6AC}"/>
              </a:ext>
            </a:extLst>
          </p:cNvPr>
          <p:cNvCxnSpPr/>
          <p:nvPr/>
        </p:nvCxnSpPr>
        <p:spPr>
          <a:xfrm>
            <a:off x="6751009" y="3145536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to 109">
            <a:extLst>
              <a:ext uri="{FF2B5EF4-FFF2-40B4-BE49-F238E27FC236}">
                <a16:creationId xmlns:a16="http://schemas.microsoft.com/office/drawing/2014/main" id="{D4422491-2582-34A2-E2A3-1CB5116DCC3A}"/>
              </a:ext>
            </a:extLst>
          </p:cNvPr>
          <p:cNvCxnSpPr/>
          <p:nvPr/>
        </p:nvCxnSpPr>
        <p:spPr>
          <a:xfrm>
            <a:off x="9167097" y="3142488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to 110">
            <a:extLst>
              <a:ext uri="{FF2B5EF4-FFF2-40B4-BE49-F238E27FC236}">
                <a16:creationId xmlns:a16="http://schemas.microsoft.com/office/drawing/2014/main" id="{C8CAB7FD-5B53-693D-00A6-1D12A4FD69BB}"/>
              </a:ext>
            </a:extLst>
          </p:cNvPr>
          <p:cNvCxnSpPr/>
          <p:nvPr/>
        </p:nvCxnSpPr>
        <p:spPr>
          <a:xfrm>
            <a:off x="1918832" y="3431674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to 111">
            <a:extLst>
              <a:ext uri="{FF2B5EF4-FFF2-40B4-BE49-F238E27FC236}">
                <a16:creationId xmlns:a16="http://schemas.microsoft.com/office/drawing/2014/main" id="{9054D696-D939-9744-0296-EFD1A286F0B6}"/>
              </a:ext>
            </a:extLst>
          </p:cNvPr>
          <p:cNvCxnSpPr/>
          <p:nvPr/>
        </p:nvCxnSpPr>
        <p:spPr>
          <a:xfrm>
            <a:off x="4334920" y="3431674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to 112">
            <a:extLst>
              <a:ext uri="{FF2B5EF4-FFF2-40B4-BE49-F238E27FC236}">
                <a16:creationId xmlns:a16="http://schemas.microsoft.com/office/drawing/2014/main" id="{6A308CC7-E411-D59C-CA36-023C5043368C}"/>
              </a:ext>
            </a:extLst>
          </p:cNvPr>
          <p:cNvCxnSpPr/>
          <p:nvPr/>
        </p:nvCxnSpPr>
        <p:spPr>
          <a:xfrm>
            <a:off x="6751008" y="3431674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to 113">
            <a:extLst>
              <a:ext uri="{FF2B5EF4-FFF2-40B4-BE49-F238E27FC236}">
                <a16:creationId xmlns:a16="http://schemas.microsoft.com/office/drawing/2014/main" id="{0E8250FF-5A46-92FB-24DA-A5C2EFAB3403}"/>
              </a:ext>
            </a:extLst>
          </p:cNvPr>
          <p:cNvCxnSpPr/>
          <p:nvPr/>
        </p:nvCxnSpPr>
        <p:spPr>
          <a:xfrm>
            <a:off x="9167096" y="3428626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to 114">
            <a:extLst>
              <a:ext uri="{FF2B5EF4-FFF2-40B4-BE49-F238E27FC236}">
                <a16:creationId xmlns:a16="http://schemas.microsoft.com/office/drawing/2014/main" id="{B8602E23-B595-F3CA-1098-A693C73ABF40}"/>
              </a:ext>
            </a:extLst>
          </p:cNvPr>
          <p:cNvCxnSpPr/>
          <p:nvPr/>
        </p:nvCxnSpPr>
        <p:spPr>
          <a:xfrm>
            <a:off x="1918832" y="3980314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to 115">
            <a:extLst>
              <a:ext uri="{FF2B5EF4-FFF2-40B4-BE49-F238E27FC236}">
                <a16:creationId xmlns:a16="http://schemas.microsoft.com/office/drawing/2014/main" id="{A6989A1A-19B6-A500-B34A-E45D68E42619}"/>
              </a:ext>
            </a:extLst>
          </p:cNvPr>
          <p:cNvCxnSpPr/>
          <p:nvPr/>
        </p:nvCxnSpPr>
        <p:spPr>
          <a:xfrm>
            <a:off x="4334920" y="3980314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to 116">
            <a:extLst>
              <a:ext uri="{FF2B5EF4-FFF2-40B4-BE49-F238E27FC236}">
                <a16:creationId xmlns:a16="http://schemas.microsoft.com/office/drawing/2014/main" id="{D891B0BE-E050-B40A-D9C8-F35B9C934D1C}"/>
              </a:ext>
            </a:extLst>
          </p:cNvPr>
          <p:cNvCxnSpPr/>
          <p:nvPr/>
        </p:nvCxnSpPr>
        <p:spPr>
          <a:xfrm>
            <a:off x="6751008" y="3980314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to 117">
            <a:extLst>
              <a:ext uri="{FF2B5EF4-FFF2-40B4-BE49-F238E27FC236}">
                <a16:creationId xmlns:a16="http://schemas.microsoft.com/office/drawing/2014/main" id="{80AC5BE8-3C83-A35A-905C-5AEE28EB0B4F}"/>
              </a:ext>
            </a:extLst>
          </p:cNvPr>
          <p:cNvCxnSpPr/>
          <p:nvPr/>
        </p:nvCxnSpPr>
        <p:spPr>
          <a:xfrm>
            <a:off x="9167096" y="3977266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reto 118">
            <a:extLst>
              <a:ext uri="{FF2B5EF4-FFF2-40B4-BE49-F238E27FC236}">
                <a16:creationId xmlns:a16="http://schemas.microsoft.com/office/drawing/2014/main" id="{30B7FB92-AC5A-30F2-DB82-6D4F2B3AC54D}"/>
              </a:ext>
            </a:extLst>
          </p:cNvPr>
          <p:cNvCxnSpPr/>
          <p:nvPr/>
        </p:nvCxnSpPr>
        <p:spPr>
          <a:xfrm>
            <a:off x="1918832" y="4259781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to 119">
            <a:extLst>
              <a:ext uri="{FF2B5EF4-FFF2-40B4-BE49-F238E27FC236}">
                <a16:creationId xmlns:a16="http://schemas.microsoft.com/office/drawing/2014/main" id="{E3EFB7D0-7366-5827-F2EB-0FBCEC864762}"/>
              </a:ext>
            </a:extLst>
          </p:cNvPr>
          <p:cNvCxnSpPr/>
          <p:nvPr/>
        </p:nvCxnSpPr>
        <p:spPr>
          <a:xfrm>
            <a:off x="4334920" y="4259781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8B89D878-9F1D-EF40-2065-C8E1A143357D}"/>
              </a:ext>
            </a:extLst>
          </p:cNvPr>
          <p:cNvCxnSpPr/>
          <p:nvPr/>
        </p:nvCxnSpPr>
        <p:spPr>
          <a:xfrm>
            <a:off x="6751008" y="4259781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CCE4FF9E-EE0D-303B-8E95-164CA97028E0}"/>
              </a:ext>
            </a:extLst>
          </p:cNvPr>
          <p:cNvCxnSpPr/>
          <p:nvPr/>
        </p:nvCxnSpPr>
        <p:spPr>
          <a:xfrm>
            <a:off x="9167096" y="4256733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to 122">
            <a:extLst>
              <a:ext uri="{FF2B5EF4-FFF2-40B4-BE49-F238E27FC236}">
                <a16:creationId xmlns:a16="http://schemas.microsoft.com/office/drawing/2014/main" id="{05C13A27-5DEE-901F-0679-35806D2D51F4}"/>
              </a:ext>
            </a:extLst>
          </p:cNvPr>
          <p:cNvCxnSpPr/>
          <p:nvPr/>
        </p:nvCxnSpPr>
        <p:spPr>
          <a:xfrm>
            <a:off x="1918832" y="4808421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>
            <a:extLst>
              <a:ext uri="{FF2B5EF4-FFF2-40B4-BE49-F238E27FC236}">
                <a16:creationId xmlns:a16="http://schemas.microsoft.com/office/drawing/2014/main" id="{CC167874-F5DC-FAF6-50C2-17873F866EF3}"/>
              </a:ext>
            </a:extLst>
          </p:cNvPr>
          <p:cNvCxnSpPr/>
          <p:nvPr/>
        </p:nvCxnSpPr>
        <p:spPr>
          <a:xfrm>
            <a:off x="4334920" y="4808421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ector reto 124">
            <a:extLst>
              <a:ext uri="{FF2B5EF4-FFF2-40B4-BE49-F238E27FC236}">
                <a16:creationId xmlns:a16="http://schemas.microsoft.com/office/drawing/2014/main" id="{835D709C-8A90-38C4-FC7C-AB89C10D8C6B}"/>
              </a:ext>
            </a:extLst>
          </p:cNvPr>
          <p:cNvCxnSpPr/>
          <p:nvPr/>
        </p:nvCxnSpPr>
        <p:spPr>
          <a:xfrm>
            <a:off x="6751008" y="4808421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to 125">
            <a:extLst>
              <a:ext uri="{FF2B5EF4-FFF2-40B4-BE49-F238E27FC236}">
                <a16:creationId xmlns:a16="http://schemas.microsoft.com/office/drawing/2014/main" id="{FDC1B690-2283-8AA3-23A5-A7D34B8A1582}"/>
              </a:ext>
            </a:extLst>
          </p:cNvPr>
          <p:cNvCxnSpPr/>
          <p:nvPr/>
        </p:nvCxnSpPr>
        <p:spPr>
          <a:xfrm>
            <a:off x="9167096" y="4805373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ector reto 126">
            <a:extLst>
              <a:ext uri="{FF2B5EF4-FFF2-40B4-BE49-F238E27FC236}">
                <a16:creationId xmlns:a16="http://schemas.microsoft.com/office/drawing/2014/main" id="{CFF2C6B8-AA8C-7F53-4AA9-FC48B713FCE4}"/>
              </a:ext>
            </a:extLst>
          </p:cNvPr>
          <p:cNvCxnSpPr/>
          <p:nvPr/>
        </p:nvCxnSpPr>
        <p:spPr>
          <a:xfrm>
            <a:off x="1918832" y="5088837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80FB5C5A-2056-E66F-00F0-78BF4F1DCD57}"/>
              </a:ext>
            </a:extLst>
          </p:cNvPr>
          <p:cNvCxnSpPr/>
          <p:nvPr/>
        </p:nvCxnSpPr>
        <p:spPr>
          <a:xfrm>
            <a:off x="4334920" y="5088837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ector reto 128">
            <a:extLst>
              <a:ext uri="{FF2B5EF4-FFF2-40B4-BE49-F238E27FC236}">
                <a16:creationId xmlns:a16="http://schemas.microsoft.com/office/drawing/2014/main" id="{B6F6EF07-773D-BE12-24E4-23E615BBCD07}"/>
              </a:ext>
            </a:extLst>
          </p:cNvPr>
          <p:cNvCxnSpPr/>
          <p:nvPr/>
        </p:nvCxnSpPr>
        <p:spPr>
          <a:xfrm>
            <a:off x="6751008" y="5088837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reto 129">
            <a:extLst>
              <a:ext uri="{FF2B5EF4-FFF2-40B4-BE49-F238E27FC236}">
                <a16:creationId xmlns:a16="http://schemas.microsoft.com/office/drawing/2014/main" id="{86C9D866-5CBF-8BAF-0307-A723FD664A3C}"/>
              </a:ext>
            </a:extLst>
          </p:cNvPr>
          <p:cNvCxnSpPr/>
          <p:nvPr/>
        </p:nvCxnSpPr>
        <p:spPr>
          <a:xfrm>
            <a:off x="9167096" y="5085789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Shape 9">
            <a:extLst>
              <a:ext uri="{FF2B5EF4-FFF2-40B4-BE49-F238E27FC236}">
                <a16:creationId xmlns:a16="http://schemas.microsoft.com/office/drawing/2014/main" id="{AD1E0E4C-D703-86DD-639E-82D4B3027C93}"/>
              </a:ext>
            </a:extLst>
          </p:cNvPr>
          <p:cNvSpPr/>
          <p:nvPr/>
        </p:nvSpPr>
        <p:spPr>
          <a:xfrm>
            <a:off x="1835872" y="3162947"/>
            <a:ext cx="9996464" cy="259007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pt-BR" sz="2000" noProof="0">
              <a:latin typeface="Montserrat" pitchFamily="2" charset="0"/>
            </a:endParaRPr>
          </a:p>
        </p:txBody>
      </p:sp>
      <p:sp>
        <p:nvSpPr>
          <p:cNvPr id="138" name="Shape 9">
            <a:extLst>
              <a:ext uri="{FF2B5EF4-FFF2-40B4-BE49-F238E27FC236}">
                <a16:creationId xmlns:a16="http://schemas.microsoft.com/office/drawing/2014/main" id="{3C3CBC7B-BC4F-516B-F43A-6C0D4548C0A9}"/>
              </a:ext>
            </a:extLst>
          </p:cNvPr>
          <p:cNvSpPr/>
          <p:nvPr/>
        </p:nvSpPr>
        <p:spPr>
          <a:xfrm>
            <a:off x="1835872" y="3995078"/>
            <a:ext cx="9996464" cy="254908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pt-BR" sz="2000" noProof="0">
              <a:latin typeface="Montserrat" pitchFamily="2" charset="0"/>
            </a:endParaRPr>
          </a:p>
        </p:txBody>
      </p:sp>
      <p:sp>
        <p:nvSpPr>
          <p:cNvPr id="140" name="Shape 9">
            <a:extLst>
              <a:ext uri="{FF2B5EF4-FFF2-40B4-BE49-F238E27FC236}">
                <a16:creationId xmlns:a16="http://schemas.microsoft.com/office/drawing/2014/main" id="{BC16314D-D711-CA7E-E21B-A4B415F96AB3}"/>
              </a:ext>
            </a:extLst>
          </p:cNvPr>
          <p:cNvSpPr/>
          <p:nvPr/>
        </p:nvSpPr>
        <p:spPr>
          <a:xfrm>
            <a:off x="1709928" y="4820686"/>
            <a:ext cx="9996464" cy="259007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pt-BR" sz="2000" noProof="0">
              <a:latin typeface="Montserrat" pitchFamily="2" charset="0"/>
            </a:endParaRPr>
          </a:p>
        </p:txBody>
      </p:sp>
      <p:sp>
        <p:nvSpPr>
          <p:cNvPr id="144" name="Shape 9">
            <a:extLst>
              <a:ext uri="{FF2B5EF4-FFF2-40B4-BE49-F238E27FC236}">
                <a16:creationId xmlns:a16="http://schemas.microsoft.com/office/drawing/2014/main" id="{DF4197CB-58F0-0EA4-3A3C-52371DC38C35}"/>
              </a:ext>
            </a:extLst>
          </p:cNvPr>
          <p:cNvSpPr/>
          <p:nvPr/>
        </p:nvSpPr>
        <p:spPr>
          <a:xfrm>
            <a:off x="1559954" y="2324612"/>
            <a:ext cx="9996464" cy="259007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pt-BR" sz="2000" noProof="0">
              <a:latin typeface="Montserrat" pitchFamily="2" charset="0"/>
            </a:endParaRPr>
          </a:p>
        </p:txBody>
      </p:sp>
      <p:cxnSp>
        <p:nvCxnSpPr>
          <p:cNvPr id="145" name="Conector reto 144">
            <a:extLst>
              <a:ext uri="{FF2B5EF4-FFF2-40B4-BE49-F238E27FC236}">
                <a16:creationId xmlns:a16="http://schemas.microsoft.com/office/drawing/2014/main" id="{321F3A1A-289B-C8C3-A915-8BF1DDD755B0}"/>
              </a:ext>
            </a:extLst>
          </p:cNvPr>
          <p:cNvCxnSpPr/>
          <p:nvPr/>
        </p:nvCxnSpPr>
        <p:spPr>
          <a:xfrm>
            <a:off x="1918831" y="2324612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ector reto 145">
            <a:extLst>
              <a:ext uri="{FF2B5EF4-FFF2-40B4-BE49-F238E27FC236}">
                <a16:creationId xmlns:a16="http://schemas.microsoft.com/office/drawing/2014/main" id="{892E13A5-ECE3-325B-4853-CCA1BD1CA8DD}"/>
              </a:ext>
            </a:extLst>
          </p:cNvPr>
          <p:cNvCxnSpPr/>
          <p:nvPr/>
        </p:nvCxnSpPr>
        <p:spPr>
          <a:xfrm>
            <a:off x="4334919" y="2324612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ector reto 146">
            <a:extLst>
              <a:ext uri="{FF2B5EF4-FFF2-40B4-BE49-F238E27FC236}">
                <a16:creationId xmlns:a16="http://schemas.microsoft.com/office/drawing/2014/main" id="{FE3D9D04-D4A7-4B17-10FF-93DD15A8290B}"/>
              </a:ext>
            </a:extLst>
          </p:cNvPr>
          <p:cNvCxnSpPr/>
          <p:nvPr/>
        </p:nvCxnSpPr>
        <p:spPr>
          <a:xfrm>
            <a:off x="6751007" y="2324612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ector reto 147">
            <a:extLst>
              <a:ext uri="{FF2B5EF4-FFF2-40B4-BE49-F238E27FC236}">
                <a16:creationId xmlns:a16="http://schemas.microsoft.com/office/drawing/2014/main" id="{FCB032B3-7088-9106-0A25-6090AAEF56E2}"/>
              </a:ext>
            </a:extLst>
          </p:cNvPr>
          <p:cNvCxnSpPr/>
          <p:nvPr/>
        </p:nvCxnSpPr>
        <p:spPr>
          <a:xfrm>
            <a:off x="9167095" y="2321564"/>
            <a:ext cx="23331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 11">
            <a:extLst>
              <a:ext uri="{FF2B5EF4-FFF2-40B4-BE49-F238E27FC236}">
                <a16:creationId xmlns:a16="http://schemas.microsoft.com/office/drawing/2014/main" id="{18CA5505-1774-1ACA-C2E2-E8E4EDEE50D9}"/>
              </a:ext>
            </a:extLst>
          </p:cNvPr>
          <p:cNvSpPr/>
          <p:nvPr/>
        </p:nvSpPr>
        <p:spPr>
          <a:xfrm>
            <a:off x="1918831" y="2682816"/>
            <a:ext cx="2333127" cy="38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 2.277.841  </a:t>
            </a:r>
          </a:p>
          <a:p>
            <a:pPr marL="0" indent="0" algn="ctr">
              <a:buNone/>
            </a:pPr>
            <a:r>
              <a:rPr lang="pt-BR" sz="110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(5,1%)</a:t>
            </a:r>
          </a:p>
        </p:txBody>
      </p:sp>
      <p:sp>
        <p:nvSpPr>
          <p:cNvPr id="153" name="Text 11">
            <a:extLst>
              <a:ext uri="{FF2B5EF4-FFF2-40B4-BE49-F238E27FC236}">
                <a16:creationId xmlns:a16="http://schemas.microsoft.com/office/drawing/2014/main" id="{DA088DD0-3947-D98A-5AF8-76E05355529E}"/>
              </a:ext>
            </a:extLst>
          </p:cNvPr>
          <p:cNvSpPr/>
          <p:nvPr/>
        </p:nvSpPr>
        <p:spPr>
          <a:xfrm>
            <a:off x="4337656" y="2678143"/>
            <a:ext cx="2333127" cy="38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3.872.584 </a:t>
            </a:r>
          </a:p>
          <a:p>
            <a:pPr marL="0" indent="0" algn="ctr">
              <a:buNone/>
            </a:pPr>
            <a:r>
              <a:rPr lang="pt-BR" sz="110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(8,7%)</a:t>
            </a:r>
          </a:p>
        </p:txBody>
      </p:sp>
      <p:sp>
        <p:nvSpPr>
          <p:cNvPr id="155" name="Text 11">
            <a:extLst>
              <a:ext uri="{FF2B5EF4-FFF2-40B4-BE49-F238E27FC236}">
                <a16:creationId xmlns:a16="http://schemas.microsoft.com/office/drawing/2014/main" id="{4195B7AF-4CBA-3137-BB90-79BED282FB50}"/>
              </a:ext>
            </a:extLst>
          </p:cNvPr>
          <p:cNvSpPr/>
          <p:nvPr/>
        </p:nvSpPr>
        <p:spPr>
          <a:xfrm>
            <a:off x="6741198" y="2675158"/>
            <a:ext cx="2333127" cy="38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24.235.453 </a:t>
            </a:r>
          </a:p>
          <a:p>
            <a:pPr marL="0" indent="0" algn="ctr">
              <a:buNone/>
            </a:pPr>
            <a:r>
              <a:rPr lang="pt-BR" sz="110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(54,6%)</a:t>
            </a:r>
          </a:p>
        </p:txBody>
      </p:sp>
      <p:sp>
        <p:nvSpPr>
          <p:cNvPr id="157" name="Text 11">
            <a:extLst>
              <a:ext uri="{FF2B5EF4-FFF2-40B4-BE49-F238E27FC236}">
                <a16:creationId xmlns:a16="http://schemas.microsoft.com/office/drawing/2014/main" id="{4273B8B5-1747-6950-6C99-2B4B61B2853E}"/>
              </a:ext>
            </a:extLst>
          </p:cNvPr>
          <p:cNvSpPr/>
          <p:nvPr/>
        </p:nvSpPr>
        <p:spPr>
          <a:xfrm>
            <a:off x="9167094" y="2682477"/>
            <a:ext cx="2333127" cy="38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2.573.361 </a:t>
            </a:r>
          </a:p>
          <a:p>
            <a:pPr marL="0" indent="0" algn="ctr">
              <a:buNone/>
            </a:pPr>
            <a:r>
              <a:rPr lang="pt-BR" sz="110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(5,8%)</a:t>
            </a:r>
          </a:p>
        </p:txBody>
      </p:sp>
      <p:sp>
        <p:nvSpPr>
          <p:cNvPr id="159" name="Text 11">
            <a:extLst>
              <a:ext uri="{FF2B5EF4-FFF2-40B4-BE49-F238E27FC236}">
                <a16:creationId xmlns:a16="http://schemas.microsoft.com/office/drawing/2014/main" id="{73FFE125-D63C-446E-D364-CD0BE4E499FF}"/>
              </a:ext>
            </a:extLst>
          </p:cNvPr>
          <p:cNvSpPr/>
          <p:nvPr/>
        </p:nvSpPr>
        <p:spPr>
          <a:xfrm>
            <a:off x="1918831" y="3520216"/>
            <a:ext cx="2333127" cy="38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14.602</a:t>
            </a:r>
          </a:p>
        </p:txBody>
      </p:sp>
      <p:sp>
        <p:nvSpPr>
          <p:cNvPr id="161" name="Text 11">
            <a:extLst>
              <a:ext uri="{FF2B5EF4-FFF2-40B4-BE49-F238E27FC236}">
                <a16:creationId xmlns:a16="http://schemas.microsoft.com/office/drawing/2014/main" id="{8D303A67-68A2-92AC-A267-BC87CB16849D}"/>
              </a:ext>
            </a:extLst>
          </p:cNvPr>
          <p:cNvSpPr/>
          <p:nvPr/>
        </p:nvSpPr>
        <p:spPr>
          <a:xfrm>
            <a:off x="4337656" y="3515543"/>
            <a:ext cx="2333127" cy="38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16.409</a:t>
            </a:r>
          </a:p>
        </p:txBody>
      </p:sp>
      <p:sp>
        <p:nvSpPr>
          <p:cNvPr id="163" name="Text 11">
            <a:extLst>
              <a:ext uri="{FF2B5EF4-FFF2-40B4-BE49-F238E27FC236}">
                <a16:creationId xmlns:a16="http://schemas.microsoft.com/office/drawing/2014/main" id="{C3259BC4-2319-220A-F077-6553F33AFC51}"/>
              </a:ext>
            </a:extLst>
          </p:cNvPr>
          <p:cNvSpPr/>
          <p:nvPr/>
        </p:nvSpPr>
        <p:spPr>
          <a:xfrm>
            <a:off x="6741198" y="3512558"/>
            <a:ext cx="2333127" cy="38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134.641</a:t>
            </a:r>
          </a:p>
        </p:txBody>
      </p:sp>
      <p:sp>
        <p:nvSpPr>
          <p:cNvPr id="165" name="Text 11">
            <a:extLst>
              <a:ext uri="{FF2B5EF4-FFF2-40B4-BE49-F238E27FC236}">
                <a16:creationId xmlns:a16="http://schemas.microsoft.com/office/drawing/2014/main" id="{36794EC9-60F0-F5A6-22C9-A5EED0B9BA28}"/>
              </a:ext>
            </a:extLst>
          </p:cNvPr>
          <p:cNvSpPr/>
          <p:nvPr/>
        </p:nvSpPr>
        <p:spPr>
          <a:xfrm>
            <a:off x="9167094" y="3519877"/>
            <a:ext cx="2333127" cy="38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35.741</a:t>
            </a:r>
          </a:p>
        </p:txBody>
      </p:sp>
      <p:sp>
        <p:nvSpPr>
          <p:cNvPr id="167" name="Text 11">
            <a:extLst>
              <a:ext uri="{FF2B5EF4-FFF2-40B4-BE49-F238E27FC236}">
                <a16:creationId xmlns:a16="http://schemas.microsoft.com/office/drawing/2014/main" id="{E770CC1B-900E-2AE6-88EE-B07CB5DB6B4C}"/>
              </a:ext>
            </a:extLst>
          </p:cNvPr>
          <p:cNvSpPr/>
          <p:nvPr/>
        </p:nvSpPr>
        <p:spPr>
          <a:xfrm>
            <a:off x="1915259" y="4341909"/>
            <a:ext cx="2333127" cy="38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82.199.119.718 </a:t>
            </a:r>
          </a:p>
          <a:p>
            <a:pPr marL="0" indent="0" algn="ctr">
              <a:buNone/>
            </a:pPr>
            <a:r>
              <a:rPr lang="pt-BR" sz="110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(2,39%)</a:t>
            </a:r>
          </a:p>
        </p:txBody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6BD1BA55-7025-8543-3E89-0A4686D61F13}"/>
              </a:ext>
            </a:extLst>
          </p:cNvPr>
          <p:cNvSpPr/>
          <p:nvPr/>
        </p:nvSpPr>
        <p:spPr>
          <a:xfrm>
            <a:off x="4334084" y="4337236"/>
            <a:ext cx="2333127" cy="38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216.829.556.785 </a:t>
            </a:r>
          </a:p>
          <a:p>
            <a:pPr marL="0" indent="0" algn="ctr">
              <a:buNone/>
            </a:pPr>
            <a:r>
              <a:rPr lang="pt-BR" sz="110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(6,29%)</a:t>
            </a:r>
          </a:p>
        </p:txBody>
      </p:sp>
      <p:sp>
        <p:nvSpPr>
          <p:cNvPr id="171" name="Text 11">
            <a:extLst>
              <a:ext uri="{FF2B5EF4-FFF2-40B4-BE49-F238E27FC236}">
                <a16:creationId xmlns:a16="http://schemas.microsoft.com/office/drawing/2014/main" id="{6D2806AE-75B4-3EC1-FBD7-097CC0CEC369}"/>
              </a:ext>
            </a:extLst>
          </p:cNvPr>
          <p:cNvSpPr/>
          <p:nvPr/>
        </p:nvSpPr>
        <p:spPr>
          <a:xfrm>
            <a:off x="6737626" y="4334251"/>
            <a:ext cx="2333127" cy="38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1.860.265.769.453 </a:t>
            </a:r>
          </a:p>
          <a:p>
            <a:pPr marL="0" indent="0" algn="ctr">
              <a:buNone/>
            </a:pPr>
            <a:r>
              <a:rPr lang="pt-BR" sz="110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(54,00%)</a:t>
            </a:r>
          </a:p>
        </p:txBody>
      </p:sp>
      <p:sp>
        <p:nvSpPr>
          <p:cNvPr id="173" name="Text 11">
            <a:extLst>
              <a:ext uri="{FF2B5EF4-FFF2-40B4-BE49-F238E27FC236}">
                <a16:creationId xmlns:a16="http://schemas.microsoft.com/office/drawing/2014/main" id="{D7DC0734-F53A-580F-2FA8-F6AF4DC39199}"/>
              </a:ext>
            </a:extLst>
          </p:cNvPr>
          <p:cNvSpPr/>
          <p:nvPr/>
        </p:nvSpPr>
        <p:spPr>
          <a:xfrm>
            <a:off x="9163522" y="4341570"/>
            <a:ext cx="2333127" cy="38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218.694.482.004 </a:t>
            </a:r>
          </a:p>
          <a:p>
            <a:pPr marL="0" indent="0" algn="ctr">
              <a:buNone/>
            </a:pPr>
            <a:r>
              <a:rPr lang="pt-BR" sz="110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(6,35%)</a:t>
            </a:r>
          </a:p>
        </p:txBody>
      </p:sp>
      <p:sp>
        <p:nvSpPr>
          <p:cNvPr id="183" name="Text 11">
            <a:extLst>
              <a:ext uri="{FF2B5EF4-FFF2-40B4-BE49-F238E27FC236}">
                <a16:creationId xmlns:a16="http://schemas.microsoft.com/office/drawing/2014/main" id="{BA608514-7AE5-C84C-A0F0-315FD3107494}"/>
              </a:ext>
            </a:extLst>
          </p:cNvPr>
          <p:cNvSpPr/>
          <p:nvPr/>
        </p:nvSpPr>
        <p:spPr>
          <a:xfrm>
            <a:off x="1922407" y="5186646"/>
            <a:ext cx="2333127" cy="837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São José do Rio Preto </a:t>
            </a:r>
          </a:p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26 municípios </a:t>
            </a:r>
            <a:r>
              <a:rPr lang="pt-BR" sz="11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(16,7%)</a:t>
            </a:r>
          </a:p>
          <a:p>
            <a:pPr marL="0" indent="0" algn="ctr">
              <a:buNone/>
            </a:pPr>
            <a:endParaRPr lang="pt-BR" sz="500" noProof="0" dirty="0">
              <a:solidFill>
                <a:schemeClr val="bg1"/>
              </a:solidFill>
              <a:latin typeface="Montserrat" pitchFamily="2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Presidente Prudente </a:t>
            </a:r>
          </a:p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21 municípios </a:t>
            </a:r>
            <a:r>
              <a:rPr lang="pt-BR" sz="11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(13,5%)</a:t>
            </a:r>
          </a:p>
        </p:txBody>
      </p:sp>
      <p:sp>
        <p:nvSpPr>
          <p:cNvPr id="191" name="Text 11">
            <a:extLst>
              <a:ext uri="{FF2B5EF4-FFF2-40B4-BE49-F238E27FC236}">
                <a16:creationId xmlns:a16="http://schemas.microsoft.com/office/drawing/2014/main" id="{21C8F39F-0040-9416-7921-DE976DCE166C}"/>
              </a:ext>
            </a:extLst>
          </p:cNvPr>
          <p:cNvSpPr/>
          <p:nvPr/>
        </p:nvSpPr>
        <p:spPr>
          <a:xfrm>
            <a:off x="4376400" y="5188535"/>
            <a:ext cx="2333127" cy="837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São José do Rio Preto </a:t>
            </a:r>
          </a:p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48 municípios </a:t>
            </a:r>
            <a:r>
              <a:rPr lang="pt-BR" sz="11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(20,3%)</a:t>
            </a:r>
          </a:p>
          <a:p>
            <a:pPr marL="0" indent="0" algn="ctr">
              <a:buNone/>
            </a:pPr>
            <a:endParaRPr lang="pt-BR" sz="500" noProof="0" dirty="0">
              <a:solidFill>
                <a:schemeClr val="bg1"/>
              </a:solidFill>
              <a:latin typeface="Montserrat" pitchFamily="2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Araçatuba </a:t>
            </a:r>
          </a:p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26 municípios </a:t>
            </a:r>
            <a:r>
              <a:rPr lang="pt-BR" sz="11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(11,0%)</a:t>
            </a:r>
          </a:p>
        </p:txBody>
      </p:sp>
      <p:sp>
        <p:nvSpPr>
          <p:cNvPr id="193" name="Text 11">
            <a:extLst>
              <a:ext uri="{FF2B5EF4-FFF2-40B4-BE49-F238E27FC236}">
                <a16:creationId xmlns:a16="http://schemas.microsoft.com/office/drawing/2014/main" id="{205591FF-A43A-439C-7697-38BFC0C1114B}"/>
              </a:ext>
            </a:extLst>
          </p:cNvPr>
          <p:cNvSpPr/>
          <p:nvPr/>
        </p:nvSpPr>
        <p:spPr>
          <a:xfrm>
            <a:off x="6750838" y="5186057"/>
            <a:ext cx="2333127" cy="837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Campinas </a:t>
            </a:r>
          </a:p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46 municípios </a:t>
            </a:r>
            <a:r>
              <a:rPr lang="pt-BR" sz="11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(25,6%)</a:t>
            </a:r>
          </a:p>
          <a:p>
            <a:pPr marL="0" indent="0" algn="ctr">
              <a:buNone/>
            </a:pPr>
            <a:endParaRPr lang="pt-BR" sz="500" noProof="0" dirty="0">
              <a:solidFill>
                <a:schemeClr val="bg1"/>
              </a:solidFill>
              <a:latin typeface="Montserrat" pitchFamily="2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São Paulo </a:t>
            </a:r>
          </a:p>
          <a:p>
            <a:pPr marL="0" indent="0" algn="ctr">
              <a:buNone/>
            </a:pPr>
            <a:r>
              <a:rPr lang="pt-BR" sz="1100" b="1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22 municípios </a:t>
            </a: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/>
            </a:r>
            <a:r>
              <a:rPr lang="pt-BR" sz="11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/>
            </a:r>
            <a:r>
              <a:rPr lang="pt-BR" sz="110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/>
            </a:r>
            <a:r>
              <a:rPr lang="pt-BR" sz="11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(12,2%)</a:t>
            </a:r>
          </a:p>
        </p:txBody>
      </p:sp>
      <p:sp>
        <p:nvSpPr>
          <p:cNvPr id="195" name="Text 11">
            <a:extLst>
              <a:ext uri="{FF2B5EF4-FFF2-40B4-BE49-F238E27FC236}">
                <a16:creationId xmlns:a16="http://schemas.microsoft.com/office/drawing/2014/main" id="{5978993E-8F83-4E76-E16A-D90376D9067D}"/>
              </a:ext>
            </a:extLst>
          </p:cNvPr>
          <p:cNvSpPr/>
          <p:nvPr/>
        </p:nvSpPr>
        <p:spPr>
          <a:xfrm>
            <a:off x="9204831" y="5187946"/>
            <a:ext cx="2333127" cy="837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São José do Rio Preto </a:t>
            </a:r>
          </a:p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10 municípios </a:t>
            </a:r>
            <a:r>
              <a:rPr lang="pt-BR" sz="11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(13,9%)</a:t>
            </a:r>
          </a:p>
          <a:p>
            <a:pPr marL="0" indent="0" algn="ctr">
              <a:buNone/>
            </a:pPr>
            <a:endParaRPr lang="pt-BR" sz="500" noProof="0" dirty="0">
              <a:solidFill>
                <a:schemeClr val="bg1"/>
              </a:solidFill>
              <a:latin typeface="Montserrat" pitchFamily="2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Marília </a:t>
            </a:r>
          </a:p>
          <a:p>
            <a:pPr marL="0" indent="0" algn="ctr">
              <a:buNone/>
            </a:pPr>
            <a:r>
              <a:rPr lang="pt-BR" sz="1100" b="1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10 municípios </a:t>
            </a:r>
            <a:r>
              <a:rPr lang="pt-BR" sz="11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/>
            </a:r>
            <a:r>
              <a:rPr lang="pt-BR" sz="11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(13,9%)</a:t>
            </a:r>
          </a:p>
        </p:txBody>
      </p:sp>
    </p:spTree>
    <p:extLst>
      <p:ext uri="{BB962C8B-B14F-4D97-AF65-F5344CB8AC3E}">
        <p14:creationId xmlns:p14="http://schemas.microsoft.com/office/powerpoint/2010/main" val="2986412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1 - ÍNDICE DE ALINHAMENTO AO PERFIL (IAP)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Critério objetivo de ordenação dos municípios dentro de cada perfil</a:t>
            </a:r>
            <a:endParaRPr lang="pt-BR" sz="1250" noProof="0">
              <a:solidFill>
                <a:schemeClr val="bg1"/>
              </a:solidFill>
              <a:latin typeface="Montserrat" pitchFamily="2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C8E6D6D-8089-3162-7A4C-CC2A822D68B0}"/>
              </a:ext>
            </a:extLst>
          </p:cNvPr>
          <p:cNvGrpSpPr/>
          <p:nvPr/>
        </p:nvGrpSpPr>
        <p:grpSpPr>
          <a:xfrm>
            <a:off x="553040" y="2084832"/>
            <a:ext cx="5577840" cy="1165860"/>
            <a:chOff x="548640" y="1645920"/>
            <a:chExt cx="5577840" cy="1165860"/>
          </a:xfrm>
        </p:grpSpPr>
        <p:sp>
          <p:nvSpPr>
            <p:cNvPr id="11" name="Shape 8"/>
            <p:cNvSpPr/>
            <p:nvPr/>
          </p:nvSpPr>
          <p:spPr>
            <a:xfrm>
              <a:off x="548640" y="1645920"/>
              <a:ext cx="5577840" cy="1165860"/>
            </a:xfrm>
            <a:prstGeom prst="roundRect">
              <a:avLst>
                <a:gd name="adj" fmla="val 2791"/>
              </a:avLst>
            </a:prstGeom>
            <a:solidFill>
              <a:srgbClr val="1E1E1E"/>
            </a:solidFill>
            <a:ln w="12700">
              <a:solidFill>
                <a:srgbClr val="1E1E1E"/>
              </a:solidFill>
              <a:prstDash val="solid"/>
            </a:ln>
          </p:spPr>
          <p:txBody>
            <a:bodyPr/>
            <a:lstStyle/>
            <a:p>
              <a:endParaRPr lang="pt-BR" noProof="0">
                <a:latin typeface="Montserrat" pitchFamily="2" charset="0"/>
              </a:endParaRPr>
            </a:p>
          </p:txBody>
        </p:sp>
        <p:sp>
          <p:nvSpPr>
            <p:cNvPr id="12" name="Text 9"/>
            <p:cNvSpPr/>
            <p:nvPr/>
          </p:nvSpPr>
          <p:spPr>
            <a:xfrm>
              <a:off x="822960" y="1810512"/>
              <a:ext cx="4937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200" b="1" noProof="0" dirty="0">
                  <a:solidFill>
                    <a:srgbClr val="F99828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PERGUNTA QUE RESPONDE</a:t>
              </a:r>
              <a:endParaRPr lang="pt-BR" sz="1200" noProof="0" dirty="0">
                <a:latin typeface="Montserrat" pitchFamily="2" charset="0"/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822960" y="2249424"/>
              <a:ext cx="5029200" cy="4803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just">
                <a:lnSpc>
                  <a:spcPct val="100000"/>
                </a:lnSpc>
                <a:buNone/>
              </a:pPr>
              <a:r>
                <a:rPr lang="pt-BR" sz="1200" noProof="0" dirty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Qual município apresenta maior alinhamento às características esperadas do seu perfil?</a:t>
              </a:r>
              <a:endParaRPr lang="pt-BR" sz="1200" noProof="0" dirty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247C6E33-27B8-2EE9-E94E-76C0794D89FD}"/>
              </a:ext>
            </a:extLst>
          </p:cNvPr>
          <p:cNvGrpSpPr/>
          <p:nvPr/>
        </p:nvGrpSpPr>
        <p:grpSpPr>
          <a:xfrm>
            <a:off x="553040" y="3427534"/>
            <a:ext cx="5577840" cy="2519430"/>
            <a:chOff x="548640" y="3694176"/>
            <a:chExt cx="5577840" cy="2519430"/>
          </a:xfrm>
        </p:grpSpPr>
        <p:sp>
          <p:nvSpPr>
            <p:cNvPr id="14" name="Shape 11"/>
            <p:cNvSpPr/>
            <p:nvPr/>
          </p:nvSpPr>
          <p:spPr>
            <a:xfrm>
              <a:off x="548640" y="3694176"/>
              <a:ext cx="5577840" cy="2519430"/>
            </a:xfrm>
            <a:prstGeom prst="roundRect">
              <a:avLst>
                <a:gd name="adj" fmla="val 2308"/>
              </a:avLst>
            </a:prstGeom>
            <a:solidFill>
              <a:srgbClr val="1E1E1E"/>
            </a:solidFill>
            <a:ln w="12700">
              <a:solidFill>
                <a:srgbClr val="1E1E1E"/>
              </a:solidFill>
              <a:prstDash val="solid"/>
            </a:ln>
          </p:spPr>
          <p:txBody>
            <a:bodyPr/>
            <a:lstStyle/>
            <a:p>
              <a:endParaRPr lang="pt-BR" noProof="0">
                <a:latin typeface="Montserrat" pitchFamily="2" charset="0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832104" y="3887924"/>
              <a:ext cx="4937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200" b="1" noProof="0">
                  <a:solidFill>
                    <a:srgbClr val="F99828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O QUE O ÍNDICE MEDE — E O QUE NÃO MEDE</a:t>
              </a:r>
              <a:endParaRPr lang="pt-BR" sz="1200" noProof="0">
                <a:latin typeface="Montserrat" pitchFamily="2" charset="0"/>
              </a:endParaRPr>
            </a:p>
          </p:txBody>
        </p:sp>
        <p:sp>
          <p:nvSpPr>
            <p:cNvPr id="16" name="Text 13"/>
            <p:cNvSpPr/>
            <p:nvPr/>
          </p:nvSpPr>
          <p:spPr>
            <a:xfrm>
              <a:off x="822960" y="4339086"/>
              <a:ext cx="5029200" cy="1783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just">
                <a:lnSpc>
                  <a:spcPct val="105000"/>
                </a:lnSpc>
                <a:spcAft>
                  <a:spcPts val="500"/>
                </a:spcAft>
                <a:buSzPct val="100000"/>
                <a:buChar char="▪"/>
              </a:pPr>
              <a:r>
                <a:rPr lang="pt-BR" sz="120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Mede o grau de </a:t>
              </a:r>
              <a:r>
                <a:rPr lang="pt-BR" sz="12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alinhamento do município às características predominantes do perfil </a:t>
              </a:r>
              <a:r>
                <a:rPr lang="pt-BR" sz="120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ao qual foi classificado.</a:t>
              </a:r>
              <a:endParaRPr lang="pt-BR" sz="1200" noProof="0">
                <a:solidFill>
                  <a:schemeClr val="bg1"/>
                </a:solidFill>
                <a:latin typeface="Montserrat" pitchFamily="2" charset="0"/>
              </a:endParaRPr>
            </a:p>
            <a:p>
              <a:pPr marL="342900" indent="-342900" algn="just">
                <a:lnSpc>
                  <a:spcPct val="105000"/>
                </a:lnSpc>
                <a:spcAft>
                  <a:spcPts val="500"/>
                </a:spcAft>
                <a:buSzPct val="100000"/>
                <a:buChar char="▪"/>
              </a:pPr>
              <a:r>
                <a:rPr lang="pt-BR" sz="120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Quanto maior o IAP, mais o município expressa o padrão típico do seu agrupamento.</a:t>
              </a:r>
              <a:endParaRPr lang="pt-BR" sz="1200" noProof="0">
                <a:solidFill>
                  <a:schemeClr val="bg1"/>
                </a:solidFill>
                <a:latin typeface="Montserrat" pitchFamily="2" charset="0"/>
              </a:endParaRPr>
            </a:p>
            <a:p>
              <a:pPr marL="342900" indent="-342900" algn="just">
                <a:lnSpc>
                  <a:spcPct val="105000"/>
                </a:lnSpc>
                <a:spcAft>
                  <a:spcPts val="500"/>
                </a:spcAft>
                <a:buSzPct val="100000"/>
                <a:buChar char="▪"/>
              </a:pPr>
              <a:r>
                <a:rPr lang="pt-BR" sz="120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Não é comparável entre perfis distintos: a ordenação é sempre </a:t>
              </a:r>
              <a:r>
                <a:rPr lang="pt-BR" sz="1200" noProof="0" err="1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intraperfil</a:t>
              </a:r>
              <a:r>
                <a:rPr lang="pt-BR" sz="120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.</a:t>
              </a:r>
              <a:endParaRPr lang="pt-BR" sz="120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  <p:sp>
        <p:nvSpPr>
          <p:cNvPr id="17" name="Shape 14"/>
          <p:cNvSpPr/>
          <p:nvPr/>
        </p:nvSpPr>
        <p:spPr>
          <a:xfrm>
            <a:off x="6355080" y="1645919"/>
            <a:ext cx="5285232" cy="4565099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629400" y="18105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COMO É CONSTRUÍDO</a:t>
            </a:r>
            <a:endParaRPr lang="pt-BR" sz="1200" noProof="0">
              <a:solidFill>
                <a:srgbClr val="F99828"/>
              </a:solidFill>
              <a:latin typeface="Montserrat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629400" y="2189616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 índice combina os três eixos do município, atribuindo a cada eixo o sinal correspondente à </a:t>
            </a:r>
            <a:r>
              <a:rPr lang="pt-BR" sz="11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característica predominante do perfil</a:t>
            </a:r>
            <a:r>
              <a:rPr lang="pt-BR" sz="1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 Eixos cuja característica predominante é superior à média entram com sinal positivo; inferiores à média, com sinal negativo.</a:t>
            </a:r>
            <a:endParaRPr lang="pt-BR" sz="1100" noProof="0">
              <a:solidFill>
                <a:schemeClr val="bg1"/>
              </a:solidFill>
              <a:latin typeface="Montserrat" pitchFamily="2" charset="0"/>
            </a:endParaRPr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593001"/>
              </p:ext>
            </p:extLst>
          </p:nvPr>
        </p:nvGraphicFramePr>
        <p:xfrm>
          <a:off x="6629400" y="3151282"/>
          <a:ext cx="4786713" cy="1920240"/>
        </p:xfrm>
        <a:graphic>
          <a:graphicData uri="http://schemas.openxmlformats.org/drawingml/2006/table">
            <a:tbl>
              <a:tblPr/>
              <a:tblGrid>
                <a:gridCol w="1608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PERFIL</a:t>
                      </a:r>
                      <a:endParaRPr lang="pt-BR" sz="12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/>
                          <a:ea typeface="Arial" charset="0"/>
                          <a:cs typeface="Arial"/>
                        </a:rPr>
                        <a:t>CFI</a:t>
                      </a:r>
                      <a:endParaRPr lang="pt-BR" sz="12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IMD</a:t>
                      </a:r>
                      <a:endParaRPr lang="pt-BR" sz="12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CSE</a:t>
                      </a:r>
                      <a:endParaRPr lang="pt-BR" sz="12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charset="0"/>
                          <a:cs typeface="Arial" pitchFamily="34" charset="-120"/>
                        </a:rPr>
                        <a:t>A</a:t>
                      </a:r>
                      <a:endParaRPr lang="pt-BR" sz="140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FF000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−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FF000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−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FF000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−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7283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charset="0"/>
                          <a:cs typeface="Arial" pitchFamily="34" charset="-120"/>
                        </a:rPr>
                        <a:t>B</a:t>
                      </a:r>
                      <a:endParaRPr lang="pt-BR" sz="140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00B05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FF000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−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FF000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−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44177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pt-BR" sz="140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FF000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−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00B05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00B05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pt-BR" sz="140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00B05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00B05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00B05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6798564" y="5408653"/>
            <a:ext cx="44942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Cada eixo contribui positivamente quando o município apresenta comportamento </a:t>
            </a:r>
            <a:r>
              <a:rPr lang="pt-BR" sz="11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compatível com o padrão do perfil</a:t>
            </a:r>
            <a:r>
              <a:rPr lang="pt-BR" sz="1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 A ordenação é decrescente dentro de cada agrupamento.</a:t>
            </a:r>
            <a:endParaRPr lang="pt-BR" sz="11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51BE13E3-2B9B-00C3-22AF-CBB397120BFD}"/>
              </a:ext>
            </a:extLst>
          </p:cNvPr>
          <p:cNvSpPr/>
          <p:nvPr/>
        </p:nvSpPr>
        <p:spPr>
          <a:xfrm>
            <a:off x="6629400" y="5310205"/>
            <a:ext cx="4786712" cy="750066"/>
          </a:xfrm>
          <a:prstGeom prst="roundRect">
            <a:avLst>
              <a:gd name="adj" fmla="val 10897"/>
            </a:avLst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ORDENAÇÃO RESULTANTE DENTRO DE CADA PERFIL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Cinco primeiros colocados por perfil, segundo o Índice de Alinhamento ao Perfil</a:t>
            </a:r>
            <a:endParaRPr lang="pt-BR" sz="1250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E29AEC47-3C1B-F32F-E840-592D9A36D585}"/>
              </a:ext>
            </a:extLst>
          </p:cNvPr>
          <p:cNvGrpSpPr/>
          <p:nvPr/>
        </p:nvGrpSpPr>
        <p:grpSpPr>
          <a:xfrm>
            <a:off x="6122336" y="1691640"/>
            <a:ext cx="2670048" cy="3520440"/>
            <a:chOff x="548640" y="1691640"/>
            <a:chExt cx="2670048" cy="3520440"/>
          </a:xfrm>
        </p:grpSpPr>
        <p:sp>
          <p:nvSpPr>
            <p:cNvPr id="11" name="Shape 8"/>
            <p:cNvSpPr/>
            <p:nvPr/>
          </p:nvSpPr>
          <p:spPr>
            <a:xfrm>
              <a:off x="548640" y="1691640"/>
              <a:ext cx="2670048" cy="3520440"/>
            </a:xfrm>
            <a:prstGeom prst="roundRect">
              <a:avLst>
                <a:gd name="adj" fmla="val 2055"/>
              </a:avLst>
            </a:prstGeom>
            <a:solidFill>
              <a:srgbClr val="1E1E1E"/>
            </a:solidFill>
            <a:ln w="12700">
              <a:solidFill>
                <a:srgbClr val="1E1E1E"/>
              </a:solidFill>
              <a:prstDash val="solid"/>
            </a:ln>
          </p:spPr>
          <p:txBody>
            <a:bodyPr/>
            <a:lstStyle/>
            <a:p>
              <a:endParaRPr lang="pt-BR" noProof="0">
                <a:latin typeface="Montserrat" pitchFamily="2" charset="0"/>
              </a:endParaRPr>
            </a:p>
          </p:txBody>
        </p:sp>
        <p:sp>
          <p:nvSpPr>
            <p:cNvPr id="12" name="Shape 9"/>
            <p:cNvSpPr/>
            <p:nvPr/>
          </p:nvSpPr>
          <p:spPr>
            <a:xfrm>
              <a:off x="770168" y="1901952"/>
              <a:ext cx="256032" cy="256032"/>
            </a:xfrm>
            <a:prstGeom prst="rect">
              <a:avLst/>
            </a:prstGeom>
            <a:gradFill flip="none" rotWithShape="1">
              <a:gsLst>
                <a:gs pos="0">
                  <a:srgbClr val="4496CD">
                    <a:shade val="30000"/>
                    <a:satMod val="115000"/>
                  </a:srgbClr>
                </a:gs>
                <a:gs pos="50000">
                  <a:srgbClr val="4496CD">
                    <a:shade val="67500"/>
                    <a:satMod val="115000"/>
                  </a:srgbClr>
                </a:gs>
                <a:gs pos="100000">
                  <a:srgbClr val="4496CD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12700">
              <a:noFill/>
              <a:prstDash val="solid"/>
            </a:ln>
          </p:spPr>
          <p:txBody>
            <a:bodyPr/>
            <a:lstStyle/>
            <a:p>
              <a:endParaRPr lang="pt-BR" sz="2000" noProof="0">
                <a:latin typeface="Montserrat" pitchFamily="2" charset="0"/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1135928" y="1883664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200" b="1" noProof="0">
                  <a:solidFill>
                    <a:srgbClr val="FFFFFF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PERFIL C</a:t>
              </a:r>
              <a:endParaRPr lang="pt-BR" sz="1200" noProof="0">
                <a:latin typeface="Montserrat" pitchFamily="2" charset="0"/>
              </a:endParaRPr>
            </a:p>
          </p:txBody>
        </p:sp>
        <p:sp>
          <p:nvSpPr>
            <p:cNvPr id="14" name="Text 11"/>
            <p:cNvSpPr/>
            <p:nvPr/>
          </p:nvSpPr>
          <p:spPr>
            <a:xfrm>
              <a:off x="766024" y="2363634"/>
              <a:ext cx="15544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0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MUNICÍPIO</a:t>
              </a:r>
              <a:endParaRPr lang="pt-BR" sz="10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2697480" y="2363634"/>
              <a:ext cx="30175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pt-BR" sz="10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IAP</a:t>
              </a:r>
              <a:endParaRPr lang="pt-BR" sz="10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16" name="Text 13"/>
            <p:cNvSpPr/>
            <p:nvPr/>
          </p:nvSpPr>
          <p:spPr>
            <a:xfrm>
              <a:off x="804672" y="2628292"/>
              <a:ext cx="219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1.</a:t>
              </a:r>
              <a:endParaRPr lang="pt-BR" sz="9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17" name="Text 14"/>
            <p:cNvSpPr/>
            <p:nvPr/>
          </p:nvSpPr>
          <p:spPr>
            <a:xfrm>
              <a:off x="1051560" y="2628292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5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Sorocaba</a:t>
              </a:r>
              <a:endParaRPr lang="pt-BR" sz="95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18" name="Text 15"/>
            <p:cNvSpPr/>
            <p:nvPr/>
          </p:nvSpPr>
          <p:spPr>
            <a:xfrm>
              <a:off x="2359152" y="2628292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950" b="1" noProof="0">
                  <a:solidFill>
                    <a:srgbClr val="4496CD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1,939</a:t>
              </a:r>
              <a:endParaRPr lang="pt-BR" sz="950" noProof="0">
                <a:latin typeface="Montserrat" pitchFamily="2" charset="0"/>
              </a:endParaRPr>
            </a:p>
          </p:txBody>
        </p:sp>
        <p:sp>
          <p:nvSpPr>
            <p:cNvPr id="19" name="Text 16"/>
            <p:cNvSpPr/>
            <p:nvPr/>
          </p:nvSpPr>
          <p:spPr>
            <a:xfrm>
              <a:off x="804672" y="3103780"/>
              <a:ext cx="219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2.</a:t>
              </a:r>
              <a:endParaRPr lang="pt-BR" sz="9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20" name="Text 17"/>
            <p:cNvSpPr/>
            <p:nvPr/>
          </p:nvSpPr>
          <p:spPr>
            <a:xfrm>
              <a:off x="1051560" y="3103780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5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São Caetano do Sul</a:t>
              </a:r>
              <a:endParaRPr lang="pt-BR" sz="95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21" name="Text 18"/>
            <p:cNvSpPr/>
            <p:nvPr/>
          </p:nvSpPr>
          <p:spPr>
            <a:xfrm>
              <a:off x="2359152" y="310378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950" b="1" noProof="0">
                  <a:solidFill>
                    <a:srgbClr val="4496CD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1,646</a:t>
              </a:r>
              <a:endParaRPr lang="pt-BR" sz="950" noProof="0">
                <a:latin typeface="Montserrat" pitchFamily="2" charset="0"/>
              </a:endParaRPr>
            </a:p>
          </p:txBody>
        </p:sp>
        <p:sp>
          <p:nvSpPr>
            <p:cNvPr id="22" name="Text 19"/>
            <p:cNvSpPr/>
            <p:nvPr/>
          </p:nvSpPr>
          <p:spPr>
            <a:xfrm>
              <a:off x="804672" y="3579268"/>
              <a:ext cx="219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3.</a:t>
              </a:r>
              <a:endParaRPr lang="pt-BR" sz="9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23" name="Text 20"/>
            <p:cNvSpPr/>
            <p:nvPr/>
          </p:nvSpPr>
          <p:spPr>
            <a:xfrm>
              <a:off x="1051560" y="3579268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5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Araras</a:t>
              </a:r>
              <a:endParaRPr lang="pt-BR" sz="95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24" name="Text 21"/>
            <p:cNvSpPr/>
            <p:nvPr/>
          </p:nvSpPr>
          <p:spPr>
            <a:xfrm>
              <a:off x="2359152" y="3579268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950" b="1" noProof="0">
                  <a:solidFill>
                    <a:srgbClr val="4496CD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1,635</a:t>
              </a:r>
              <a:endParaRPr lang="pt-BR" sz="950" noProof="0">
                <a:latin typeface="Montserrat" pitchFamily="2" charset="0"/>
              </a:endParaRPr>
            </a:p>
          </p:txBody>
        </p:sp>
        <p:sp>
          <p:nvSpPr>
            <p:cNvPr id="25" name="Text 22"/>
            <p:cNvSpPr/>
            <p:nvPr/>
          </p:nvSpPr>
          <p:spPr>
            <a:xfrm>
              <a:off x="804672" y="4054756"/>
              <a:ext cx="219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4.</a:t>
              </a:r>
              <a:endParaRPr lang="pt-BR" sz="9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26" name="Text 23"/>
            <p:cNvSpPr/>
            <p:nvPr/>
          </p:nvSpPr>
          <p:spPr>
            <a:xfrm>
              <a:off x="1051560" y="4054756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5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Ilhabela</a:t>
              </a:r>
              <a:endParaRPr lang="pt-BR" sz="95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27" name="Text 24"/>
            <p:cNvSpPr/>
            <p:nvPr/>
          </p:nvSpPr>
          <p:spPr>
            <a:xfrm>
              <a:off x="2359152" y="4054756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950" b="1" noProof="0">
                  <a:solidFill>
                    <a:srgbClr val="4496CD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1,626</a:t>
              </a:r>
              <a:endParaRPr lang="pt-BR" sz="950" noProof="0">
                <a:latin typeface="Montserrat" pitchFamily="2" charset="0"/>
              </a:endParaRPr>
            </a:p>
          </p:txBody>
        </p:sp>
        <p:sp>
          <p:nvSpPr>
            <p:cNvPr id="28" name="Text 25"/>
            <p:cNvSpPr/>
            <p:nvPr/>
          </p:nvSpPr>
          <p:spPr>
            <a:xfrm>
              <a:off x="804672" y="4530244"/>
              <a:ext cx="219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5.</a:t>
              </a:r>
              <a:endParaRPr lang="pt-BR" sz="9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29" name="Text 26"/>
            <p:cNvSpPr/>
            <p:nvPr/>
          </p:nvSpPr>
          <p:spPr>
            <a:xfrm>
              <a:off x="1051560" y="4530244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5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Águas de São Pedro</a:t>
              </a:r>
              <a:endParaRPr lang="pt-BR" sz="95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30" name="Text 27"/>
            <p:cNvSpPr/>
            <p:nvPr/>
          </p:nvSpPr>
          <p:spPr>
            <a:xfrm>
              <a:off x="2359152" y="4530244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950" b="1" noProof="0">
                  <a:solidFill>
                    <a:srgbClr val="4496CD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1,507</a:t>
              </a:r>
              <a:endParaRPr lang="pt-BR" sz="950" noProof="0">
                <a:latin typeface="Montserrat" pitchFamily="2" charset="0"/>
              </a:endParaRP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2B55C751-EDCD-071C-38CA-FA62C56E6E9A}"/>
              </a:ext>
            </a:extLst>
          </p:cNvPr>
          <p:cNvGrpSpPr/>
          <p:nvPr/>
        </p:nvGrpSpPr>
        <p:grpSpPr>
          <a:xfrm>
            <a:off x="548640" y="1691640"/>
            <a:ext cx="2670048" cy="3520440"/>
            <a:chOff x="3337560" y="1691640"/>
            <a:chExt cx="2670048" cy="3520440"/>
          </a:xfrm>
        </p:grpSpPr>
        <p:sp>
          <p:nvSpPr>
            <p:cNvPr id="31" name="Shape 28"/>
            <p:cNvSpPr/>
            <p:nvPr/>
          </p:nvSpPr>
          <p:spPr>
            <a:xfrm>
              <a:off x="3337560" y="1691640"/>
              <a:ext cx="2670048" cy="3520440"/>
            </a:xfrm>
            <a:prstGeom prst="roundRect">
              <a:avLst>
                <a:gd name="adj" fmla="val 2055"/>
              </a:avLst>
            </a:prstGeom>
            <a:solidFill>
              <a:srgbClr val="1E1E1E"/>
            </a:solidFill>
            <a:ln w="12700">
              <a:solidFill>
                <a:srgbClr val="1E1E1E"/>
              </a:solidFill>
              <a:prstDash val="solid"/>
            </a:ln>
          </p:spPr>
          <p:txBody>
            <a:bodyPr/>
            <a:lstStyle/>
            <a:p>
              <a:endParaRPr lang="pt-BR" noProof="0">
                <a:latin typeface="Montserrat" pitchFamily="2" charset="0"/>
              </a:endParaRPr>
            </a:p>
          </p:txBody>
        </p:sp>
        <p:sp>
          <p:nvSpPr>
            <p:cNvPr id="32" name="Shape 29"/>
            <p:cNvSpPr/>
            <p:nvPr/>
          </p:nvSpPr>
          <p:spPr>
            <a:xfrm>
              <a:off x="3559088" y="1901952"/>
              <a:ext cx="256032" cy="256032"/>
            </a:xfrm>
            <a:prstGeom prst="rect">
              <a:avLst/>
            </a:prstGeom>
            <a:gradFill flip="none" rotWithShape="1">
              <a:gsLst>
                <a:gs pos="0">
                  <a:srgbClr val="F99828">
                    <a:shade val="30000"/>
                    <a:satMod val="115000"/>
                  </a:srgbClr>
                </a:gs>
                <a:gs pos="50000">
                  <a:srgbClr val="F99828">
                    <a:shade val="67500"/>
                    <a:satMod val="115000"/>
                  </a:srgbClr>
                </a:gs>
                <a:gs pos="100000">
                  <a:srgbClr val="F9982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12700">
              <a:noFill/>
              <a:prstDash val="solid"/>
            </a:ln>
          </p:spPr>
          <p:txBody>
            <a:bodyPr/>
            <a:lstStyle/>
            <a:p>
              <a:endParaRPr lang="pt-BR" sz="2000" noProof="0">
                <a:latin typeface="Montserrat" pitchFamily="2" charset="0"/>
              </a:endParaRPr>
            </a:p>
          </p:txBody>
        </p:sp>
        <p:sp>
          <p:nvSpPr>
            <p:cNvPr id="33" name="Text 30"/>
            <p:cNvSpPr/>
            <p:nvPr/>
          </p:nvSpPr>
          <p:spPr>
            <a:xfrm>
              <a:off x="3924848" y="1883664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200" b="1" noProof="0">
                  <a:solidFill>
                    <a:srgbClr val="FFFFFF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PERFIL A</a:t>
              </a:r>
              <a:endParaRPr lang="pt-BR" sz="1200" noProof="0">
                <a:latin typeface="Montserrat" pitchFamily="2" charset="0"/>
              </a:endParaRPr>
            </a:p>
          </p:txBody>
        </p:sp>
        <p:sp>
          <p:nvSpPr>
            <p:cNvPr id="34" name="Text 31"/>
            <p:cNvSpPr/>
            <p:nvPr/>
          </p:nvSpPr>
          <p:spPr>
            <a:xfrm>
              <a:off x="3559088" y="2357767"/>
              <a:ext cx="15544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0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MUNICÍPIO</a:t>
              </a:r>
              <a:endParaRPr lang="pt-BR" sz="10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35" name="Text 32"/>
            <p:cNvSpPr/>
            <p:nvPr/>
          </p:nvSpPr>
          <p:spPr>
            <a:xfrm>
              <a:off x="5486400" y="2363634"/>
              <a:ext cx="30175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pt-BR" sz="10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IAP</a:t>
              </a:r>
              <a:endParaRPr lang="pt-BR" sz="10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36" name="Text 33"/>
            <p:cNvSpPr/>
            <p:nvPr/>
          </p:nvSpPr>
          <p:spPr>
            <a:xfrm>
              <a:off x="3593592" y="2628292"/>
              <a:ext cx="219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1.</a:t>
              </a:r>
              <a:endParaRPr lang="pt-BR" sz="9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37" name="Text 34"/>
            <p:cNvSpPr/>
            <p:nvPr/>
          </p:nvSpPr>
          <p:spPr>
            <a:xfrm>
              <a:off x="3840480" y="2628292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5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Cananéia</a:t>
              </a:r>
              <a:endParaRPr lang="pt-BR" sz="95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38" name="Text 35"/>
            <p:cNvSpPr/>
            <p:nvPr/>
          </p:nvSpPr>
          <p:spPr>
            <a:xfrm>
              <a:off x="5148072" y="2628292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950" b="1" noProof="0">
                  <a:solidFill>
                    <a:srgbClr val="F99828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1,712</a:t>
              </a:r>
              <a:endParaRPr lang="pt-BR" sz="950" noProof="0">
                <a:latin typeface="Montserrat" pitchFamily="2" charset="0"/>
              </a:endParaRPr>
            </a:p>
          </p:txBody>
        </p:sp>
        <p:sp>
          <p:nvSpPr>
            <p:cNvPr id="39" name="Text 36"/>
            <p:cNvSpPr/>
            <p:nvPr/>
          </p:nvSpPr>
          <p:spPr>
            <a:xfrm>
              <a:off x="3593592" y="3103780"/>
              <a:ext cx="219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2.</a:t>
              </a:r>
              <a:endParaRPr lang="pt-BR" sz="9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40" name="Text 37"/>
            <p:cNvSpPr/>
            <p:nvPr/>
          </p:nvSpPr>
          <p:spPr>
            <a:xfrm>
              <a:off x="3840480" y="3103780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5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Caiuá</a:t>
              </a:r>
              <a:endParaRPr lang="pt-BR" sz="95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41" name="Text 38"/>
            <p:cNvSpPr/>
            <p:nvPr/>
          </p:nvSpPr>
          <p:spPr>
            <a:xfrm>
              <a:off x="5148072" y="310378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950" b="1" noProof="0">
                  <a:solidFill>
                    <a:srgbClr val="F99828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1,687</a:t>
              </a:r>
              <a:endParaRPr lang="pt-BR" sz="950" noProof="0">
                <a:latin typeface="Montserrat" pitchFamily="2" charset="0"/>
              </a:endParaRPr>
            </a:p>
          </p:txBody>
        </p:sp>
        <p:sp>
          <p:nvSpPr>
            <p:cNvPr id="42" name="Text 39"/>
            <p:cNvSpPr/>
            <p:nvPr/>
          </p:nvSpPr>
          <p:spPr>
            <a:xfrm>
              <a:off x="3593592" y="3579268"/>
              <a:ext cx="219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3.</a:t>
              </a:r>
              <a:endParaRPr lang="pt-BR" sz="9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43" name="Text 40"/>
            <p:cNvSpPr/>
            <p:nvPr/>
          </p:nvSpPr>
          <p:spPr>
            <a:xfrm>
              <a:off x="3840480" y="3579268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50" noProof="0" err="1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Guapiara</a:t>
              </a:r>
              <a:endParaRPr lang="pt-BR" sz="95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44" name="Text 41"/>
            <p:cNvSpPr/>
            <p:nvPr/>
          </p:nvSpPr>
          <p:spPr>
            <a:xfrm>
              <a:off x="5148072" y="3579268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950" b="1" noProof="0">
                  <a:solidFill>
                    <a:srgbClr val="F99828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1,680</a:t>
              </a:r>
              <a:endParaRPr lang="pt-BR" sz="950" noProof="0">
                <a:latin typeface="Montserrat" pitchFamily="2" charset="0"/>
              </a:endParaRPr>
            </a:p>
          </p:txBody>
        </p:sp>
        <p:sp>
          <p:nvSpPr>
            <p:cNvPr id="45" name="Text 42"/>
            <p:cNvSpPr/>
            <p:nvPr/>
          </p:nvSpPr>
          <p:spPr>
            <a:xfrm>
              <a:off x="3593592" y="4054756"/>
              <a:ext cx="219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4.</a:t>
              </a:r>
              <a:endParaRPr lang="pt-BR" sz="9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46" name="Text 43"/>
            <p:cNvSpPr/>
            <p:nvPr/>
          </p:nvSpPr>
          <p:spPr>
            <a:xfrm>
              <a:off x="3840480" y="4054756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5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Marabá Paulista</a:t>
              </a:r>
              <a:endParaRPr lang="pt-BR" sz="95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47" name="Text 44"/>
            <p:cNvSpPr/>
            <p:nvPr/>
          </p:nvSpPr>
          <p:spPr>
            <a:xfrm>
              <a:off x="5148072" y="4054756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950" b="1" noProof="0">
                  <a:solidFill>
                    <a:srgbClr val="F99828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1,641</a:t>
              </a:r>
              <a:endParaRPr lang="pt-BR" sz="950" noProof="0">
                <a:latin typeface="Montserrat" pitchFamily="2" charset="0"/>
              </a:endParaRPr>
            </a:p>
          </p:txBody>
        </p:sp>
        <p:sp>
          <p:nvSpPr>
            <p:cNvPr id="48" name="Text 45"/>
            <p:cNvSpPr/>
            <p:nvPr/>
          </p:nvSpPr>
          <p:spPr>
            <a:xfrm>
              <a:off x="3593592" y="4530244"/>
              <a:ext cx="219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5.</a:t>
              </a:r>
              <a:endParaRPr lang="pt-BR" sz="9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49" name="Text 46"/>
            <p:cNvSpPr/>
            <p:nvPr/>
          </p:nvSpPr>
          <p:spPr>
            <a:xfrm>
              <a:off x="3840480" y="4530244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5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Júlio Mesquita</a:t>
              </a:r>
              <a:endParaRPr lang="pt-BR" sz="95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50" name="Text 47"/>
            <p:cNvSpPr/>
            <p:nvPr/>
          </p:nvSpPr>
          <p:spPr>
            <a:xfrm>
              <a:off x="5148072" y="4530244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950" b="1" noProof="0">
                  <a:solidFill>
                    <a:srgbClr val="F99828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1,638</a:t>
              </a:r>
              <a:endParaRPr lang="pt-BR" sz="950" noProof="0">
                <a:latin typeface="Montserrat" pitchFamily="2" charset="0"/>
              </a:endParaRPr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E171D29A-E347-9B64-BB39-5FDBE36D325F}"/>
              </a:ext>
            </a:extLst>
          </p:cNvPr>
          <p:cNvGrpSpPr/>
          <p:nvPr/>
        </p:nvGrpSpPr>
        <p:grpSpPr>
          <a:xfrm>
            <a:off x="8915400" y="1691640"/>
            <a:ext cx="2670048" cy="3520440"/>
            <a:chOff x="6126480" y="1691640"/>
            <a:chExt cx="2670048" cy="3520440"/>
          </a:xfrm>
        </p:grpSpPr>
        <p:sp>
          <p:nvSpPr>
            <p:cNvPr id="51" name="Shape 48"/>
            <p:cNvSpPr/>
            <p:nvPr/>
          </p:nvSpPr>
          <p:spPr>
            <a:xfrm>
              <a:off x="6126480" y="1691640"/>
              <a:ext cx="2670048" cy="3520440"/>
            </a:xfrm>
            <a:prstGeom prst="roundRect">
              <a:avLst>
                <a:gd name="adj" fmla="val 2055"/>
              </a:avLst>
            </a:prstGeom>
            <a:solidFill>
              <a:srgbClr val="1E1E1E"/>
            </a:solidFill>
            <a:ln w="12700">
              <a:solidFill>
                <a:srgbClr val="1E1E1E"/>
              </a:solidFill>
              <a:prstDash val="solid"/>
            </a:ln>
          </p:spPr>
          <p:txBody>
            <a:bodyPr/>
            <a:lstStyle/>
            <a:p>
              <a:endParaRPr lang="pt-BR" noProof="0">
                <a:latin typeface="Montserrat" pitchFamily="2" charset="0"/>
              </a:endParaRPr>
            </a:p>
          </p:txBody>
        </p:sp>
        <p:sp>
          <p:nvSpPr>
            <p:cNvPr id="52" name="Shape 49"/>
            <p:cNvSpPr/>
            <p:nvPr/>
          </p:nvSpPr>
          <p:spPr>
            <a:xfrm>
              <a:off x="6348008" y="1901952"/>
              <a:ext cx="256032" cy="256032"/>
            </a:xfrm>
            <a:prstGeom prst="rect">
              <a:avLst/>
            </a:prstGeom>
            <a:gradFill flip="none" rotWithShape="1">
              <a:gsLst>
                <a:gs pos="0">
                  <a:srgbClr val="EA3234">
                    <a:shade val="30000"/>
                    <a:satMod val="115000"/>
                  </a:srgbClr>
                </a:gs>
                <a:gs pos="50000">
                  <a:srgbClr val="EA3234">
                    <a:shade val="67500"/>
                    <a:satMod val="115000"/>
                  </a:srgbClr>
                </a:gs>
                <a:gs pos="100000">
                  <a:srgbClr val="EA3234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12700">
              <a:noFill/>
              <a:prstDash val="solid"/>
            </a:ln>
          </p:spPr>
          <p:txBody>
            <a:bodyPr/>
            <a:lstStyle/>
            <a:p>
              <a:endParaRPr lang="pt-BR" sz="2000" noProof="0">
                <a:latin typeface="Montserrat" pitchFamily="2" charset="0"/>
              </a:endParaRPr>
            </a:p>
          </p:txBody>
        </p:sp>
        <p:sp>
          <p:nvSpPr>
            <p:cNvPr id="53" name="Text 50"/>
            <p:cNvSpPr/>
            <p:nvPr/>
          </p:nvSpPr>
          <p:spPr>
            <a:xfrm>
              <a:off x="6713768" y="1883664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200" b="1" noProof="0">
                  <a:solidFill>
                    <a:srgbClr val="FFFFFF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PERFIL D</a:t>
              </a:r>
              <a:endParaRPr lang="pt-BR" sz="1200" noProof="0">
                <a:latin typeface="Montserrat" pitchFamily="2" charset="0"/>
              </a:endParaRPr>
            </a:p>
          </p:txBody>
        </p:sp>
        <p:sp>
          <p:nvSpPr>
            <p:cNvPr id="54" name="Text 51"/>
            <p:cNvSpPr/>
            <p:nvPr/>
          </p:nvSpPr>
          <p:spPr>
            <a:xfrm>
              <a:off x="6343864" y="2336202"/>
              <a:ext cx="15544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0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MUNICÍPIO</a:t>
              </a:r>
              <a:endParaRPr lang="pt-BR" sz="10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55" name="Text 52"/>
            <p:cNvSpPr/>
            <p:nvPr/>
          </p:nvSpPr>
          <p:spPr>
            <a:xfrm>
              <a:off x="8275320" y="2363634"/>
              <a:ext cx="30175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pt-BR" sz="10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IAP</a:t>
              </a:r>
              <a:endParaRPr lang="pt-BR" sz="10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56" name="Text 53"/>
            <p:cNvSpPr/>
            <p:nvPr/>
          </p:nvSpPr>
          <p:spPr>
            <a:xfrm>
              <a:off x="6382512" y="2628292"/>
              <a:ext cx="219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1.</a:t>
              </a:r>
              <a:endParaRPr lang="pt-BR" sz="9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57" name="Text 54"/>
            <p:cNvSpPr/>
            <p:nvPr/>
          </p:nvSpPr>
          <p:spPr>
            <a:xfrm>
              <a:off x="6629400" y="2628292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5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Pindamonhangaba</a:t>
              </a:r>
              <a:endParaRPr lang="pt-BR" sz="95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58" name="Text 55"/>
            <p:cNvSpPr/>
            <p:nvPr/>
          </p:nvSpPr>
          <p:spPr>
            <a:xfrm>
              <a:off x="7936992" y="2628292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950" b="1" noProof="0">
                  <a:solidFill>
                    <a:srgbClr val="EA3234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2,578</a:t>
              </a:r>
              <a:endParaRPr lang="pt-BR" sz="950" noProof="0">
                <a:latin typeface="Montserrat" pitchFamily="2" charset="0"/>
              </a:endParaRPr>
            </a:p>
          </p:txBody>
        </p:sp>
        <p:sp>
          <p:nvSpPr>
            <p:cNvPr id="59" name="Text 56"/>
            <p:cNvSpPr/>
            <p:nvPr/>
          </p:nvSpPr>
          <p:spPr>
            <a:xfrm>
              <a:off x="6382512" y="3103780"/>
              <a:ext cx="219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2.</a:t>
              </a:r>
              <a:endParaRPr lang="pt-BR" sz="9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60" name="Text 57"/>
            <p:cNvSpPr/>
            <p:nvPr/>
          </p:nvSpPr>
          <p:spPr>
            <a:xfrm>
              <a:off x="6629400" y="3103780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5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Santana de Parnaíba</a:t>
              </a:r>
              <a:endParaRPr lang="pt-BR" sz="95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61" name="Text 58"/>
            <p:cNvSpPr/>
            <p:nvPr/>
          </p:nvSpPr>
          <p:spPr>
            <a:xfrm>
              <a:off x="7936992" y="310378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950" b="1" noProof="0">
                  <a:solidFill>
                    <a:srgbClr val="EA3234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2,446</a:t>
              </a:r>
              <a:endParaRPr lang="pt-BR" sz="950" noProof="0">
                <a:latin typeface="Montserrat" pitchFamily="2" charset="0"/>
              </a:endParaRPr>
            </a:p>
          </p:txBody>
        </p:sp>
        <p:sp>
          <p:nvSpPr>
            <p:cNvPr id="62" name="Text 59"/>
            <p:cNvSpPr/>
            <p:nvPr/>
          </p:nvSpPr>
          <p:spPr>
            <a:xfrm>
              <a:off x="6382512" y="3579268"/>
              <a:ext cx="219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3.</a:t>
              </a:r>
              <a:endParaRPr lang="pt-BR" sz="9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63" name="Text 60"/>
            <p:cNvSpPr/>
            <p:nvPr/>
          </p:nvSpPr>
          <p:spPr>
            <a:xfrm>
              <a:off x="6629400" y="3579268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5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Saltinho</a:t>
              </a:r>
              <a:endParaRPr lang="pt-BR" sz="95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64" name="Text 61"/>
            <p:cNvSpPr/>
            <p:nvPr/>
          </p:nvSpPr>
          <p:spPr>
            <a:xfrm>
              <a:off x="7936992" y="3579268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950" b="1" noProof="0">
                  <a:solidFill>
                    <a:srgbClr val="EA3234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2,003</a:t>
              </a:r>
              <a:endParaRPr lang="pt-BR" sz="950" noProof="0">
                <a:latin typeface="Montserrat" pitchFamily="2" charset="0"/>
              </a:endParaRPr>
            </a:p>
          </p:txBody>
        </p:sp>
        <p:sp>
          <p:nvSpPr>
            <p:cNvPr id="65" name="Text 62"/>
            <p:cNvSpPr/>
            <p:nvPr/>
          </p:nvSpPr>
          <p:spPr>
            <a:xfrm>
              <a:off x="6382512" y="4054756"/>
              <a:ext cx="219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4.</a:t>
              </a:r>
              <a:endParaRPr lang="pt-BR" sz="9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66" name="Text 63"/>
            <p:cNvSpPr/>
            <p:nvPr/>
          </p:nvSpPr>
          <p:spPr>
            <a:xfrm>
              <a:off x="6629400" y="4054756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5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Indaiatuba</a:t>
              </a:r>
              <a:endParaRPr lang="pt-BR" sz="95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67" name="Text 64"/>
            <p:cNvSpPr/>
            <p:nvPr/>
          </p:nvSpPr>
          <p:spPr>
            <a:xfrm>
              <a:off x="7936992" y="4054756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950" b="1" noProof="0">
                  <a:solidFill>
                    <a:srgbClr val="EA3234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1,865</a:t>
              </a:r>
              <a:endParaRPr lang="pt-BR" sz="950" noProof="0">
                <a:latin typeface="Montserrat" pitchFamily="2" charset="0"/>
              </a:endParaRPr>
            </a:p>
          </p:txBody>
        </p:sp>
        <p:sp>
          <p:nvSpPr>
            <p:cNvPr id="68" name="Text 65"/>
            <p:cNvSpPr/>
            <p:nvPr/>
          </p:nvSpPr>
          <p:spPr>
            <a:xfrm>
              <a:off x="6382512" y="4530244"/>
              <a:ext cx="219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5.</a:t>
              </a:r>
              <a:endParaRPr lang="pt-BR" sz="9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69" name="Text 66"/>
            <p:cNvSpPr/>
            <p:nvPr/>
          </p:nvSpPr>
          <p:spPr>
            <a:xfrm>
              <a:off x="6629400" y="4530244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5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Paulínia</a:t>
              </a:r>
              <a:endParaRPr lang="pt-BR" sz="95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70" name="Text 67"/>
            <p:cNvSpPr/>
            <p:nvPr/>
          </p:nvSpPr>
          <p:spPr>
            <a:xfrm>
              <a:off x="7936992" y="4530244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950" b="1" noProof="0">
                  <a:solidFill>
                    <a:srgbClr val="EA3234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1,766</a:t>
              </a:r>
              <a:endParaRPr lang="pt-BR" sz="950" noProof="0">
                <a:latin typeface="Montserrat" pitchFamily="2" charset="0"/>
              </a:endParaRPr>
            </a:p>
          </p:txBody>
        </p:sp>
      </p:grpSp>
      <p:grpSp>
        <p:nvGrpSpPr>
          <p:cNvPr id="93" name="Agrupar 92">
            <a:extLst>
              <a:ext uri="{FF2B5EF4-FFF2-40B4-BE49-F238E27FC236}">
                <a16:creationId xmlns:a16="http://schemas.microsoft.com/office/drawing/2014/main" id="{FF2D03DB-8E54-82E8-ABC9-29019CCBBD7D}"/>
              </a:ext>
            </a:extLst>
          </p:cNvPr>
          <p:cNvGrpSpPr/>
          <p:nvPr/>
        </p:nvGrpSpPr>
        <p:grpSpPr>
          <a:xfrm>
            <a:off x="3342560" y="1700352"/>
            <a:ext cx="2670048" cy="3520440"/>
            <a:chOff x="8915400" y="1691640"/>
            <a:chExt cx="2670048" cy="3520440"/>
          </a:xfrm>
        </p:grpSpPr>
        <p:sp>
          <p:nvSpPr>
            <p:cNvPr id="71" name="Shape 68"/>
            <p:cNvSpPr/>
            <p:nvPr/>
          </p:nvSpPr>
          <p:spPr>
            <a:xfrm>
              <a:off x="8915400" y="1691640"/>
              <a:ext cx="2670048" cy="3520440"/>
            </a:xfrm>
            <a:prstGeom prst="roundRect">
              <a:avLst>
                <a:gd name="adj" fmla="val 2055"/>
              </a:avLst>
            </a:prstGeom>
            <a:solidFill>
              <a:srgbClr val="1E1E1E"/>
            </a:solidFill>
            <a:ln w="12700">
              <a:solidFill>
                <a:srgbClr val="1E1E1E"/>
              </a:solidFill>
              <a:prstDash val="solid"/>
            </a:ln>
          </p:spPr>
          <p:txBody>
            <a:bodyPr/>
            <a:lstStyle/>
            <a:p>
              <a:endParaRPr lang="pt-BR" noProof="0">
                <a:latin typeface="Montserrat" pitchFamily="2" charset="0"/>
              </a:endParaRPr>
            </a:p>
          </p:txBody>
        </p:sp>
        <p:sp>
          <p:nvSpPr>
            <p:cNvPr id="72" name="Shape 69"/>
            <p:cNvSpPr/>
            <p:nvPr/>
          </p:nvSpPr>
          <p:spPr>
            <a:xfrm>
              <a:off x="9136928" y="1901952"/>
              <a:ext cx="256032" cy="256032"/>
            </a:xfrm>
            <a:prstGeom prst="rect">
              <a:avLst/>
            </a:prstGeom>
            <a:gradFill flip="none" rotWithShape="1">
              <a:gsLst>
                <a:gs pos="0">
                  <a:srgbClr val="263253">
                    <a:shade val="30000"/>
                    <a:satMod val="115000"/>
                  </a:srgbClr>
                </a:gs>
                <a:gs pos="50000">
                  <a:srgbClr val="263253">
                    <a:shade val="67500"/>
                    <a:satMod val="115000"/>
                  </a:srgbClr>
                </a:gs>
                <a:gs pos="100000">
                  <a:srgbClr val="263253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12700">
              <a:noFill/>
              <a:prstDash val="solid"/>
            </a:ln>
          </p:spPr>
          <p:txBody>
            <a:bodyPr/>
            <a:lstStyle/>
            <a:p>
              <a:endParaRPr lang="pt-BR" sz="2000" noProof="0">
                <a:latin typeface="Montserrat" pitchFamily="2" charset="0"/>
              </a:endParaRPr>
            </a:p>
          </p:txBody>
        </p:sp>
        <p:sp>
          <p:nvSpPr>
            <p:cNvPr id="73" name="Text 70"/>
            <p:cNvSpPr/>
            <p:nvPr/>
          </p:nvSpPr>
          <p:spPr>
            <a:xfrm>
              <a:off x="9502688" y="1883664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200" b="1" noProof="0">
                  <a:solidFill>
                    <a:srgbClr val="FFFFFF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PERFIL B</a:t>
              </a:r>
              <a:endParaRPr lang="pt-BR" sz="1200" noProof="0">
                <a:latin typeface="Montserrat" pitchFamily="2" charset="0"/>
              </a:endParaRPr>
            </a:p>
          </p:txBody>
        </p:sp>
        <p:sp>
          <p:nvSpPr>
            <p:cNvPr id="74" name="Text 71"/>
            <p:cNvSpPr/>
            <p:nvPr/>
          </p:nvSpPr>
          <p:spPr>
            <a:xfrm>
              <a:off x="9136928" y="2363634"/>
              <a:ext cx="15544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0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MUNICÍPIO</a:t>
              </a:r>
              <a:endParaRPr lang="pt-BR" sz="10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75" name="Text 72"/>
            <p:cNvSpPr/>
            <p:nvPr/>
          </p:nvSpPr>
          <p:spPr>
            <a:xfrm>
              <a:off x="11027664" y="2363634"/>
              <a:ext cx="33832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pt-BR" sz="10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IAP</a:t>
              </a:r>
              <a:endParaRPr lang="pt-BR" sz="10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76" name="Text 73"/>
            <p:cNvSpPr/>
            <p:nvPr/>
          </p:nvSpPr>
          <p:spPr>
            <a:xfrm>
              <a:off x="9171432" y="2628292"/>
              <a:ext cx="219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1.</a:t>
              </a:r>
              <a:endParaRPr lang="pt-BR" sz="9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77" name="Text 74"/>
            <p:cNvSpPr/>
            <p:nvPr/>
          </p:nvSpPr>
          <p:spPr>
            <a:xfrm>
              <a:off x="9418320" y="2628292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5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Iepê</a:t>
              </a:r>
              <a:endParaRPr lang="pt-BR" sz="95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78" name="Text 75"/>
            <p:cNvSpPr/>
            <p:nvPr/>
          </p:nvSpPr>
          <p:spPr>
            <a:xfrm>
              <a:off x="10725912" y="2628292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950" b="1" noProof="0">
                  <a:solidFill>
                    <a:srgbClr val="7C8EC9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1,781</a:t>
              </a:r>
              <a:endParaRPr lang="pt-BR" sz="950" noProof="0">
                <a:latin typeface="Montserrat" pitchFamily="2" charset="0"/>
              </a:endParaRPr>
            </a:p>
          </p:txBody>
        </p:sp>
        <p:sp>
          <p:nvSpPr>
            <p:cNvPr id="79" name="Text 76"/>
            <p:cNvSpPr/>
            <p:nvPr/>
          </p:nvSpPr>
          <p:spPr>
            <a:xfrm>
              <a:off x="9171432" y="3103780"/>
              <a:ext cx="219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2.</a:t>
              </a:r>
              <a:endParaRPr lang="pt-BR" sz="9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80" name="Text 77"/>
            <p:cNvSpPr/>
            <p:nvPr/>
          </p:nvSpPr>
          <p:spPr>
            <a:xfrm>
              <a:off x="9418320" y="3103780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5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Bom Sucesso de Itararé</a:t>
              </a:r>
              <a:endParaRPr lang="pt-BR" sz="95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81" name="Text 78"/>
            <p:cNvSpPr/>
            <p:nvPr/>
          </p:nvSpPr>
          <p:spPr>
            <a:xfrm>
              <a:off x="10725912" y="310378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950" b="1" noProof="0">
                  <a:solidFill>
                    <a:srgbClr val="7C8EC9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1,279</a:t>
              </a:r>
              <a:endParaRPr lang="pt-BR" sz="950" noProof="0">
                <a:latin typeface="Montserrat" pitchFamily="2" charset="0"/>
              </a:endParaRPr>
            </a:p>
          </p:txBody>
        </p:sp>
        <p:sp>
          <p:nvSpPr>
            <p:cNvPr id="82" name="Text 79"/>
            <p:cNvSpPr/>
            <p:nvPr/>
          </p:nvSpPr>
          <p:spPr>
            <a:xfrm>
              <a:off x="9171432" y="3579268"/>
              <a:ext cx="219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3.</a:t>
              </a:r>
              <a:endParaRPr lang="pt-BR" sz="9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83" name="Text 80"/>
            <p:cNvSpPr/>
            <p:nvPr/>
          </p:nvSpPr>
          <p:spPr>
            <a:xfrm>
              <a:off x="9418320" y="3579268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5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Bananal</a:t>
              </a:r>
              <a:endParaRPr lang="pt-BR" sz="95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84" name="Text 81"/>
            <p:cNvSpPr/>
            <p:nvPr/>
          </p:nvSpPr>
          <p:spPr>
            <a:xfrm>
              <a:off x="10725912" y="3579268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950" b="1" noProof="0">
                  <a:solidFill>
                    <a:srgbClr val="7C8EC9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1,206</a:t>
              </a:r>
              <a:endParaRPr lang="pt-BR" sz="950" noProof="0">
                <a:latin typeface="Montserrat" pitchFamily="2" charset="0"/>
              </a:endParaRPr>
            </a:p>
          </p:txBody>
        </p:sp>
        <p:sp>
          <p:nvSpPr>
            <p:cNvPr id="85" name="Text 82"/>
            <p:cNvSpPr/>
            <p:nvPr/>
          </p:nvSpPr>
          <p:spPr>
            <a:xfrm>
              <a:off x="9171432" y="4054756"/>
              <a:ext cx="219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4.</a:t>
              </a:r>
              <a:endParaRPr lang="pt-BR" sz="9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86" name="Text 83"/>
            <p:cNvSpPr/>
            <p:nvPr/>
          </p:nvSpPr>
          <p:spPr>
            <a:xfrm>
              <a:off x="9418320" y="4054756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5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Mesópolis</a:t>
              </a:r>
              <a:endParaRPr lang="pt-BR" sz="95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87" name="Text 84"/>
            <p:cNvSpPr/>
            <p:nvPr/>
          </p:nvSpPr>
          <p:spPr>
            <a:xfrm>
              <a:off x="10725912" y="4054756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950" b="1" noProof="0">
                  <a:solidFill>
                    <a:srgbClr val="7C8EC9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1,145</a:t>
              </a:r>
              <a:endParaRPr lang="pt-BR" sz="950" noProof="0">
                <a:latin typeface="Montserrat" pitchFamily="2" charset="0"/>
              </a:endParaRPr>
            </a:p>
          </p:txBody>
        </p:sp>
        <p:sp>
          <p:nvSpPr>
            <p:cNvPr id="88" name="Text 85"/>
            <p:cNvSpPr/>
            <p:nvPr/>
          </p:nvSpPr>
          <p:spPr>
            <a:xfrm>
              <a:off x="9171432" y="4530244"/>
              <a:ext cx="219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5.</a:t>
              </a:r>
              <a:endParaRPr lang="pt-BR" sz="900" b="1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89" name="Text 86"/>
            <p:cNvSpPr/>
            <p:nvPr/>
          </p:nvSpPr>
          <p:spPr>
            <a:xfrm>
              <a:off x="9418320" y="4530244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95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Luiziânia</a:t>
              </a:r>
              <a:endParaRPr lang="pt-BR" sz="95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90" name="Text 87"/>
            <p:cNvSpPr/>
            <p:nvPr/>
          </p:nvSpPr>
          <p:spPr>
            <a:xfrm>
              <a:off x="10725912" y="4530244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950" b="1" noProof="0">
                  <a:solidFill>
                    <a:srgbClr val="7C8EC9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1,072</a:t>
              </a:r>
              <a:endParaRPr lang="pt-BR" sz="950" noProof="0">
                <a:latin typeface="Montserrat" pitchFamily="2" charset="0"/>
              </a:endParaRPr>
            </a:p>
          </p:txBody>
        </p:sp>
      </p:grpSp>
      <p:sp>
        <p:nvSpPr>
          <p:cNvPr id="91" name="Shape 88"/>
          <p:cNvSpPr/>
          <p:nvPr/>
        </p:nvSpPr>
        <p:spPr>
          <a:xfrm>
            <a:off x="548640" y="5429464"/>
            <a:ext cx="11091672" cy="781556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 w="1270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pt-BR" sz="2000" noProof="0">
              <a:latin typeface="Montserrat" pitchFamily="2" charset="0"/>
            </a:endParaRPr>
          </a:p>
        </p:txBody>
      </p:sp>
      <p:sp>
        <p:nvSpPr>
          <p:cNvPr id="92" name="Text 89"/>
          <p:cNvSpPr/>
          <p:nvPr/>
        </p:nvSpPr>
        <p:spPr>
          <a:xfrm>
            <a:off x="962622" y="5540137"/>
            <a:ext cx="102637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 ordenação é calculada para todos os municípios do Estado antes da abertura das inscrições e é aplicada apenas aos municípios com inscrição homologada. A posição no </a:t>
            </a:r>
            <a:r>
              <a:rPr lang="pt-BR" sz="1100" i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ranking</a:t>
            </a:r>
            <a:r>
              <a:rPr lang="pt-BR" sz="1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não assegura, por si, o avanço às etapas seguintes: o resultado é combinado ao limite de vagas por perfil definido no edital.</a:t>
            </a:r>
            <a:endParaRPr lang="pt-BR" sz="1100" noProof="0">
              <a:solidFill>
                <a:schemeClr val="bg1"/>
              </a:solidFill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5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2 - </a:t>
            </a: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PROXIMIDADE AO CENTROIDE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Nova métrica de ordenação </a:t>
            </a:r>
            <a:r>
              <a:rPr lang="pt-BR" sz="1250" noProof="0" err="1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intraperfil</a:t>
            </a:r>
            <a:r>
              <a:rPr lang="pt-BR" sz="12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: distância de cada município ao centroide do seu perfil</a:t>
            </a:r>
            <a:endParaRPr lang="pt-BR" sz="12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1645920"/>
            <a:ext cx="5577840" cy="1883664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22960" y="1810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O QUE MUDA EM RELAÇÃO À VERSÃO ANTERIOR</a:t>
            </a:r>
            <a:endParaRPr lang="pt-BR" sz="1200" noProof="0">
              <a:latin typeface="Montserrat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22960" y="2249424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2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 </a:t>
            </a:r>
            <a:r>
              <a:rPr lang="pt-BR" sz="120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proposta 1</a:t>
            </a:r>
            <a:r>
              <a:rPr lang="pt-BR" sz="12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ordenava os municípios por uma combinação linear dos três eixos, com sinal definido pela característica predominante do perfil. A Proposta 2  substitui essa combinação pela </a:t>
            </a:r>
            <a:r>
              <a:rPr lang="pt-BR" sz="12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proximidade ao centroide</a:t>
            </a:r>
            <a:r>
              <a:rPr lang="pt-BR" sz="12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: ordena-se do município mais próximo ao mais distante do ponto médio do próprio perfil.</a:t>
            </a:r>
            <a:endParaRPr lang="pt-BR" sz="1200" noProof="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48640" y="3694176"/>
            <a:ext cx="5577840" cy="251943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32104" y="38879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O QUE O ÍNDICE MEDE — E O QUE NÃO MEDE</a:t>
            </a:r>
            <a:endParaRPr lang="pt-BR" sz="1200" noProof="0">
              <a:latin typeface="Montserrat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22960" y="4339086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2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Mede a </a:t>
            </a:r>
            <a:r>
              <a:rPr lang="pt-BR" sz="12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representatividade do município em relação ao padrão médio do seu perfil</a:t>
            </a:r>
            <a:r>
              <a:rPr lang="pt-BR" sz="12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: quanto menor a distância, mais típico o município.</a:t>
            </a:r>
            <a:endParaRPr lang="pt-BR" sz="1200" noProof="0">
              <a:solidFill>
                <a:schemeClr val="bg1"/>
              </a:solidFill>
              <a:latin typeface="Montserrat" pitchFamily="2" charset="0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200" noProof="0">
                <a:solidFill>
                  <a:schemeClr val="bg1"/>
                </a:solidFill>
                <a:latin typeface="Montserrat"/>
                <a:ea typeface="Arial" pitchFamily="34" charset="-122"/>
                <a:cs typeface="Arial"/>
              </a:rPr>
              <a:t>Utiliza as mesmas variáveis de entrada — </a:t>
            </a:r>
            <a:r>
              <a:rPr lang="pt-BR" sz="1200">
                <a:solidFill>
                  <a:schemeClr val="bg1"/>
                </a:solidFill>
                <a:latin typeface="Montserrat"/>
                <a:ea typeface="Arial" pitchFamily="34" charset="-122"/>
                <a:cs typeface="Arial"/>
              </a:rPr>
              <a:t>CFI</a:t>
            </a:r>
            <a:r>
              <a:rPr lang="pt-BR" sz="1200" noProof="0">
                <a:solidFill>
                  <a:schemeClr val="bg1"/>
                </a:solidFill>
                <a:latin typeface="Montserrat"/>
                <a:ea typeface="Arial" pitchFamily="34" charset="-122"/>
                <a:cs typeface="Arial"/>
              </a:rPr>
              <a:t>, IMD e CSE </a:t>
            </a:r>
            <a:r>
              <a:rPr lang="pt-BR" sz="1200" noProof="0" dirty="0">
                <a:solidFill>
                  <a:schemeClr val="bg1"/>
                </a:solidFill>
                <a:latin typeface="Montserrat"/>
                <a:ea typeface="Arial" pitchFamily="34" charset="-122"/>
                <a:cs typeface="Arial"/>
              </a:rPr>
              <a:t>padronizados e ponderados —, sem inclusão de novos dados.</a:t>
            </a:r>
            <a:endParaRPr lang="pt-BR" sz="1200" noProof="0" dirty="0">
              <a:solidFill>
                <a:schemeClr val="bg1"/>
              </a:solidFill>
              <a:latin typeface="Montserrat"/>
              <a:cs typeface="Arial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2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Não é comparável entre perfis distintos: a ordenação é sempre </a:t>
            </a:r>
            <a:r>
              <a:rPr lang="pt-BR" sz="1200" noProof="0" dirty="0" err="1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intraperfil</a:t>
            </a:r>
            <a:r>
              <a:rPr lang="pt-BR" sz="12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</a:t>
            </a:r>
            <a:endParaRPr lang="pt-BR" sz="1200" noProof="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355080" y="1645919"/>
            <a:ext cx="5285232" cy="4565099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629400" y="18105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COMO É CALCULADO</a:t>
            </a:r>
            <a:endParaRPr lang="pt-BR" sz="1200" noProof="0">
              <a:solidFill>
                <a:srgbClr val="F99828"/>
              </a:solidFill>
              <a:latin typeface="Montserrat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629400" y="2189616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100" noProof="0" dirty="0">
                <a:solidFill>
                  <a:schemeClr val="bg1"/>
                </a:solidFill>
                <a:latin typeface="Montserrat"/>
                <a:ea typeface="Arial" pitchFamily="34" charset="-122"/>
                <a:cs typeface="Arial"/>
              </a:rPr>
              <a:t>Para cada perfil calcula-se o centroide — ponto cujas coordenadas </a:t>
            </a:r>
            <a:r>
              <a:rPr lang="pt-BR" sz="1100" noProof="0">
                <a:solidFill>
                  <a:schemeClr val="bg1"/>
                </a:solidFill>
                <a:latin typeface="Montserrat"/>
                <a:ea typeface="Arial" pitchFamily="34" charset="-122"/>
                <a:cs typeface="Arial"/>
              </a:rPr>
              <a:t>são as médias de </a:t>
            </a:r>
            <a:r>
              <a:rPr lang="pt-BR" sz="1100">
                <a:solidFill>
                  <a:schemeClr val="bg1"/>
                </a:solidFill>
                <a:latin typeface="Montserrat"/>
                <a:ea typeface="Arial" pitchFamily="34" charset="-122"/>
                <a:cs typeface="Arial"/>
              </a:rPr>
              <a:t>CFI</a:t>
            </a:r>
            <a:r>
              <a:rPr lang="pt-BR" sz="1100" noProof="0">
                <a:solidFill>
                  <a:schemeClr val="bg1"/>
                </a:solidFill>
                <a:latin typeface="Montserrat"/>
                <a:ea typeface="Arial" pitchFamily="34" charset="-122"/>
                <a:cs typeface="Arial"/>
              </a:rPr>
              <a:t>, IMD e CSE dos municípios do perfil. Em </a:t>
            </a:r>
            <a:r>
              <a:rPr lang="pt-BR" sz="1100" noProof="0" dirty="0">
                <a:solidFill>
                  <a:schemeClr val="bg1"/>
                </a:solidFill>
                <a:latin typeface="Montserrat"/>
                <a:ea typeface="Arial" pitchFamily="34" charset="-122"/>
                <a:cs typeface="Arial"/>
              </a:rPr>
              <a:t>seguida, mede-se a </a:t>
            </a:r>
            <a:r>
              <a:rPr lang="pt-BR" sz="1100" b="1" noProof="0" dirty="0">
                <a:solidFill>
                  <a:schemeClr val="bg1"/>
                </a:solidFill>
                <a:latin typeface="Montserrat"/>
                <a:ea typeface="Arial" pitchFamily="34" charset="-122"/>
                <a:cs typeface="Arial"/>
              </a:rPr>
              <a:t>distância euclidiana de cada município ao centroide</a:t>
            </a:r>
            <a:r>
              <a:rPr lang="pt-BR" sz="1100" noProof="0" dirty="0">
                <a:solidFill>
                  <a:schemeClr val="bg1"/>
                </a:solidFill>
                <a:latin typeface="Montserrat"/>
                <a:ea typeface="Arial" pitchFamily="34" charset="-122"/>
                <a:cs typeface="Arial"/>
              </a:rPr>
              <a:t>, e os municípios são ordenados em ordem crescente dessa distância.</a:t>
            </a:r>
            <a:endParaRPr lang="pt-BR" sz="1100" noProof="0" dirty="0">
              <a:solidFill>
                <a:schemeClr val="bg1"/>
              </a:solidFill>
              <a:latin typeface="Montserrat"/>
              <a:cs typeface="Arial"/>
            </a:endParaRPr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34090"/>
              </p:ext>
            </p:extLst>
          </p:nvPr>
        </p:nvGraphicFramePr>
        <p:xfrm>
          <a:off x="6629400" y="3220290"/>
          <a:ext cx="4786713" cy="1920240"/>
        </p:xfrm>
        <a:graphic>
          <a:graphicData uri="http://schemas.openxmlformats.org/drawingml/2006/table">
            <a:tbl>
              <a:tblPr/>
              <a:tblGrid>
                <a:gridCol w="1608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CENTROIDE</a:t>
                      </a:r>
                      <a:endParaRPr lang="pt-BR" sz="12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/>
                          <a:ea typeface="Arial" charset="0"/>
                          <a:cs typeface="Arial"/>
                        </a:rPr>
                        <a:t>CFI</a:t>
                      </a:r>
                      <a:endParaRPr lang="pt-BR" sz="12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IMD</a:t>
                      </a:r>
                      <a:endParaRPr lang="pt-BR" sz="12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CSE</a:t>
                      </a:r>
                      <a:endParaRPr lang="pt-BR" sz="12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charset="0"/>
                          <a:cs typeface="Arial" pitchFamily="34" charset="-120"/>
                        </a:rPr>
                        <a:t>A</a:t>
                      </a:r>
                      <a:endParaRPr lang="pt-BR" sz="14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rgbClr val="FF000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−0,473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rgbClr val="FF000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−0,498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rgbClr val="FF000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−0,485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7283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charset="0"/>
                          <a:cs typeface="Arial" pitchFamily="34" charset="-120"/>
                        </a:rPr>
                        <a:t>B</a:t>
                      </a:r>
                      <a:endParaRPr lang="pt-BR" sz="14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rgbClr val="00B05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0,111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rgbClr val="FF000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−0,318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rgbClr val="FF000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−0,002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44177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pt-BR" sz="14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rgbClr val="FF000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−0,202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rgbClr val="00B05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0,761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rgbClr val="00B05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0,417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pt-BR" sz="14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rgbClr val="00B05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1,167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rgbClr val="00B05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0,220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rgbClr val="00B05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0,016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6909757" y="5454834"/>
            <a:ext cx="4365829" cy="53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10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Os eixos entram ponderados pela </a:t>
            </a:r>
            <a:r>
              <a:rPr lang="pt-BR" sz="1100" b="1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raiz quadrada dos pesos</a:t>
            </a:r>
            <a:r>
              <a:rPr lang="pt-BR" sz="110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(35%, 40% e 25% na distância).</a:t>
            </a:r>
            <a:endParaRPr lang="pt-BR" sz="1100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51BE13E3-2B9B-00C3-22AF-CBB397120BFD}"/>
              </a:ext>
            </a:extLst>
          </p:cNvPr>
          <p:cNvSpPr/>
          <p:nvPr/>
        </p:nvSpPr>
        <p:spPr>
          <a:xfrm>
            <a:off x="6629400" y="5357005"/>
            <a:ext cx="4786712" cy="595221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ORDENAÇÃO RESULTANTE DENTRO DE CADA PERFIL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Cinco municípios mais representativos por perfil, em ordem crescente de distância ao centroide</a:t>
            </a:r>
            <a:endParaRPr lang="pt-BR" sz="1250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1691640"/>
            <a:ext cx="2670048" cy="3520440"/>
          </a:xfrm>
          <a:prstGeom prst="roundRect">
            <a:avLst>
              <a:gd name="adj" fmla="val 20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70168" y="1901952"/>
            <a:ext cx="256032" cy="256032"/>
          </a:xfrm>
          <a:prstGeom prst="rect">
            <a:avLst/>
          </a:prstGeom>
          <a:gradFill flip="none" rotWithShape="1">
            <a:gsLst>
              <a:gs pos="0">
                <a:srgbClr val="F99828">
                  <a:shade val="30000"/>
                  <a:satMod val="115000"/>
                </a:srgbClr>
              </a:gs>
              <a:gs pos="50000">
                <a:srgbClr val="F99828">
                  <a:shade val="67500"/>
                  <a:satMod val="115000"/>
                </a:srgbClr>
              </a:gs>
              <a:gs pos="100000">
                <a:srgbClr val="F99828">
                  <a:shade val="100000"/>
                  <a:satMod val="115000"/>
                </a:srgb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endParaRPr lang="pt-BR" sz="2000" noProof="0">
              <a:latin typeface="Montserrat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35928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PERFIL A</a:t>
            </a:r>
            <a:endParaRPr lang="pt-BR" sz="1200" noProof="0">
              <a:latin typeface="Montserrat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66024" y="236363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</a:t>
            </a:r>
            <a:endParaRPr lang="pt-BR" sz="10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445777" y="2357767"/>
            <a:ext cx="75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DIST.</a:t>
            </a:r>
            <a:endParaRPr lang="pt-BR" sz="10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04672" y="2628292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1.</a:t>
            </a:r>
            <a:endParaRPr lang="pt-BR" sz="9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51560" y="262829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Uchoa</a:t>
            </a:r>
            <a:endParaRPr lang="pt-BR" sz="9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359152" y="26282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5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0,099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04672" y="31037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2.</a:t>
            </a:r>
            <a:endParaRPr lang="pt-BR" sz="9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051560" y="31037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Mira Estrela</a:t>
            </a:r>
            <a:endParaRPr lang="pt-BR" sz="9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359152" y="31037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5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0,108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04672" y="3579268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3.</a:t>
            </a:r>
            <a:endParaRPr lang="pt-BR" sz="9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051560" y="35792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Queluz</a:t>
            </a:r>
            <a:endParaRPr lang="pt-BR" sz="9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2359152" y="35792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5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0,127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04672" y="4054756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4.</a:t>
            </a:r>
            <a:endParaRPr lang="pt-BR" sz="9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051560" y="405475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Palmares Paulista</a:t>
            </a:r>
            <a:endParaRPr lang="pt-BR" sz="9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2359152" y="40547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5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0,145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04672" y="4530244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5.</a:t>
            </a:r>
            <a:endParaRPr lang="pt-BR" sz="9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051560" y="45302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Vera Cruz</a:t>
            </a:r>
            <a:endParaRPr lang="pt-BR" sz="9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2359152" y="45302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5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0,150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337560" y="1691640"/>
            <a:ext cx="2670048" cy="3520440"/>
          </a:xfrm>
          <a:prstGeom prst="roundRect">
            <a:avLst>
              <a:gd name="adj" fmla="val 20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559088" y="1901952"/>
            <a:ext cx="256032" cy="256032"/>
          </a:xfrm>
          <a:prstGeom prst="rect">
            <a:avLst/>
          </a:prstGeom>
          <a:gradFill flip="none" rotWithShape="1">
            <a:gsLst>
              <a:gs pos="0">
                <a:srgbClr val="263253">
                  <a:shade val="30000"/>
                  <a:satMod val="115000"/>
                </a:srgbClr>
              </a:gs>
              <a:gs pos="50000">
                <a:srgbClr val="263253">
                  <a:shade val="67500"/>
                  <a:satMod val="115000"/>
                </a:srgbClr>
              </a:gs>
              <a:gs pos="100000">
                <a:srgbClr val="263253">
                  <a:shade val="100000"/>
                  <a:satMod val="115000"/>
                </a:srgb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endParaRPr lang="pt-BR" sz="2000" noProof="0">
              <a:latin typeface="Montserrat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924848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PERFIL B</a:t>
            </a:r>
            <a:endParaRPr lang="pt-BR" sz="1200" noProof="0">
              <a:latin typeface="Montserrat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3559088" y="2357767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</a:t>
            </a:r>
            <a:endParaRPr lang="pt-BR" sz="10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226180" y="2363634"/>
            <a:ext cx="75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DIST.</a:t>
            </a:r>
            <a:endParaRPr lang="pt-BR" sz="10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593592" y="2628292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1.</a:t>
            </a:r>
            <a:endParaRPr lang="pt-BR" sz="9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3840480" y="262829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Santa Cruz das Palmeiras</a:t>
            </a:r>
            <a:endParaRPr lang="pt-BR" sz="9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5148072" y="26282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50" b="1" noProof="0">
                <a:solidFill>
                  <a:srgbClr val="7C8EC9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0,051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3593592" y="31037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2.</a:t>
            </a:r>
            <a:endParaRPr lang="pt-BR" sz="9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3840480" y="31037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Nipoã</a:t>
            </a:r>
            <a:endParaRPr lang="pt-BR" sz="9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5148072" y="31037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50" b="1" noProof="0">
                <a:solidFill>
                  <a:srgbClr val="7C8EC9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0,084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3593592" y="3579268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3.</a:t>
            </a:r>
            <a:endParaRPr lang="pt-BR" sz="9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3840480" y="35792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 err="1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Onda Verde</a:t>
            </a:r>
            <a:endParaRPr lang="pt-BR" sz="9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5148072" y="35792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50" b="1" noProof="0">
                <a:solidFill>
                  <a:srgbClr val="7C8EC9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0,122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3593592" y="4054756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4.</a:t>
            </a:r>
            <a:endParaRPr lang="pt-BR" sz="9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3840480" y="405475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Pindorama</a:t>
            </a:r>
            <a:endParaRPr lang="pt-BR" sz="9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5148072" y="40547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50" b="1" noProof="0">
                <a:solidFill>
                  <a:srgbClr val="7C8EC9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0,126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3593592" y="4530244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5.</a:t>
            </a:r>
            <a:endParaRPr lang="pt-BR" sz="9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3840480" y="45302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Auriflama</a:t>
            </a:r>
            <a:endParaRPr lang="pt-BR" sz="9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5148072" y="45302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50" b="1" noProof="0">
                <a:solidFill>
                  <a:srgbClr val="7C8EC9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0,128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6126480" y="1691640"/>
            <a:ext cx="2670048" cy="3520440"/>
          </a:xfrm>
          <a:prstGeom prst="roundRect">
            <a:avLst>
              <a:gd name="adj" fmla="val 20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6348008" y="1901952"/>
            <a:ext cx="256032" cy="256032"/>
          </a:xfrm>
          <a:prstGeom prst="rect">
            <a:avLst/>
          </a:prstGeom>
          <a:gradFill flip="none" rotWithShape="1">
            <a:gsLst>
              <a:gs pos="0">
                <a:srgbClr val="4496CD">
                  <a:shade val="30000"/>
                  <a:satMod val="115000"/>
                </a:srgbClr>
              </a:gs>
              <a:gs pos="50000">
                <a:srgbClr val="4496CD">
                  <a:shade val="67500"/>
                  <a:satMod val="115000"/>
                </a:srgbClr>
              </a:gs>
              <a:gs pos="100000">
                <a:srgbClr val="4496CD">
                  <a:shade val="100000"/>
                  <a:satMod val="115000"/>
                </a:srgb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endParaRPr lang="pt-BR" sz="2000" noProof="0">
              <a:latin typeface="Montserrat" pitchFamily="2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6713768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PERFIL C</a:t>
            </a:r>
            <a:endParaRPr lang="pt-BR" sz="1200" noProof="0">
              <a:latin typeface="Montserrat" pitchFamily="2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6343864" y="233620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</a:t>
            </a:r>
            <a:endParaRPr lang="pt-BR" sz="10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8023726" y="2363634"/>
            <a:ext cx="75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DIST.</a:t>
            </a:r>
            <a:endParaRPr lang="pt-BR" sz="10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6382512" y="2628292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1.</a:t>
            </a:r>
            <a:endParaRPr lang="pt-BR" sz="9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6629400" y="262829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Barra Bonita</a:t>
            </a:r>
            <a:endParaRPr lang="pt-BR" sz="9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7936992" y="26282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50" b="1" noProof="0">
                <a:solidFill>
                  <a:srgbClr val="4496CD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0,243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6382512" y="31037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2.</a:t>
            </a:r>
            <a:endParaRPr lang="pt-BR" sz="9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6629400" y="31037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Franca</a:t>
            </a:r>
            <a:endParaRPr lang="pt-BR" sz="9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7936992" y="31037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50" b="1" noProof="0">
                <a:solidFill>
                  <a:srgbClr val="4496CD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0,244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6382512" y="3579268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3.</a:t>
            </a:r>
            <a:endParaRPr lang="pt-BR" sz="9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6629400" y="35792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Orlândia</a:t>
            </a:r>
            <a:endParaRPr lang="pt-BR" sz="9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7936992" y="35792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50" b="1" noProof="0">
                <a:solidFill>
                  <a:srgbClr val="4496CD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0,267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6382512" y="4054756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4.</a:t>
            </a:r>
            <a:endParaRPr lang="pt-BR" sz="9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6629400" y="405475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Santa Rita do Passa Quatro</a:t>
            </a:r>
            <a:endParaRPr lang="pt-BR" sz="9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7936992" y="40547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50" b="1" noProof="0">
                <a:solidFill>
                  <a:srgbClr val="4496CD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0,273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6382512" y="4530244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5.</a:t>
            </a:r>
            <a:endParaRPr lang="pt-BR" sz="9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6629400" y="45302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Ourinhos</a:t>
            </a:r>
            <a:endParaRPr lang="pt-BR" sz="9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7936992" y="45302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50" b="1" noProof="0">
                <a:solidFill>
                  <a:srgbClr val="4496CD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0,279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71" name="Shape 68"/>
          <p:cNvSpPr/>
          <p:nvPr/>
        </p:nvSpPr>
        <p:spPr>
          <a:xfrm>
            <a:off x="8915400" y="1691640"/>
            <a:ext cx="2670048" cy="3520440"/>
          </a:xfrm>
          <a:prstGeom prst="roundRect">
            <a:avLst>
              <a:gd name="adj" fmla="val 20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9136928" y="1901952"/>
            <a:ext cx="256032" cy="25603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sz="2000" noProof="0">
              <a:latin typeface="Montserrat" pitchFamily="2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9502688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PERFIL D</a:t>
            </a:r>
            <a:endParaRPr lang="pt-BR" sz="1200" noProof="0">
              <a:latin typeface="Montserrat" pitchFamily="2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9136928" y="236363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</a:t>
            </a:r>
            <a:endParaRPr lang="pt-BR" sz="10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10810574" y="2363634"/>
            <a:ext cx="788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DIST.</a:t>
            </a:r>
            <a:endParaRPr lang="pt-BR" sz="10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9171432" y="2628292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1.</a:t>
            </a:r>
            <a:endParaRPr lang="pt-BR" sz="9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9418320" y="262829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Oriente</a:t>
            </a:r>
            <a:endParaRPr lang="pt-BR" sz="9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10725912" y="26282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50" b="1" noProof="0">
                <a:solidFill>
                  <a:srgbClr val="EA3234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0,122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9171432" y="31037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2.</a:t>
            </a:r>
            <a:endParaRPr lang="pt-BR" sz="9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9418320" y="31037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Jumirim</a:t>
            </a:r>
            <a:endParaRPr lang="pt-BR" sz="9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10725912" y="31037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50" b="1" noProof="0">
                <a:solidFill>
                  <a:srgbClr val="EA3234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0,123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9171432" y="3579268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3.</a:t>
            </a:r>
            <a:endParaRPr lang="pt-BR" sz="9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83" name="Text 80"/>
          <p:cNvSpPr/>
          <p:nvPr/>
        </p:nvSpPr>
        <p:spPr>
          <a:xfrm>
            <a:off x="9418320" y="35792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Piratininga</a:t>
            </a:r>
            <a:endParaRPr lang="pt-BR" sz="9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10725912" y="35792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50" b="1" noProof="0">
                <a:solidFill>
                  <a:srgbClr val="EA3234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0,194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85" name="Text 82"/>
          <p:cNvSpPr/>
          <p:nvPr/>
        </p:nvSpPr>
        <p:spPr>
          <a:xfrm>
            <a:off x="9171432" y="4054756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4.</a:t>
            </a:r>
            <a:endParaRPr lang="pt-BR" sz="9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86" name="Text 83"/>
          <p:cNvSpPr/>
          <p:nvPr/>
        </p:nvSpPr>
        <p:spPr>
          <a:xfrm>
            <a:off x="9418320" y="405475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Itatinga</a:t>
            </a:r>
            <a:endParaRPr lang="pt-BR" sz="9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10725912" y="40547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50" b="1" noProof="0">
                <a:solidFill>
                  <a:srgbClr val="EA3234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0,263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88" name="Text 85"/>
          <p:cNvSpPr/>
          <p:nvPr/>
        </p:nvSpPr>
        <p:spPr>
          <a:xfrm>
            <a:off x="9171432" y="4530244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5.</a:t>
            </a:r>
            <a:endParaRPr lang="pt-BR" sz="900" b="1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89" name="Text 86"/>
          <p:cNvSpPr/>
          <p:nvPr/>
        </p:nvSpPr>
        <p:spPr>
          <a:xfrm>
            <a:off x="9418320" y="45302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Itararé</a:t>
            </a:r>
            <a:endParaRPr lang="pt-BR" sz="9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90" name="Text 87"/>
          <p:cNvSpPr/>
          <p:nvPr/>
        </p:nvSpPr>
        <p:spPr>
          <a:xfrm>
            <a:off x="10725912" y="45302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50" b="1" noProof="0">
                <a:solidFill>
                  <a:srgbClr val="EA3234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0,304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91" name="Shape 88"/>
          <p:cNvSpPr/>
          <p:nvPr/>
        </p:nvSpPr>
        <p:spPr>
          <a:xfrm>
            <a:off x="548640" y="5429464"/>
            <a:ext cx="11091672" cy="703917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 w="1270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pt-BR" sz="2000" noProof="0">
              <a:latin typeface="Montserrat" pitchFamily="2" charset="0"/>
            </a:endParaRPr>
          </a:p>
        </p:txBody>
      </p:sp>
      <p:sp>
        <p:nvSpPr>
          <p:cNvPr id="92" name="Text 89"/>
          <p:cNvSpPr/>
          <p:nvPr/>
        </p:nvSpPr>
        <p:spPr>
          <a:xfrm>
            <a:off x="929640" y="5586984"/>
            <a:ext cx="10332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 distância ao centroide identifica os municípios mais típicos de cada perfil e não expressa desempenho: a posição no </a:t>
            </a:r>
            <a:r>
              <a:rPr lang="pt-BR" sz="1100" i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ranking</a:t>
            </a:r>
            <a:r>
              <a:rPr lang="pt-BR" sz="1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não assegura, por si, o avanço às etapas seguintes, que permanece condicionado ao limite de vagas por perfil definido no edital.</a:t>
            </a:r>
            <a:endParaRPr lang="pt-BR" sz="1100" noProof="0">
              <a:solidFill>
                <a:schemeClr val="bg1"/>
              </a:solidFill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8">
            <a:extLst>
              <a:ext uri="{FF2B5EF4-FFF2-40B4-BE49-F238E27FC236}">
                <a16:creationId xmlns:a16="http://schemas.microsoft.com/office/drawing/2014/main" id="{3C7959AE-BA07-739D-4B13-483E76D8BCBB}"/>
              </a:ext>
            </a:extLst>
          </p:cNvPr>
          <p:cNvSpPr/>
          <p:nvPr/>
        </p:nvSpPr>
        <p:spPr>
          <a:xfrm>
            <a:off x="7059836" y="3128432"/>
            <a:ext cx="4701989" cy="841401"/>
          </a:xfrm>
          <a:prstGeom prst="roundRect">
            <a:avLst>
              <a:gd name="adj" fmla="val 15094"/>
            </a:avLst>
          </a:prstGeom>
          <a:solidFill>
            <a:srgbClr val="1E1E1E">
              <a:alpha val="69804"/>
            </a:srgbClr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COMPARAÇÃO ENTRE AS DUAS METODOLOGIAS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Efeito da mudança do critério de ordenação sobre os 644 municípios classificados</a:t>
            </a:r>
            <a:endParaRPr lang="pt-BR" sz="12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F9A17180-3196-408D-11B5-FEE2B96C1681}"/>
              </a:ext>
            </a:extLst>
          </p:cNvPr>
          <p:cNvSpPr/>
          <p:nvPr/>
        </p:nvSpPr>
        <p:spPr>
          <a:xfrm>
            <a:off x="7158033" y="2025021"/>
            <a:ext cx="4485327" cy="1103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2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SOROCABA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IAP = 1,939 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Ranking IAP (Perfil C) = 1º do Estado 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Distância ao centroide = 1,339 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Ranking de representatividade = 179º (de 180)</a:t>
            </a: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115AD2DF-3654-EF87-7B07-3C3D250CDBC4}"/>
              </a:ext>
            </a:extLst>
          </p:cNvPr>
          <p:cNvSpPr/>
          <p:nvPr/>
        </p:nvSpPr>
        <p:spPr>
          <a:xfrm>
            <a:off x="7235763" y="4270122"/>
            <a:ext cx="4407597" cy="1103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2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BARRA BONITA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IAP = 1,040 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Ranking IAP (Perfil C) = 51º 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Distância ao centroide = 0,243 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Ranking de representatividade = 1º</a:t>
            </a: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2B158A55-AC99-7373-9D85-703F492AD30D}"/>
              </a:ext>
            </a:extLst>
          </p:cNvPr>
          <p:cNvSpPr/>
          <p:nvPr/>
        </p:nvSpPr>
        <p:spPr>
          <a:xfrm>
            <a:off x="7014116" y="1573765"/>
            <a:ext cx="4747710" cy="2743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14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EXEMPLO – PERFIL C</a:t>
            </a:r>
            <a:endParaRPr lang="pt-BR" sz="1400" noProof="0">
              <a:latin typeface="Montserrat" pitchFamily="2" charset="0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E76A2DA3-1EFE-C343-0024-E197569C8799}"/>
              </a:ext>
            </a:extLst>
          </p:cNvPr>
          <p:cNvSpPr/>
          <p:nvPr/>
        </p:nvSpPr>
        <p:spPr>
          <a:xfrm>
            <a:off x="7204910" y="3238213"/>
            <a:ext cx="4438450" cy="608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2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Sorocaba apresenta forte alinhamento às direções esperadas para C, mas sua combinação de indicadores é distante da combinação média dos municípios de C.</a:t>
            </a:r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0C473327-B6D5-1BAC-416E-77472DBD1A1C}"/>
              </a:ext>
            </a:extLst>
          </p:cNvPr>
          <p:cNvSpPr/>
          <p:nvPr/>
        </p:nvSpPr>
        <p:spPr>
          <a:xfrm>
            <a:off x="7059835" y="5384685"/>
            <a:ext cx="4701991" cy="895916"/>
          </a:xfrm>
          <a:prstGeom prst="roundRect">
            <a:avLst>
              <a:gd name="adj" fmla="val 10494"/>
            </a:avLst>
          </a:prstGeom>
          <a:solidFill>
            <a:srgbClr val="1E1E1E">
              <a:alpha val="69804"/>
            </a:srgbClr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71E27717-78AE-50E5-1C76-0DFA64F12683}"/>
              </a:ext>
            </a:extLst>
          </p:cNvPr>
          <p:cNvSpPr/>
          <p:nvPr/>
        </p:nvSpPr>
        <p:spPr>
          <a:xfrm>
            <a:off x="7158033" y="5542871"/>
            <a:ext cx="4459876" cy="618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200" noProof="0" dirty="0">
                <a:solidFill>
                  <a:schemeClr val="bg1"/>
                </a:solidFill>
                <a:latin typeface="Montserrat"/>
                <a:ea typeface="Arial" pitchFamily="34" charset="-122"/>
                <a:cs typeface="Arial"/>
              </a:rPr>
              <a:t>Barra Bonita apresenta alinhamento menor em termos </a:t>
            </a:r>
            <a:r>
              <a:rPr lang="pt-BR" sz="1200" noProof="0">
                <a:solidFill>
                  <a:schemeClr val="bg1"/>
                </a:solidFill>
                <a:latin typeface="Montserrat"/>
                <a:ea typeface="Arial" pitchFamily="34" charset="-122"/>
                <a:cs typeface="Arial"/>
              </a:rPr>
              <a:t>absolutos, mas é o município cuja combinação de </a:t>
            </a:r>
            <a:r>
              <a:rPr lang="pt-BR" sz="1200">
                <a:solidFill>
                  <a:schemeClr val="bg1"/>
                </a:solidFill>
                <a:latin typeface="Montserrat"/>
                <a:ea typeface="Arial" pitchFamily="34" charset="-122"/>
                <a:cs typeface="Arial"/>
              </a:rPr>
              <a:t>CFI</a:t>
            </a:r>
            <a:r>
              <a:rPr lang="pt-BR" sz="1200" noProof="0">
                <a:solidFill>
                  <a:schemeClr val="bg1"/>
                </a:solidFill>
                <a:latin typeface="Montserrat"/>
                <a:ea typeface="Arial" pitchFamily="34" charset="-122"/>
                <a:cs typeface="Arial"/>
              </a:rPr>
              <a:t>, </a:t>
            </a:r>
            <a:r>
              <a:rPr lang="pt-BR" sz="1200" noProof="0" dirty="0">
                <a:solidFill>
                  <a:schemeClr val="bg1"/>
                </a:solidFill>
                <a:latin typeface="Montserrat"/>
                <a:ea typeface="Arial" pitchFamily="34" charset="-122"/>
                <a:cs typeface="Arial"/>
              </a:rPr>
              <a:t>IMD e CSE mais se aproxima do padrão médio do grupo C.</a:t>
            </a:r>
          </a:p>
        </p:txBody>
      </p:sp>
      <p:graphicFrame>
        <p:nvGraphicFramePr>
          <p:cNvPr id="38" name="Tabela 37">
            <a:extLst>
              <a:ext uri="{FF2B5EF4-FFF2-40B4-BE49-F238E27FC236}">
                <a16:creationId xmlns:a16="http://schemas.microsoft.com/office/drawing/2014/main" id="{D9538F63-D586-E4A7-327D-52121A4BF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614853"/>
              </p:ext>
            </p:extLst>
          </p:nvPr>
        </p:nvGraphicFramePr>
        <p:xfrm>
          <a:off x="548640" y="1573764"/>
          <a:ext cx="5985975" cy="47068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1429">
                  <a:extLst>
                    <a:ext uri="{9D8B030D-6E8A-4147-A177-3AD203B41FA5}">
                      <a16:colId xmlns:a16="http://schemas.microsoft.com/office/drawing/2014/main" val="150862961"/>
                    </a:ext>
                  </a:extLst>
                </a:gridCol>
                <a:gridCol w="2449699">
                  <a:extLst>
                    <a:ext uri="{9D8B030D-6E8A-4147-A177-3AD203B41FA5}">
                      <a16:colId xmlns:a16="http://schemas.microsoft.com/office/drawing/2014/main" val="1810297150"/>
                    </a:ext>
                  </a:extLst>
                </a:gridCol>
                <a:gridCol w="2144847">
                  <a:extLst>
                    <a:ext uri="{9D8B030D-6E8A-4147-A177-3AD203B41FA5}">
                      <a16:colId xmlns:a16="http://schemas.microsoft.com/office/drawing/2014/main" val="891401061"/>
                    </a:ext>
                  </a:extLst>
                </a:gridCol>
              </a:tblGrid>
              <a:tr h="471649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99828"/>
                          </a:solidFill>
                          <a:latin typeface="Montserrat" pitchFamily="2" charset="0"/>
                        </a:rPr>
                        <a:t>DIMENSÃO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99828"/>
                          </a:solidFill>
                          <a:latin typeface="Montserrat" pitchFamily="2" charset="0"/>
                        </a:rPr>
                        <a:t>PROPOSTA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99828"/>
                          </a:solidFill>
                          <a:latin typeface="Montserrat" pitchFamily="2" charset="0"/>
                        </a:rPr>
                        <a:t>PROPOSTA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6168696"/>
                  </a:ext>
                </a:extLst>
              </a:tr>
              <a:tr h="681424"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Pergunta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Quanto o município está alinhado às características esperadas do perfil?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Quanto o município se aproxima do padrão médio do perfil?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545909"/>
                  </a:ext>
                </a:extLst>
              </a:tr>
              <a:tr h="710753"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Referência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Direção esperada dos eixos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Centroide do 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59186"/>
                  </a:ext>
                </a:extLst>
              </a:tr>
              <a:tr h="710753"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Critério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Combinação linear dos eixos padronizados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Distância ao centroide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47791"/>
                  </a:ext>
                </a:extLst>
              </a:tr>
              <a:tr h="710753"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Melhor posição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Maior IAP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Menor distância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790572"/>
                  </a:ext>
                </a:extLst>
              </a:tr>
              <a:tr h="710753"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Interpretação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Alinhamento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Tipicidade/</a:t>
                      </a:r>
                    </a:p>
                    <a:p>
                      <a:pPr algn="ctr"/>
                      <a:r>
                        <a:rPr lang="pt-BR" sz="1200" b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representatividade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8612918"/>
                  </a:ext>
                </a:extLst>
              </a:tr>
              <a:tr h="710753"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Uso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Ordenação </a:t>
                      </a:r>
                      <a:r>
                        <a:rPr lang="pt-BR" sz="1200" b="0" err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intraperfil</a:t>
                      </a:r>
                      <a:endParaRPr lang="pt-BR" sz="1200" b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Identificação de municípios-tipo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60681"/>
                  </a:ext>
                </a:extLst>
              </a:tr>
            </a:tbl>
          </a:graphicData>
        </a:graphic>
      </p:graphicFrame>
      <p:sp>
        <p:nvSpPr>
          <p:cNvPr id="40" name="Shape 0">
            <a:extLst>
              <a:ext uri="{FF2B5EF4-FFF2-40B4-BE49-F238E27FC236}">
                <a16:creationId xmlns:a16="http://schemas.microsoft.com/office/drawing/2014/main" id="{14B82801-7333-3E53-659A-503951A6057C}"/>
              </a:ext>
            </a:extLst>
          </p:cNvPr>
          <p:cNvSpPr/>
          <p:nvPr/>
        </p:nvSpPr>
        <p:spPr>
          <a:xfrm rot="5400000" flipV="1">
            <a:off x="4411024" y="3908895"/>
            <a:ext cx="4715980" cy="45719"/>
          </a:xfrm>
          <a:prstGeom prst="rect">
            <a:avLst/>
          </a:prstGeom>
          <a:gradFill flip="none" rotWithShape="1">
            <a:gsLst>
              <a:gs pos="0">
                <a:srgbClr val="F99828">
                  <a:shade val="30000"/>
                  <a:satMod val="115000"/>
                </a:srgbClr>
              </a:gs>
              <a:gs pos="50000">
                <a:srgbClr val="F99828">
                  <a:shade val="67500"/>
                  <a:satMod val="115000"/>
                </a:srgbClr>
              </a:gs>
              <a:gs pos="100000">
                <a:srgbClr val="F99828">
                  <a:shade val="100000"/>
                  <a:satMod val="115000"/>
                </a:srgbClr>
              </a:gs>
            </a:gsLst>
            <a:lin ang="162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endParaRPr lang="pt-BR" noProof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453896" y="2331720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2084832" y="2331720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715768" y="2331720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OBRIGADA!</a:t>
            </a:r>
            <a:endParaRPr lang="pt-BR" sz="3000" noProof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 E FUNDAMENTO INSTITUCIONAL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normativa e instrumento de cooperação que sustentam a chamada pública</a:t>
            </a:r>
            <a:endParaRPr lang="pt-BR" sz="1250" noProof="0"/>
          </a:p>
        </p:txBody>
      </p:sp>
      <p:pic>
        <p:nvPicPr>
          <p:cNvPr id="8" name="Image 0" descr="sp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20040"/>
            <a:ext cx="475488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pt-BR" sz="900" noProof="0"/>
          </a:p>
        </p:txBody>
      </p:sp>
      <p:sp>
        <p:nvSpPr>
          <p:cNvPr id="11" name="Shape 8"/>
          <p:cNvSpPr/>
          <p:nvPr/>
        </p:nvSpPr>
        <p:spPr>
          <a:xfrm>
            <a:off x="548640" y="1600200"/>
            <a:ext cx="2670048" cy="2788920"/>
          </a:xfrm>
          <a:prstGeom prst="roundRect">
            <a:avLst>
              <a:gd name="adj" fmla="val 20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2" name="Shape 9"/>
          <p:cNvSpPr/>
          <p:nvPr/>
        </p:nvSpPr>
        <p:spPr>
          <a:xfrm>
            <a:off x="804672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3852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4672" y="2542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>
                <a:solidFill>
                  <a:srgbClr val="F99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 FEDERAL Nº 10.973/2004</a:t>
            </a:r>
            <a:endParaRPr lang="pt-BR" sz="1100" noProof="0"/>
          </a:p>
        </p:txBody>
      </p:sp>
      <p:sp>
        <p:nvSpPr>
          <p:cNvPr id="15" name="Text 11"/>
          <p:cNvSpPr/>
          <p:nvPr/>
        </p:nvSpPr>
        <p:spPr>
          <a:xfrm>
            <a:off x="804672" y="2999232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Marco legal da inovação. Estabelece a cooperação entre entes públicos e o apoio das Instituições Científicas e Tecnológicas (</a:t>
            </a:r>
            <a:r>
              <a:rPr lang="pt-BR" sz="1000" noProof="0" err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ICTs</a:t>
            </a: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) ao setor produtivo.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3337560" y="1600200"/>
            <a:ext cx="2670048" cy="2788920"/>
          </a:xfrm>
          <a:prstGeom prst="roundRect">
            <a:avLst>
              <a:gd name="adj" fmla="val 20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7" name="Shape 13"/>
          <p:cNvSpPr/>
          <p:nvPr/>
        </p:nvSpPr>
        <p:spPr>
          <a:xfrm>
            <a:off x="3593592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93852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93592" y="2542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>
                <a:solidFill>
                  <a:srgbClr val="EA32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LC ESTADUAL Nº 1.049/2008</a:t>
            </a:r>
            <a:endParaRPr lang="pt-BR" sz="1100" noProof="0"/>
          </a:p>
        </p:txBody>
      </p:sp>
      <p:sp>
        <p:nvSpPr>
          <p:cNvPr id="20" name="Text 15"/>
          <p:cNvSpPr/>
          <p:nvPr/>
        </p:nvSpPr>
        <p:spPr>
          <a:xfrm>
            <a:off x="3593592" y="2999232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Qualifica o IPT como Instituição Científica e Tecnológica do Estado de São Paulo (ICTESP), habilitando-o à condução de chamadas públicas de base tecnológica.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6126480" y="1600200"/>
            <a:ext cx="2670048" cy="2788920"/>
          </a:xfrm>
          <a:prstGeom prst="roundRect">
            <a:avLst>
              <a:gd name="adj" fmla="val 20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2" name="Shape 17"/>
          <p:cNvSpPr/>
          <p:nvPr/>
        </p:nvSpPr>
        <p:spPr>
          <a:xfrm>
            <a:off x="6382512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1938528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82512" y="2542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>
                <a:solidFill>
                  <a:srgbClr val="4496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DECRETO ESTADUAL Nº 69.332/2025</a:t>
            </a:r>
            <a:endParaRPr lang="pt-BR" sz="1100" noProof="0"/>
          </a:p>
        </p:txBody>
      </p:sp>
      <p:sp>
        <p:nvSpPr>
          <p:cNvPr id="25" name="Text 19"/>
          <p:cNvSpPr/>
          <p:nvPr/>
        </p:nvSpPr>
        <p:spPr>
          <a:xfrm>
            <a:off x="6382512" y="2999232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Define as competências da SDE: promoção do crescimento econômico sustentável, atração de investimentos e redução das desigualdades regionais.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8915400" y="1600200"/>
            <a:ext cx="2670048" cy="2788920"/>
          </a:xfrm>
          <a:prstGeom prst="roundRect">
            <a:avLst>
              <a:gd name="adj" fmla="val 20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7" name="Shape 21"/>
          <p:cNvSpPr/>
          <p:nvPr/>
        </p:nvSpPr>
        <p:spPr>
          <a:xfrm>
            <a:off x="9171432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1938528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171432" y="2542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>
                <a:solidFill>
                  <a:srgbClr val="7C8E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CONVÊNIO CPER 001/2024</a:t>
            </a:r>
            <a:endParaRPr lang="pt-BR" sz="1100" noProof="0"/>
          </a:p>
        </p:txBody>
      </p:sp>
      <p:sp>
        <p:nvSpPr>
          <p:cNvPr id="30" name="Text 23"/>
          <p:cNvSpPr/>
          <p:nvPr/>
        </p:nvSpPr>
        <p:spPr>
          <a:xfrm>
            <a:off x="9171432" y="2999232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Celebrado em 31/12/2024 entre a SDE e o IPT para atuação colaborativa na Política de Cidades Inteligentes do Estado de São Paulo.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548640" y="4617720"/>
            <a:ext cx="11091672" cy="1463040"/>
          </a:xfrm>
          <a:prstGeom prst="roundRect">
            <a:avLst>
              <a:gd name="adj" fmla="val 3750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2" name="Text 25"/>
          <p:cNvSpPr/>
          <p:nvPr/>
        </p:nvSpPr>
        <p:spPr>
          <a:xfrm>
            <a:off x="868680" y="479904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OBJETO DA CHAMADA PÚBLICA</a:t>
            </a:r>
            <a:endParaRPr lang="pt-BR" sz="1200" noProof="0"/>
          </a:p>
        </p:txBody>
      </p:sp>
      <p:sp>
        <p:nvSpPr>
          <p:cNvPr id="33" name="Text 26"/>
          <p:cNvSpPr/>
          <p:nvPr/>
        </p:nvSpPr>
        <p:spPr>
          <a:xfrm>
            <a:off x="868680" y="5228814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Seleção de municípios do Estado de São Paulo para recebimento de apoio técnico na estruturação de projetos de Cidades Inteligentes, com o objetivo de qualificar a demanda pública local e assegurar o desenho de soluções com viabilidade técnica, previsibilidade jurídica e sustentabilidade econômico-financeira. Vigência de 18 meses, com caráter contínuo e condução do IPT em parceria com a SDE.</a:t>
            </a:r>
            <a:endParaRPr lang="pt-BR" sz="1100" noProof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ATRIBUIÇÕES INSTITUCIONAIS E EIXOS TEMÁTICOS</a:t>
            </a:r>
            <a:endParaRPr lang="pt-BR" sz="2500" noProof="0"/>
          </a:p>
        </p:txBody>
      </p:sp>
      <p:sp>
        <p:nvSpPr>
          <p:cNvPr id="9" name="Text 6"/>
          <p:cNvSpPr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pt-BR" sz="900" noProof="0"/>
          </a:p>
        </p:txBody>
      </p:sp>
      <p:sp>
        <p:nvSpPr>
          <p:cNvPr id="10" name="Shape 7"/>
          <p:cNvSpPr/>
          <p:nvPr/>
        </p:nvSpPr>
        <p:spPr>
          <a:xfrm>
            <a:off x="548640" y="1381955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1" name="Text 8"/>
          <p:cNvSpPr/>
          <p:nvPr/>
        </p:nvSpPr>
        <p:spPr>
          <a:xfrm>
            <a:off x="822960" y="1564835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>
                <a:solidFill>
                  <a:srgbClr val="F99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SECRETARIA DE DESENVOLVIMENTO ECONÔMICO – SDE</a:t>
            </a:r>
            <a:endParaRPr lang="pt-BR" sz="1150" noProof="0"/>
          </a:p>
        </p:txBody>
      </p:sp>
      <p:sp>
        <p:nvSpPr>
          <p:cNvPr id="12" name="Text 9"/>
          <p:cNvSpPr/>
          <p:nvPr/>
        </p:nvSpPr>
        <p:spPr>
          <a:xfrm>
            <a:off x="822960" y="1948883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Formulação da Política de Cidades Inteligentes do Estado de São Paulo.</a:t>
            </a:r>
            <a:endParaRPr lang="pt-BR" sz="105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Direcionamento estratégico e alinhamento à agenda de redução das desigualdades regionais.</a:t>
            </a:r>
            <a:endParaRPr lang="pt-BR" sz="105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Articulação institucional com os municípios e com os demais órgãos estaduais.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153912" y="1381955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4" name="Text 11"/>
          <p:cNvSpPr/>
          <p:nvPr/>
        </p:nvSpPr>
        <p:spPr>
          <a:xfrm>
            <a:off x="6428232" y="1564835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>
                <a:solidFill>
                  <a:srgbClr val="4496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INSTITUTO DE PESQUISAS TECNOLÓGICAS – IPT</a:t>
            </a:r>
            <a:endParaRPr lang="pt-BR" sz="1150" noProof="0"/>
          </a:p>
        </p:txBody>
      </p:sp>
      <p:sp>
        <p:nvSpPr>
          <p:cNvPr id="15" name="Text 12"/>
          <p:cNvSpPr/>
          <p:nvPr/>
        </p:nvSpPr>
        <p:spPr>
          <a:xfrm>
            <a:off x="6428232" y="1948883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Condução técnica da chamada pública e da metodologia de classificação.</a:t>
            </a:r>
            <a:endParaRPr lang="pt-BR" sz="105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Capacitação, mentoria técnica e assessoria à estruturação dos projetos.</a:t>
            </a:r>
            <a:endParaRPr lang="pt-BR" sz="105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Análise de admissibilidade, avaliação das entregas e apreciação de recursos.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4864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EIXOS TEMÁTICOS DE ATUAÇÃO</a:t>
            </a:r>
            <a:endParaRPr lang="pt-BR" sz="1300" noProof="0"/>
          </a:p>
        </p:txBody>
      </p:sp>
      <p:sp>
        <p:nvSpPr>
          <p:cNvPr id="17" name="Text 14"/>
          <p:cNvSpPr/>
          <p:nvPr/>
        </p:nvSpPr>
        <p:spPr>
          <a:xfrm>
            <a:off x="548640" y="4069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Os problemas públicos prioritários indicados pelos municípios e as respectivas soluções devem estar compreendidos nos cinco eixos abaixo.</a:t>
            </a:r>
            <a:endParaRPr lang="pt-BR" sz="1050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48640" y="4480560"/>
            <a:ext cx="2121408" cy="1600200"/>
          </a:xfrm>
          <a:prstGeom prst="roundRect">
            <a:avLst>
              <a:gd name="adj" fmla="val 3429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645152"/>
            <a:ext cx="310896" cy="31089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49808" y="50109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CONECTIVIDADE</a:t>
            </a:r>
            <a:endParaRPr lang="pt-BR" sz="950" noProof="0"/>
          </a:p>
        </p:txBody>
      </p:sp>
      <p:sp>
        <p:nvSpPr>
          <p:cNvPr id="21" name="Text 17"/>
          <p:cNvSpPr/>
          <p:nvPr/>
        </p:nvSpPr>
        <p:spPr>
          <a:xfrm>
            <a:off x="749808" y="5440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850" noProof="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Redes, banda larga, fibra e Wi-Fi público como base de operação das soluções.</a:t>
            </a:r>
            <a:endParaRPr lang="pt-BR" sz="850" noProof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Shape 18"/>
          <p:cNvSpPr/>
          <p:nvPr/>
        </p:nvSpPr>
        <p:spPr>
          <a:xfrm>
            <a:off x="2788920" y="4480560"/>
            <a:ext cx="2121408" cy="1600200"/>
          </a:xfrm>
          <a:prstGeom prst="roundRect">
            <a:avLst>
              <a:gd name="adj" fmla="val 3429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088" y="4645152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990088" y="50109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GOVERNANÇA E PLANEJAMENTO URBANO</a:t>
            </a:r>
            <a:endParaRPr lang="pt-BR" sz="950" noProof="0"/>
          </a:p>
        </p:txBody>
      </p:sp>
      <p:sp>
        <p:nvSpPr>
          <p:cNvPr id="25" name="Text 20"/>
          <p:cNvSpPr/>
          <p:nvPr/>
        </p:nvSpPr>
        <p:spPr>
          <a:xfrm>
            <a:off x="2990088" y="5440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850" noProof="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transparente de recursos, integração entre órgãos e ordenamento territorial.</a:t>
            </a:r>
            <a:endParaRPr lang="pt-BR" sz="850" noProof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6" name="Shape 21"/>
          <p:cNvSpPr/>
          <p:nvPr/>
        </p:nvSpPr>
        <p:spPr>
          <a:xfrm>
            <a:off x="5029200" y="4480560"/>
            <a:ext cx="2121408" cy="1600200"/>
          </a:xfrm>
          <a:prstGeom prst="roundRect">
            <a:avLst>
              <a:gd name="adj" fmla="val 3429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68" y="4645152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30368" y="50109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MOBILIDADE URBANA</a:t>
            </a:r>
            <a:endParaRPr lang="pt-BR" sz="950" noProof="0"/>
          </a:p>
        </p:txBody>
      </p:sp>
      <p:sp>
        <p:nvSpPr>
          <p:cNvPr id="29" name="Text 23"/>
          <p:cNvSpPr/>
          <p:nvPr/>
        </p:nvSpPr>
        <p:spPr>
          <a:xfrm>
            <a:off x="5230368" y="5440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850" noProof="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modal, monitoramento de tráfego e acessibilidade.</a:t>
            </a:r>
            <a:endParaRPr lang="pt-BR" sz="850" noProof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0" name="Shape 24"/>
          <p:cNvSpPr/>
          <p:nvPr/>
        </p:nvSpPr>
        <p:spPr>
          <a:xfrm>
            <a:off x="7269480" y="4480560"/>
            <a:ext cx="2121408" cy="1600200"/>
          </a:xfrm>
          <a:prstGeom prst="roundRect">
            <a:avLst>
              <a:gd name="adj" fmla="val 3429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0648" y="4645152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470648" y="50109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SEGURANÇA</a:t>
            </a:r>
            <a:endParaRPr lang="pt-BR" sz="950" noProof="0"/>
          </a:p>
        </p:txBody>
      </p:sp>
      <p:sp>
        <p:nvSpPr>
          <p:cNvPr id="33" name="Text 26"/>
          <p:cNvSpPr/>
          <p:nvPr/>
        </p:nvSpPr>
        <p:spPr>
          <a:xfrm>
            <a:off x="7470648" y="5440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850" noProof="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Videomonitoramento, iluminação inteligente e integração de sistemas de resposta.</a:t>
            </a:r>
            <a:endParaRPr lang="pt-BR" sz="850" noProof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4" name="Shape 27"/>
          <p:cNvSpPr/>
          <p:nvPr/>
        </p:nvSpPr>
        <p:spPr>
          <a:xfrm>
            <a:off x="9509760" y="4480560"/>
            <a:ext cx="2121408" cy="1600200"/>
          </a:xfrm>
          <a:prstGeom prst="roundRect">
            <a:avLst>
              <a:gd name="adj" fmla="val 3429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0928" y="4645152"/>
            <a:ext cx="310896" cy="31089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710928" y="50109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SERVIÇOS</a:t>
            </a:r>
            <a:endParaRPr lang="pt-BR" sz="950" noProof="0"/>
          </a:p>
        </p:txBody>
      </p:sp>
      <p:sp>
        <p:nvSpPr>
          <p:cNvPr id="37" name="Text 29"/>
          <p:cNvSpPr/>
          <p:nvPr/>
        </p:nvSpPr>
        <p:spPr>
          <a:xfrm>
            <a:off x="9710928" y="5440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850" noProof="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Digitalização e automação de serviços públicos e do atendimento ao cidadão.</a:t>
            </a:r>
            <a:endParaRPr lang="pt-BR" sz="850" noProof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RESULTADOS ESPERADOS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Entregas previstas ao longo do ciclo de 18 meses</a:t>
            </a:r>
            <a:endParaRPr lang="pt-BR" sz="1250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pic>
        <p:nvPicPr>
          <p:cNvPr id="8" name="Image 0" descr="sp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20040"/>
            <a:ext cx="475488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pt-BR" sz="900" noProof="0"/>
          </a:p>
        </p:txBody>
      </p:sp>
      <p:sp>
        <p:nvSpPr>
          <p:cNvPr id="11" name="Shape 8"/>
          <p:cNvSpPr/>
          <p:nvPr/>
        </p:nvSpPr>
        <p:spPr>
          <a:xfrm>
            <a:off x="548640" y="1691640"/>
            <a:ext cx="2670048" cy="3200400"/>
          </a:xfrm>
          <a:prstGeom prst="roundRect">
            <a:avLst>
              <a:gd name="adj" fmla="val 20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2" name="Text 9"/>
          <p:cNvSpPr/>
          <p:nvPr/>
        </p:nvSpPr>
        <p:spPr>
          <a:xfrm>
            <a:off x="777240" y="196596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>
                <a:solidFill>
                  <a:srgbClr val="F99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TODOS</a:t>
            </a:r>
            <a:endParaRPr lang="pt-BR" sz="3000" noProof="0"/>
          </a:p>
        </p:txBody>
      </p:sp>
      <p:sp>
        <p:nvSpPr>
          <p:cNvPr id="13" name="Text 10"/>
          <p:cNvSpPr/>
          <p:nvPr/>
        </p:nvSpPr>
        <p:spPr>
          <a:xfrm>
            <a:off x="777240" y="27889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os municípios inscritos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77240" y="3154680"/>
            <a:ext cx="914400" cy="1371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5" name="Text 12"/>
          <p:cNvSpPr/>
          <p:nvPr/>
        </p:nvSpPr>
        <p:spPr>
          <a:xfrm>
            <a:off x="777240" y="3310128"/>
            <a:ext cx="2212848" cy="614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Devolutiva com indicador de maturidade digital, utilizável como subsídio ao planejamento local.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337560" y="1691640"/>
            <a:ext cx="2670048" cy="3200400"/>
          </a:xfrm>
          <a:prstGeom prst="roundRect">
            <a:avLst>
              <a:gd name="adj" fmla="val 20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7" name="Text 14"/>
          <p:cNvSpPr/>
          <p:nvPr/>
        </p:nvSpPr>
        <p:spPr>
          <a:xfrm>
            <a:off x="3566160" y="196596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4400" b="1" noProof="0">
                <a:solidFill>
                  <a:srgbClr val="EA32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</a:t>
            </a:r>
            <a:endParaRPr lang="pt-BR" sz="4400" noProof="0"/>
          </a:p>
        </p:txBody>
      </p:sp>
      <p:sp>
        <p:nvSpPr>
          <p:cNvPr id="18" name="Text 15"/>
          <p:cNvSpPr/>
          <p:nvPr/>
        </p:nvSpPr>
        <p:spPr>
          <a:xfrm>
            <a:off x="3566160" y="27889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566160" y="3154680"/>
            <a:ext cx="914400" cy="1371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0" name="Text 17"/>
          <p:cNvSpPr/>
          <p:nvPr/>
        </p:nvSpPr>
        <p:spPr>
          <a:xfrm>
            <a:off x="3502151" y="3310128"/>
            <a:ext cx="2395729" cy="745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Diagnóstico institucional e tecnológico aprofundado, com problema público reformulado e causa-raiz identificada.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126480" y="1691640"/>
            <a:ext cx="2670048" cy="3200400"/>
          </a:xfrm>
          <a:prstGeom prst="roundRect">
            <a:avLst>
              <a:gd name="adj" fmla="val 20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2" name="Text 19"/>
          <p:cNvSpPr/>
          <p:nvPr/>
        </p:nvSpPr>
        <p:spPr>
          <a:xfrm>
            <a:off x="6355080" y="196596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4400" b="1" noProof="0">
                <a:solidFill>
                  <a:srgbClr val="4496C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pt-BR" sz="4400" noProof="0"/>
          </a:p>
        </p:txBody>
      </p:sp>
      <p:sp>
        <p:nvSpPr>
          <p:cNvPr id="23" name="Text 20"/>
          <p:cNvSpPr/>
          <p:nvPr/>
        </p:nvSpPr>
        <p:spPr>
          <a:xfrm>
            <a:off x="6355080" y="27889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355080" y="3154680"/>
            <a:ext cx="914400" cy="1371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5" name="Text 22"/>
          <p:cNvSpPr/>
          <p:nvPr/>
        </p:nvSpPr>
        <p:spPr>
          <a:xfrm>
            <a:off x="6355080" y="3310128"/>
            <a:ext cx="215056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Plano de Ação estruturado, com análise técnica das soluções tecnológicas viáveis.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915400" y="1691640"/>
            <a:ext cx="2670048" cy="3200400"/>
          </a:xfrm>
          <a:prstGeom prst="roundRect">
            <a:avLst>
              <a:gd name="adj" fmla="val 20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7" name="Text 24"/>
          <p:cNvSpPr/>
          <p:nvPr/>
        </p:nvSpPr>
        <p:spPr>
          <a:xfrm>
            <a:off x="9144000" y="196596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4400" b="1" noProof="0">
                <a:solidFill>
                  <a:srgbClr val="7C8E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pt-BR" sz="4400" noProof="0"/>
          </a:p>
        </p:txBody>
      </p:sp>
      <p:sp>
        <p:nvSpPr>
          <p:cNvPr id="28" name="Text 25"/>
          <p:cNvSpPr/>
          <p:nvPr/>
        </p:nvSpPr>
        <p:spPr>
          <a:xfrm>
            <a:off x="9144000" y="27889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9144000" y="3154680"/>
            <a:ext cx="914400" cy="1371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0" name="Text 27"/>
          <p:cNvSpPr/>
          <p:nvPr/>
        </p:nvSpPr>
        <p:spPr>
          <a:xfrm>
            <a:off x="9144000" y="3310128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Estudo Técnico Preliminar e Termo de Referência modelados, com acompanhamento da implantação e da avaliação de impacto.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2" name="Text 29"/>
          <p:cNvSpPr/>
          <p:nvPr/>
        </p:nvSpPr>
        <p:spPr>
          <a:xfrm>
            <a:off x="882396" y="531214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2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RESULTADO SISTÊMICO: 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ampliação da capacidade técnica e decisória da administração municipal, redução do risco associado à contratação de tecnologias emergentes e produção de modelos de ETP e Termo de Referência replicáveis por outros municípios paulistas.</a:t>
            </a:r>
            <a:endParaRPr lang="pt-BR" sz="1200" noProof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DISTRIBUIÇÃO DAS VAGAS ENTRE OS PERFIS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Critério de proporcionalidade com garantia de quantitativo mínimo por perfil</a:t>
            </a:r>
            <a:endParaRPr lang="pt-BR" sz="1250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pic>
        <p:nvPicPr>
          <p:cNvPr id="8" name="Image 0" descr="sp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20040"/>
            <a:ext cx="475488" cy="241402"/>
          </a:xfrm>
          <a:prstGeom prst="rect">
            <a:avLst/>
          </a:prstGeom>
        </p:spPr>
      </p:pic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226806"/>
              </p:ext>
            </p:extLst>
          </p:nvPr>
        </p:nvGraphicFramePr>
        <p:xfrm>
          <a:off x="548640" y="1517904"/>
          <a:ext cx="6675120" cy="2755391"/>
        </p:xfrm>
        <a:graphic>
          <a:graphicData uri="http://schemas.openxmlformats.org/drawingml/2006/table">
            <a:tbl>
              <a:tblPr/>
              <a:tblGrid>
                <a:gridCol w="1176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9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3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3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02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>
                          <a:solidFill>
                            <a:srgbClr val="F99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PERFIL</a:t>
                      </a:r>
                      <a:endParaRPr lang="pt-BR" sz="1050" noProof="0">
                        <a:solidFill>
                          <a:srgbClr val="F99828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>
                          <a:solidFill>
                            <a:srgbClr val="F99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MUNICÍPIOS NO ESTADO</a:t>
                      </a:r>
                      <a:endParaRPr lang="pt-BR" sz="1050" noProof="0">
                        <a:solidFill>
                          <a:srgbClr val="F99828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>
                          <a:solidFill>
                            <a:srgbClr val="F99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PARTICIPAÇÃO</a:t>
                      </a:r>
                      <a:endParaRPr lang="pt-BR" sz="1050" noProof="0">
                        <a:solidFill>
                          <a:srgbClr val="F99828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>
                          <a:solidFill>
                            <a:srgbClr val="F99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VAGAS — ETAPA 2</a:t>
                      </a:r>
                      <a:endParaRPr lang="pt-BR" sz="1050" noProof="0">
                        <a:solidFill>
                          <a:srgbClr val="F99828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>
                          <a:solidFill>
                            <a:srgbClr val="F99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VAGAS — ETAPA 3</a:t>
                      </a:r>
                      <a:endParaRPr lang="pt-BR" sz="1050" noProof="0">
                        <a:solidFill>
                          <a:srgbClr val="F99828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1" noProof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Perfil A</a:t>
                      </a:r>
                      <a:endParaRPr lang="pt-BR" sz="1050" b="1" noProof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pt-BR" sz="1050" noProof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24,2%</a:t>
                      </a:r>
                      <a:endParaRPr lang="pt-BR" sz="1050" noProof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pt-BR" sz="1050" noProof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pt-BR" sz="1050" noProof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Perfil B</a:t>
                      </a:r>
                      <a:endParaRPr lang="pt-BR" sz="1050" b="1" noProof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</a:t>
                      </a:r>
                      <a:endParaRPr lang="pt-BR" sz="1050" noProof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36,6%</a:t>
                      </a:r>
                      <a:endParaRPr lang="pt-BR" sz="1050" noProof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pt-BR" sz="1050" noProof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pt-BR" sz="1050" noProof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Perfil C</a:t>
                      </a:r>
                      <a:endParaRPr lang="pt-BR" sz="1050" b="1" noProof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pt-BR" sz="1050" noProof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28,0%</a:t>
                      </a:r>
                      <a:endParaRPr lang="pt-BR" sz="1050" noProof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pt-BR" sz="1050" noProof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pt-BR" sz="1050" noProof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Perfil D</a:t>
                      </a:r>
                      <a:endParaRPr lang="pt-BR" sz="1050" b="1" noProof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pt-BR" sz="1050" noProof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11,2%</a:t>
                      </a:r>
                      <a:endParaRPr lang="pt-BR" sz="1050" noProof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pt-BR" sz="1050" noProof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pt-BR" sz="1050" noProof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>
                          <a:solidFill>
                            <a:srgbClr val="F99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pt-BR" sz="1050" noProof="0">
                        <a:solidFill>
                          <a:srgbClr val="F99828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>
                          <a:solidFill>
                            <a:srgbClr val="F99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644</a:t>
                      </a:r>
                      <a:endParaRPr lang="pt-BR" sz="1050" noProof="0">
                        <a:solidFill>
                          <a:srgbClr val="F99828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>
                          <a:solidFill>
                            <a:srgbClr val="F99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pt-BR" sz="1050" noProof="0">
                        <a:solidFill>
                          <a:srgbClr val="F99828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>
                          <a:solidFill>
                            <a:srgbClr val="F99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pt-BR" sz="1050" noProof="0">
                        <a:solidFill>
                          <a:srgbClr val="F99828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>
                          <a:solidFill>
                            <a:srgbClr val="F99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pt-BR" sz="1050" noProof="0">
                        <a:solidFill>
                          <a:srgbClr val="F99828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12064" y="4572000"/>
            <a:ext cx="6711696" cy="1630392"/>
          </a:xfrm>
          <a:prstGeom prst="roundRect">
            <a:avLst>
              <a:gd name="adj" fmla="val 3636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2296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CRITÉRIO ADOTADO</a:t>
            </a:r>
            <a:endParaRPr lang="pt-BR" sz="1300" noProof="0">
              <a:latin typeface="Montserrat" pitchFamily="2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807719" y="5094761"/>
            <a:ext cx="61969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 distribuição considera a </a:t>
            </a:r>
            <a:r>
              <a:rPr lang="pt-BR" sz="11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participação relativa </a:t>
            </a: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de cada perfil no universo dos municípios paulistas e assegura, simultaneamente, quantitativo mínimo por perfil. O mecanismo preserva a </a:t>
            </a:r>
            <a:r>
              <a:rPr lang="pt-BR" sz="11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representatividade</a:t>
            </a: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dos diferentes níveis de maturidade digital e impede que os perfis menos numerosos ou com maiores restrições sejam excluídos do programa.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452360" y="1517904"/>
            <a:ext cx="4187952" cy="4684488"/>
          </a:xfrm>
          <a:prstGeom prst="roundRect">
            <a:avLst>
              <a:gd name="adj" fmla="val 131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726680" y="183428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REGRA DE REDISTRIBUIÇÃO</a:t>
            </a:r>
            <a:endParaRPr lang="pt-BR" sz="1300" noProof="0">
              <a:solidFill>
                <a:srgbClr val="F99828"/>
              </a:solidFill>
              <a:latin typeface="Montserrat" pitchFamily="2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726680" y="2286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Caso um perfil não tenha municípios inscritos ou aptos em quantidade suficiente para preencher suas vagas: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7726680" y="3086100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1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ETAPA 2: </a:t>
            </a: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as vagas remanescentes são redistribuídas entre os demais perfis, convocando-se sucessivamente os municípios </a:t>
            </a:r>
            <a:r>
              <a:rPr lang="pt-BR" sz="11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melhor posicionados em seus respectivos rankings</a:t>
            </a: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, até o limite de 50 municípios.</a:t>
            </a: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endParaRPr lang="pt-BR" sz="1100" noProof="0">
              <a:latin typeface="Montserrat" pitchFamily="2" charset="0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1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ETAPA 3: </a:t>
            </a: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as vagas remanescentes são redistribuídas entre os </a:t>
            </a:r>
            <a:r>
              <a:rPr lang="pt-BR" sz="11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 aptos ainda não classificados, em ordem decrescente da nota final</a:t>
            </a: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, independentemente do perfil, até o limite de 25 municípios.</a:t>
            </a: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endParaRPr lang="pt-BR" sz="1100" noProof="0">
              <a:latin typeface="Montserrat" pitchFamily="2" charset="0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Em nenhuma hipótese o limite total de vagas por etapa é ampliado.</a:t>
            </a:r>
            <a:endParaRPr lang="pt-BR" sz="1100" noProof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CRITÉRIOS DE AFUNILAMENTO ENTRE ETAPAS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Condição de elegibilidade, critério de classificação e motivo de eliminação em cada transição</a:t>
            </a:r>
            <a:endParaRPr lang="pt-BR" sz="1250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pic>
        <p:nvPicPr>
          <p:cNvPr id="8" name="Image 0" descr="sp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20040"/>
            <a:ext cx="475488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pt-BR" sz="900" noProof="0"/>
          </a:p>
        </p:txBody>
      </p:sp>
      <p:sp>
        <p:nvSpPr>
          <p:cNvPr id="11" name="Text 8"/>
          <p:cNvSpPr/>
          <p:nvPr/>
        </p:nvSpPr>
        <p:spPr>
          <a:xfrm>
            <a:off x="548640" y="1481328"/>
            <a:ext cx="16597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kern="0" spc="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TRANSIÇÃO</a:t>
            </a:r>
            <a:endParaRPr lang="pt-BR" sz="11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644860" y="14813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QUEM CONCORRE</a:t>
            </a:r>
            <a:endParaRPr lang="pt-BR" sz="11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493302" y="1481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CRITÉRIO DE CLASSIFICAÇÃO</a:t>
            </a:r>
            <a:endParaRPr lang="pt-BR" sz="11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828274" y="1481328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MOTIVOS DE ELIMINAÇÃO</a:t>
            </a:r>
            <a:endParaRPr lang="pt-BR" sz="11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48640" y="1773936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77240" y="192024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ETAPA 1 → ETAPA 2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77240" y="2286000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2A2A2A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77240" y="22860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até 50</a:t>
            </a:r>
            <a:endParaRPr lang="pt-BR" sz="900" noProof="0">
              <a:latin typeface="Montserrat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644860" y="2018582"/>
            <a:ext cx="2396418" cy="671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 com inscrição homologada na análise prévia de admissibilidade.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493302" y="1938528"/>
            <a:ext cx="2762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Classificação no </a:t>
            </a:r>
            <a:r>
              <a:rPr lang="pt-BR" sz="10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perfil de maturidade e ordenação decrescente pelo Índice de Alinhamento ao Perfil</a:t>
            </a: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, observado o limite de vagas de cada perfil.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828274" y="1904024"/>
            <a:ext cx="24982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Inscrição não homologada; documentação incompleta; ausência de Termo de Compromisso ou de identificação do problema público-foco.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48640" y="2898648"/>
            <a:ext cx="11091672" cy="1051560"/>
          </a:xfrm>
          <a:prstGeom prst="roundRect">
            <a:avLst>
              <a:gd name="adj" fmla="val 439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77240" y="304495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rgbClr val="EA3234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ETAPA 2 → ETAPA 3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77240" y="3410712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2A2A2A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77240" y="34107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noProof="0">
                <a:solidFill>
                  <a:srgbClr val="EA3234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até 25</a:t>
            </a:r>
            <a:endParaRPr lang="pt-BR" sz="900" noProof="0">
              <a:latin typeface="Montserrat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2644860" y="3099816"/>
            <a:ext cx="23153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 participantes da Etapa 2 que entregarem o documento Problema Público Reformulado no prazo.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493302" y="3063240"/>
            <a:ext cx="2762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Nota final de até 100 pontos: </a:t>
            </a: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avaliação técnica do documento (80) e engajamento institucional (20). Classificação por perfil, em ordem decrescente.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828274" y="3063240"/>
            <a:ext cx="24645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Não apresentação do documento no prazo; nota final inferior a 70 pontos; posição além do limite de vagas do perfil.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548640" y="402336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77240" y="416966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rgbClr val="4496CD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ETAPA 3 → ETAPA 4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777240" y="4535424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2A2A2A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77240" y="453542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noProof="0">
                <a:solidFill>
                  <a:srgbClr val="4496CD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até 10</a:t>
            </a:r>
            <a:endParaRPr lang="pt-BR" sz="900" noProof="0">
              <a:latin typeface="Montserrat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644860" y="4233327"/>
            <a:ext cx="2315330" cy="686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 participantes da Etapa 3 que entregarem o Plano de Ação Estruturado no prazo.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493302" y="4187952"/>
            <a:ext cx="2762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Nota final de até 100 pontos </a:t>
            </a: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atribuída por banca avaliadora, considerando quatro critérios técnicos. Seleção dos 10 municípios com as maiores notas.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8828274" y="4187952"/>
            <a:ext cx="24645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Não apresentação do Plano de Ação no prazo; classificação além da décima posição na ordem decrescente de notas.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548640" y="5148072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777240" y="529437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rgbClr val="7C8EC9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ETAPA 4 → ETAPA 5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777240" y="566013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2A2A2A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777240" y="56601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noProof="0">
                <a:solidFill>
                  <a:srgbClr val="7C8EC9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até 10</a:t>
            </a:r>
            <a:endParaRPr lang="pt-BR" sz="900" noProof="0">
              <a:latin typeface="Montserrat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2644860" y="5362956"/>
            <a:ext cx="2396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 que concluírem a modelagem dos instrumentos de contratação (ETP e Termo de Referência).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5493302" y="5390301"/>
            <a:ext cx="2762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Efetivação da contratação da solução tecnológica modelada na Etapa 4, conforme decisão do próprio município.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8828274" y="5390301"/>
            <a:ext cx="2587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Não efetivação da contratação da solução modelada.</a:t>
            </a:r>
            <a:endParaRPr lang="pt-BR" sz="1000" noProof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AVALIAÇÃO PARA AVANÇO À ETAPA 3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Nota final de até </a:t>
            </a:r>
            <a:r>
              <a:rPr lang="pt-BR" sz="1250" b="1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100</a:t>
            </a:r>
            <a:r>
              <a:rPr lang="pt-BR" sz="125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pontos, com nota mínima de </a:t>
            </a:r>
            <a:r>
              <a:rPr lang="pt-BR" sz="1250" b="1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70</a:t>
            </a:r>
            <a:r>
              <a:rPr lang="pt-BR" sz="125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pontos para habilitação</a:t>
            </a:r>
            <a:endParaRPr lang="pt-BR" sz="1250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pic>
        <p:nvPicPr>
          <p:cNvPr id="8" name="Image 0" descr="sp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20040"/>
            <a:ext cx="475488" cy="2414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1645920"/>
            <a:ext cx="5687568" cy="3108960"/>
          </a:xfrm>
          <a:prstGeom prst="roundRect">
            <a:avLst>
              <a:gd name="adj" fmla="val 176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22959" y="1810512"/>
            <a:ext cx="51033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AVALIAÇÃO TÉCNICA DO PROBLEMA PÚBLICO REFORMULADO</a:t>
            </a:r>
            <a:endParaRPr lang="pt-BR" sz="1200" noProof="0">
              <a:latin typeface="Montserrat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32104" y="214159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até </a:t>
            </a:r>
            <a:r>
              <a:rPr lang="pt-BR" sz="1000" b="1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80</a:t>
            </a:r>
            <a:r>
              <a:rPr lang="pt-BR" sz="100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pontos · banca avaliadora</a:t>
            </a:r>
            <a:endParaRPr lang="pt-BR" sz="1000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22960" y="2514600"/>
            <a:ext cx="5029200" cy="475488"/>
          </a:xfrm>
          <a:prstGeom prst="roundRect">
            <a:avLst>
              <a:gd name="adj" fmla="val 11538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87552" y="25146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Consistência na identificação da causa-raiz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29200" y="251460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3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25</a:t>
            </a:r>
            <a:endParaRPr lang="pt-BR" sz="1300" noProof="0"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22960" y="3044952"/>
            <a:ext cx="5029200" cy="475488"/>
          </a:xfrm>
          <a:prstGeom prst="roundRect">
            <a:avLst>
              <a:gd name="adj" fmla="val 11538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87552" y="30449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Definição e delimitação do problema público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029200" y="3044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3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20</a:t>
            </a:r>
            <a:endParaRPr lang="pt-BR" sz="1300" noProof="0">
              <a:latin typeface="Montserrat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22960" y="3575304"/>
            <a:ext cx="5029200" cy="475488"/>
          </a:xfrm>
          <a:prstGeom prst="roundRect">
            <a:avLst>
              <a:gd name="adj" fmla="val 11538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87552" y="357530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Viabilidade técnica da intervenção proposta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029200" y="357530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3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20</a:t>
            </a:r>
            <a:endParaRPr lang="pt-BR" sz="1300" noProof="0">
              <a:latin typeface="Montserrat" pitchFamily="2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822960" y="4105656"/>
            <a:ext cx="5029200" cy="475488"/>
          </a:xfrm>
          <a:prstGeom prst="roundRect">
            <a:avLst>
              <a:gd name="adj" fmla="val 11538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87552" y="410565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Aderência aos eixos temáticos do programa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029200" y="410565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3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15</a:t>
            </a:r>
            <a:endParaRPr lang="pt-BR" sz="1300" noProof="0">
              <a:latin typeface="Montserrat" pitchFamily="2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48640" y="4892040"/>
            <a:ext cx="5687568" cy="1362110"/>
          </a:xfrm>
          <a:prstGeom prst="roundRect">
            <a:avLst>
              <a:gd name="adj" fmla="val 461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22960" y="50637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EA3234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ENGAJAMENTO INSTITUCIONAL</a:t>
            </a:r>
            <a:endParaRPr lang="pt-BR" sz="1200" noProof="0">
              <a:latin typeface="Montserrat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22960" y="540962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até </a:t>
            </a:r>
            <a:r>
              <a:rPr lang="pt-BR" sz="1050" b="1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20</a:t>
            </a:r>
            <a:r>
              <a:rPr lang="pt-BR" sz="105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pontos · apurado pelos registros da Etapa 2</a:t>
            </a:r>
            <a:endParaRPr lang="pt-BR" sz="1050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22960" y="5735360"/>
            <a:ext cx="527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10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·    </a:t>
            </a: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Participação nas aulas temáticas: </a:t>
            </a:r>
            <a:r>
              <a:rPr lang="pt-BR" sz="11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10 pontos    </a:t>
            </a:r>
          </a:p>
          <a:p>
            <a:pPr marL="0" indent="0">
              <a:buNone/>
            </a:pP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·    Participação nas mentorias técnicas individualizadas: </a:t>
            </a:r>
            <a:r>
              <a:rPr lang="pt-BR" sz="11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10 pontos</a:t>
            </a:r>
            <a:endParaRPr lang="pt-BR" sz="1100" b="1" noProof="0">
              <a:latin typeface="Montserrat" pitchFamily="2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415463" y="1645920"/>
            <a:ext cx="5135305" cy="1874520"/>
          </a:xfrm>
          <a:prstGeom prst="roundRect">
            <a:avLst>
              <a:gd name="adj" fmla="val 292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689783" y="18105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CONDIÇÃO DE HABILITAÇÃO</a:t>
            </a:r>
            <a:endParaRPr lang="pt-BR" sz="1200" noProof="0">
              <a:latin typeface="Montserrat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689783" y="2194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>
                <a:solidFill>
                  <a:srgbClr val="4496CD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70</a:t>
            </a:r>
            <a:r>
              <a:rPr lang="pt-BR" sz="1200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 pontos — nota mínima</a:t>
            </a:r>
            <a:endParaRPr lang="pt-BR" sz="3000" noProof="0">
              <a:latin typeface="Montserrat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689783" y="27432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 com nota final </a:t>
            </a:r>
            <a:r>
              <a:rPr lang="pt-BR" sz="10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inferior a 70 pontos </a:t>
            </a: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não são considerados aptos, ainda que existam vagas remanescentes no perfil. Os aptos são classificados em seus perfis, em ordem decrescente da nota final.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415463" y="3657599"/>
            <a:ext cx="5135305" cy="2596551"/>
          </a:xfrm>
          <a:prstGeom prst="roundRect">
            <a:avLst>
              <a:gd name="adj" fmla="val 2264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689783" y="3822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CRITÉRIOS DE DESEMPATE</a:t>
            </a:r>
            <a:endParaRPr lang="pt-BR" sz="1200" noProof="0">
              <a:latin typeface="Montserrat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689783" y="4160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Aplicados sucessivamente, entre municípios do mesmo perfil:</a:t>
            </a:r>
            <a:endParaRPr lang="pt-BR" sz="1000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689783" y="4526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A2A2A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689783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50" b="1" noProof="0">
                <a:solidFill>
                  <a:srgbClr val="4496CD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</a:t>
            </a:r>
            <a:endParaRPr lang="pt-BR" sz="850" noProof="0">
              <a:latin typeface="Montserrat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7119551" y="44988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Maior Índice de Alinhamento ao Perfil (IAP)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6689783" y="49103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A2A2A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689783" y="4910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50" b="1" noProof="0">
                <a:solidFill>
                  <a:srgbClr val="4496CD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II</a:t>
            </a:r>
            <a:endParaRPr lang="pt-BR" sz="850" noProof="0">
              <a:latin typeface="Montserrat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7119551" y="4882896"/>
            <a:ext cx="311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Maior pontuação em Identificação e Fundamentação da Causa-Raiz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689783" y="52943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A2A2A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689783" y="5294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50" b="1" noProof="0">
                <a:solidFill>
                  <a:srgbClr val="4496CD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III</a:t>
            </a:r>
            <a:endParaRPr lang="pt-BR" sz="850" noProof="0">
              <a:latin typeface="Montserrat" pitchFamily="2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7119551" y="52669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Maior pontuação em Engajamento Institucional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6689783" y="56784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A2A2A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6689783" y="5678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50" b="1" noProof="0">
                <a:solidFill>
                  <a:srgbClr val="4496CD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IV</a:t>
            </a:r>
            <a:endParaRPr lang="pt-BR" sz="850" noProof="0">
              <a:latin typeface="Montserrat" pitchFamily="2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7119551" y="56509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Persistindo o empate, sorteio público</a:t>
            </a:r>
            <a:endParaRPr lang="pt-BR" sz="1000" noProof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AVALIAÇÃO PARA AVANÇO À ETAPA 4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Nota final de até 100 pontos atribuída por banca avaliadora, com seleção dos dez maiores desempenhos</a:t>
            </a:r>
            <a:endParaRPr lang="pt-BR" sz="1250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pic>
        <p:nvPicPr>
          <p:cNvPr id="8" name="Image 0" descr="sp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20040"/>
            <a:ext cx="475488" cy="2414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1605379"/>
            <a:ext cx="2670048" cy="2957994"/>
          </a:xfrm>
          <a:prstGeom prst="roundRect">
            <a:avLst>
              <a:gd name="adj" fmla="val 20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04672" y="1788259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30</a:t>
            </a:r>
            <a:endParaRPr lang="pt-BR" sz="3200" noProof="0">
              <a:latin typeface="Montserrat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04672" y="2400907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pontos</a:t>
            </a:r>
            <a:endParaRPr lang="pt-BR" sz="1000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04672" y="2737163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CONSISTÊNCIA TÉCNICA DO PLANO DE AÇÃO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04672" y="3251299"/>
            <a:ext cx="210243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pt-BR" sz="10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Coerência entre o problema identificado, os objetivos, as ações propostas, os responsáveis, o cronograma e os resultados esperados.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337560" y="1605379"/>
            <a:ext cx="2670048" cy="2957994"/>
          </a:xfrm>
          <a:prstGeom prst="roundRect">
            <a:avLst>
              <a:gd name="adj" fmla="val 20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593592" y="1788259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>
                <a:solidFill>
                  <a:srgbClr val="EA3234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30</a:t>
            </a:r>
            <a:endParaRPr lang="pt-BR" sz="3200" noProof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593592" y="2400907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pontos</a:t>
            </a:r>
            <a:endParaRPr lang="pt-BR" sz="1000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593592" y="2737163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VIABILIDADE DE IMPLEMENTAÇÃO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593592" y="3251299"/>
            <a:ext cx="222130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pt-BR" sz="10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Exequibilidade das ações frente à realidade administrativa do município: escopo definido, requisitos identificados, atores mapeados e cronograma compatível.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126480" y="1605379"/>
            <a:ext cx="2670048" cy="2957994"/>
          </a:xfrm>
          <a:prstGeom prst="roundRect">
            <a:avLst>
              <a:gd name="adj" fmla="val 20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382512" y="1788259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>
                <a:solidFill>
                  <a:srgbClr val="4496CD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20</a:t>
            </a:r>
            <a:endParaRPr lang="pt-BR" sz="3200" noProof="0">
              <a:latin typeface="Montserrat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382512" y="2400907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pontos</a:t>
            </a:r>
            <a:endParaRPr lang="pt-BR" sz="1000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382512" y="2737163"/>
            <a:ext cx="19592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CAPACIDADE INSTITUCIONAL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382512" y="3251299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pt-BR" sz="10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Existência de equipe técnica designada, estrutura de governança, definição de responsabilidades e mecanismos de acompanhamento da execução.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915400" y="1605378"/>
            <a:ext cx="2670048" cy="2957995"/>
          </a:xfrm>
          <a:prstGeom prst="roundRect">
            <a:avLst>
              <a:gd name="adj" fmla="val 20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9171432" y="1788259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>
                <a:solidFill>
                  <a:srgbClr val="7C8EC9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20</a:t>
            </a:r>
            <a:endParaRPr lang="pt-BR" sz="3200" noProof="0">
              <a:latin typeface="Montserrat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9171432" y="2400907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pontos</a:t>
            </a:r>
            <a:endParaRPr lang="pt-BR" sz="1000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9171432" y="2744414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POTENCIAL DE IMPACTO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9171432" y="3251299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pt-BR" sz="10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Melhoria na prestação de serviços públicos, ganho de eficiência, benefícios mensuráveis à população e possibilidade de replicação em outros municípios.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48640" y="4774382"/>
            <a:ext cx="5440680" cy="1479768"/>
          </a:xfrm>
          <a:prstGeom prst="roundRect">
            <a:avLst>
              <a:gd name="adj" fmla="val 4444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22960" y="494190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SELEÇÃO</a:t>
            </a:r>
            <a:endParaRPr lang="pt-BR" sz="1200" noProof="0">
              <a:latin typeface="Montserrat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22960" y="528023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São classificados os </a:t>
            </a:r>
            <a:r>
              <a:rPr lang="pt-BR" sz="11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10 municípios </a:t>
            </a: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com as maiores notas finais, em ordem decrescente, atendidos os requisitos da etapa. Nesta transição </a:t>
            </a:r>
            <a:r>
              <a:rPr lang="pt-BR" sz="11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não há reserva de vagas por perfil</a:t>
            </a:r>
            <a:r>
              <a:rPr lang="pt-BR" sz="11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: a concorrência é aberta entre todos os participantes da Etapa 3.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199632" y="4774382"/>
            <a:ext cx="5440680" cy="1479768"/>
          </a:xfrm>
          <a:prstGeom prst="roundRect">
            <a:avLst>
              <a:gd name="adj" fmla="val 4444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473952" y="494190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CRITÉRIOS DE DESEMPATE</a:t>
            </a:r>
            <a:endParaRPr lang="pt-BR" sz="1200" noProof="0">
              <a:latin typeface="Montserrat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473952" y="528023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   </a:t>
            </a: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—  Consistência técnica do Plano de Ação; 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pt-BR" sz="10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II</a:t>
            </a: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 —  Viabilidade de implementação; 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pt-BR" sz="10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III </a:t>
            </a: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—  Capacidade institucional; 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pt-BR" sz="10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IV </a:t>
            </a: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—  maior Índice de Alinhamento ao Perfil; 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pt-BR" sz="10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V</a:t>
            </a: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  —  sorteio público.</a:t>
            </a:r>
            <a:endParaRPr lang="pt-BR" sz="1000" noProof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TRATAMENTO DE INDISPONIBILIDADE DE DADOS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Regra aplicável a municípios sem indicador disponível nas bases oficiais</a:t>
            </a:r>
            <a:endParaRPr lang="pt-BR" sz="1250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pic>
        <p:nvPicPr>
          <p:cNvPr id="8" name="Image 0" descr="sp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20040"/>
            <a:ext cx="475488" cy="2414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1691639"/>
            <a:ext cx="6702552" cy="4654295"/>
          </a:xfrm>
          <a:prstGeom prst="roundRect">
            <a:avLst>
              <a:gd name="adj" fmla="val 125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22960" y="18745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PROCEDIMENTO</a:t>
            </a:r>
            <a:endParaRPr lang="pt-BR" sz="1300" noProof="0">
              <a:latin typeface="Montserrat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22960" y="2240280"/>
            <a:ext cx="60781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Na hipótese de inexistência ou indisponibilidade de indicador para município elegível, a classificação é realizada exclusivamente com os indicadores disponíveis, com redistribuição proporcional dos pesos entre os eixos passíveis de cálculo, mantida a soma igual a 100%.</a:t>
            </a:r>
            <a:endParaRPr lang="pt-BR" sz="1200" noProof="0">
              <a:latin typeface="Montserrat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22960" y="3325829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PERMANECEM INALTERADOS</a:t>
            </a:r>
            <a:endParaRPr lang="pt-BR" sz="12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32104" y="3700732"/>
            <a:ext cx="6309360" cy="136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 procedimento de padronização dos indicadores e dos eixos.</a:t>
            </a:r>
            <a:endParaRPr lang="pt-BR" sz="120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 construção dos eixos analíticos e a lógica de ponderação.</a:t>
            </a:r>
            <a:endParaRPr lang="pt-BR" sz="120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 classificação dos municípios pelo algoritmo K-</a:t>
            </a:r>
            <a:r>
              <a:rPr lang="pt-BR" sz="1200" noProof="0" err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Means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</a:t>
            </a:r>
            <a:endParaRPr lang="pt-BR" sz="120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 cálculo do Índice de Alinhamento ao Perfil e a ordenação </a:t>
            </a:r>
            <a:r>
              <a:rPr lang="pt-BR" sz="1200" noProof="0" err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intraperfil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</a:t>
            </a:r>
            <a:endParaRPr lang="pt-BR" sz="1200" noProof="0">
              <a:latin typeface="Montserrat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22960" y="5120640"/>
            <a:ext cx="60781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200" b="1" noProof="0">
                <a:solidFill>
                  <a:srgbClr val="F998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0"/>
                <a:ea typeface="Arial" pitchFamily="34" charset="-122"/>
                <a:cs typeface="Arial" pitchFamily="34" charset="-120"/>
              </a:rPr>
              <a:t>A regra assegura que a ausência de um dado não implique exclusão do município do processo classificatório nem alteração da metodologia aplicada aos demais.</a:t>
            </a:r>
            <a:endParaRPr lang="pt-BR" sz="1200" b="1" noProof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443306" y="1691640"/>
            <a:ext cx="4343400" cy="4654296"/>
          </a:xfrm>
          <a:prstGeom prst="roundRect">
            <a:avLst>
              <a:gd name="adj" fmla="val 137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729268" y="1874520"/>
            <a:ext cx="36136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RASTREABILIDADE DA DECISÃO</a:t>
            </a:r>
            <a:endParaRPr lang="pt-BR" sz="1300" noProof="0">
              <a:latin typeface="Montserrat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729268" y="2286000"/>
            <a:ext cx="3752490" cy="868680"/>
          </a:xfrm>
          <a:prstGeom prst="roundRect">
            <a:avLst>
              <a:gd name="adj" fmla="val 6316"/>
            </a:avLst>
          </a:prstGeom>
          <a:solidFill>
            <a:srgbClr val="2A2A2A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014806" y="2395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>
                <a:solidFill>
                  <a:srgbClr val="4496CD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DADOS DE ORIGEM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014806" y="2670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Indicadores públicos, divulgados por órgãos oficiais, com ano-base identificado.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729268" y="3246120"/>
            <a:ext cx="3752490" cy="868680"/>
          </a:xfrm>
          <a:prstGeom prst="roundRect">
            <a:avLst>
              <a:gd name="adj" fmla="val 6316"/>
            </a:avLst>
          </a:prstGeom>
          <a:solidFill>
            <a:srgbClr val="2A2A2A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014806" y="3355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>
                <a:solidFill>
                  <a:srgbClr val="4496CD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PROCEDIMENTO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014806" y="36301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Sequência documentada no anexo metodológico do edital, com equações e parâmetros.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729268" y="4206240"/>
            <a:ext cx="3752490" cy="868680"/>
          </a:xfrm>
          <a:prstGeom prst="roundRect">
            <a:avLst>
              <a:gd name="adj" fmla="val 6316"/>
            </a:avLst>
          </a:prstGeom>
          <a:solidFill>
            <a:srgbClr val="2A2A2A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014806" y="4315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>
                <a:solidFill>
                  <a:srgbClr val="4496CD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014806" y="45902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Perfil e posição de cada município reproduzíveis a partir das mesmas bases.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7729268" y="5166360"/>
            <a:ext cx="3752490" cy="868680"/>
          </a:xfrm>
          <a:prstGeom prst="roundRect">
            <a:avLst>
              <a:gd name="adj" fmla="val 6316"/>
            </a:avLst>
          </a:prstGeom>
          <a:solidFill>
            <a:srgbClr val="2A2A2A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014806" y="5276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>
                <a:solidFill>
                  <a:srgbClr val="4496CD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VERIFICAÇÃO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8014806" y="55504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Qualquer interessado pode replicar a classificação com os dados públicos utilizados.</a:t>
            </a:r>
            <a:endParaRPr lang="pt-BR" sz="1000" noProof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DE ROBUSTEZ DA METODOLOGIA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Atributos que sustentam a </a:t>
            </a:r>
            <a:r>
              <a:rPr lang="pt-BR" sz="1250" noProof="0" err="1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defensabilidade</a:t>
            </a:r>
            <a:r>
              <a:rPr lang="pt-BR" sz="125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técnica e administrativa da seleção</a:t>
            </a:r>
            <a:endParaRPr lang="pt-BR" sz="1250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pic>
        <p:nvPicPr>
          <p:cNvPr id="8" name="Image 0" descr="sp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20040"/>
            <a:ext cx="475488" cy="2414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1691640"/>
            <a:ext cx="2670048" cy="2084832"/>
          </a:xfrm>
          <a:prstGeom prst="roundRect">
            <a:avLst>
              <a:gd name="adj" fmla="val 2632"/>
            </a:avLst>
          </a:prstGeom>
          <a:solidFill>
            <a:srgbClr val="1E1E1E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8928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4672" y="2313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INDICADORES PÚBLICOS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804672" y="2651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Toda a classificação utiliza dados oficiais de TCE-SP, Anatel, MCTI e Firjan, com ano-base identificado e acesso irrestrito.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337560" y="1691640"/>
            <a:ext cx="2670048" cy="2084832"/>
          </a:xfrm>
          <a:prstGeom prst="roundRect">
            <a:avLst>
              <a:gd name="adj" fmla="val 2632"/>
            </a:avLst>
          </a:prstGeom>
          <a:solidFill>
            <a:srgbClr val="1E1E1E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18928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93592" y="2313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rgbClr val="EA3234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REDUÇÃO DA SUBJETIVIDADE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3593592" y="265176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Nenhuma etapa da classificação depende de julgamento discricionário ou de informação declarada pelo município.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126480" y="1691640"/>
            <a:ext cx="2670048" cy="2084832"/>
          </a:xfrm>
          <a:prstGeom prst="roundRect">
            <a:avLst>
              <a:gd name="adj" fmla="val 2632"/>
            </a:avLst>
          </a:prstGeom>
          <a:solidFill>
            <a:srgbClr val="1E1E1E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189280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82512" y="2313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rgbClr val="4496CD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COMPARABILIDADE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382512" y="265176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 concorrência ocorre entre municípios com características semelhantes, evitando comparação entre realidades estruturalmente distintas.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8915400" y="1691640"/>
            <a:ext cx="2670048" cy="2084832"/>
          </a:xfrm>
          <a:prstGeom prst="roundRect">
            <a:avLst>
              <a:gd name="adj" fmla="val 2632"/>
            </a:avLst>
          </a:prstGeom>
          <a:solidFill>
            <a:srgbClr val="1E1E1E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1432" y="1892808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171432" y="2313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rgbClr val="7C8EC9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DIFERENÇAS ESTRUTURAIS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9171432" y="265176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 metodologia incorpora as três dimensões que condicionam a execução de projetos: gestão, infraestrutura digital e desenvolvimento socioeconômico.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548640" y="3995928"/>
            <a:ext cx="2670048" cy="2084832"/>
          </a:xfrm>
          <a:prstGeom prst="roundRect">
            <a:avLst>
              <a:gd name="adj" fmla="val 2632"/>
            </a:avLst>
          </a:prstGeom>
          <a:solidFill>
            <a:srgbClr val="1E1E1E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sz="2000" noProof="0">
              <a:latin typeface="Montserrat" pitchFamily="2" charset="0"/>
            </a:endParaRPr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4197096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04672" y="4617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DISTRIBUIÇÃO TERRITORIAL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804672" y="4956048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 reserva de vagas por perfil impede a concentração das vagas em municípios de maior capacidade instalada e em uma única região.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3337560" y="3995928"/>
            <a:ext cx="2670048" cy="2084832"/>
          </a:xfrm>
          <a:prstGeom prst="roundRect">
            <a:avLst>
              <a:gd name="adj" fmla="val 2632"/>
            </a:avLst>
          </a:prstGeom>
          <a:solidFill>
            <a:srgbClr val="1E1E1E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sz="2000" noProof="0">
              <a:latin typeface="Montserrat" pitchFamily="2" charset="0"/>
            </a:endParaRPr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93592" y="4197096"/>
            <a:ext cx="329184" cy="32918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593592" y="4617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rgbClr val="EA3234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TRANSPARÊNCIA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34" name="Text 25"/>
          <p:cNvSpPr/>
          <p:nvPr/>
        </p:nvSpPr>
        <p:spPr>
          <a:xfrm>
            <a:off x="3593592" y="4956048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Critérios, pesos, fórmulas e regras de desempate estão publicados no edital e em seu anexo metodológico.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35" name="Shape 26"/>
          <p:cNvSpPr/>
          <p:nvPr/>
        </p:nvSpPr>
        <p:spPr>
          <a:xfrm>
            <a:off x="6126480" y="3995928"/>
            <a:ext cx="2670048" cy="2084832"/>
          </a:xfrm>
          <a:prstGeom prst="roundRect">
            <a:avLst>
              <a:gd name="adj" fmla="val 2632"/>
            </a:avLst>
          </a:prstGeom>
          <a:solidFill>
            <a:srgbClr val="1E1E1E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sz="2000" noProof="0">
              <a:latin typeface="Montserrat" pitchFamily="2" charset="0"/>
            </a:endParaRPr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2512" y="4197096"/>
            <a:ext cx="329184" cy="329184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382512" y="4617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rgbClr val="4496CD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RASTREABILIDADE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6382512" y="4956048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 resultado é integralmente reproduzível: mesmas bases, mesmos procedimentos, mesmo resultado, por qualquer terceiro.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39" name="Shape 29"/>
          <p:cNvSpPr/>
          <p:nvPr/>
        </p:nvSpPr>
        <p:spPr>
          <a:xfrm>
            <a:off x="8915400" y="3995928"/>
            <a:ext cx="2670048" cy="2084832"/>
          </a:xfrm>
          <a:prstGeom prst="roundRect">
            <a:avLst>
              <a:gd name="adj" fmla="val 2632"/>
            </a:avLst>
          </a:prstGeom>
          <a:solidFill>
            <a:srgbClr val="1E1E1E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sz="2000" noProof="0">
              <a:latin typeface="Montserrat" pitchFamily="2" charset="0"/>
            </a:endParaRPr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71432" y="4197096"/>
            <a:ext cx="329184" cy="329184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9171432" y="4617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rgbClr val="7C8EC9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REPLICABILIDADE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42" name="Text 31"/>
          <p:cNvSpPr/>
          <p:nvPr/>
        </p:nvSpPr>
        <p:spPr>
          <a:xfrm>
            <a:off x="9171432" y="4956048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 metodologia pode ser reaplicada em ciclos futuros com atualização das bases, permitindo comparação temporal dos resultados.</a:t>
            </a:r>
            <a:endParaRPr lang="pt-BR" sz="1000" noProof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COMPARABILIDADE ENTRE INDICADORES</a:t>
            </a:r>
            <a:endParaRPr lang="pt-BR" sz="2500" noProof="0"/>
          </a:p>
        </p:txBody>
      </p:sp>
      <p:pic>
        <p:nvPicPr>
          <p:cNvPr id="8" name="Image 0" descr="sp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20040"/>
            <a:ext cx="475488" cy="2414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1645920"/>
            <a:ext cx="5029200" cy="4434840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2" name="Text 9"/>
          <p:cNvSpPr/>
          <p:nvPr/>
        </p:nvSpPr>
        <p:spPr>
          <a:xfrm>
            <a:off x="822960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EA32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PROBLEMA</a:t>
            </a:r>
            <a:endParaRPr lang="pt-BR" sz="1200" noProof="0"/>
          </a:p>
        </p:txBody>
      </p:sp>
      <p:sp>
        <p:nvSpPr>
          <p:cNvPr id="13" name="Text 10"/>
          <p:cNvSpPr/>
          <p:nvPr/>
        </p:nvSpPr>
        <p:spPr>
          <a:xfrm>
            <a:off x="822960" y="2194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Os seis indicadores são divulgados em unidades e escalas distintas. Somar ou ponderar valores nessas escalas originais faria com que o indicador de maior amplitude numérica dominasse o resultado, independentemente de sua relevância metodológica.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22960" y="3291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PROCEDIMENTO</a:t>
            </a:r>
            <a:endParaRPr lang="pt-BR" sz="1200" noProof="0"/>
          </a:p>
        </p:txBody>
      </p:sp>
      <p:sp>
        <p:nvSpPr>
          <p:cNvPr id="15" name="Text 12"/>
          <p:cNvSpPr/>
          <p:nvPr/>
        </p:nvSpPr>
        <p:spPr>
          <a:xfrm>
            <a:off x="822960" y="36576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Todos os indicadores foram convertidos para uma mesma escala estatística (</a:t>
            </a:r>
            <a:r>
              <a:rPr lang="pt-BR" sz="1050" noProof="0" err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escore-z</a:t>
            </a:r>
            <a:r>
              <a:rPr lang="pt-BR" sz="10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), que expressa cada valor como distância em relação à média dos municípios paulistas, medida em desvios-padrão.</a:t>
            </a:r>
            <a:endParaRPr lang="pt-BR" sz="1050" noProof="0">
              <a:latin typeface="Montserrat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22960" y="457200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Valor zero: município na média estadual do indicador.</a:t>
            </a:r>
            <a:endParaRPr lang="pt-BR" sz="100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Valor positivo: desempenho acima da média estadual.</a:t>
            </a:r>
            <a:endParaRPr lang="pt-BR" sz="100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Valor negativo: desempenho abaixo da média estadual.</a:t>
            </a:r>
            <a:endParaRPr lang="pt-BR" sz="1000" noProof="0">
              <a:latin typeface="Montserrat" pitchFamily="2" charset="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 variabilidade original de cada indicador é preservada.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806440" y="1645920"/>
            <a:ext cx="5833872" cy="4434840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8" name="Text 15"/>
          <p:cNvSpPr/>
          <p:nvPr/>
        </p:nvSpPr>
        <p:spPr>
          <a:xfrm>
            <a:off x="6080760" y="1828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ESCALAS DE ORIGEM DOS INDICADORES</a:t>
            </a:r>
            <a:endParaRPr lang="pt-BR" sz="1200" noProof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609638"/>
              </p:ext>
            </p:extLst>
          </p:nvPr>
        </p:nvGraphicFramePr>
        <p:xfrm>
          <a:off x="6080760" y="2240280"/>
          <a:ext cx="5285232" cy="2688336"/>
        </p:xfrm>
        <a:graphic>
          <a:graphicData uri="http://schemas.openxmlformats.org/drawingml/2006/table">
            <a:tbl>
              <a:tblPr/>
              <a:tblGrid>
                <a:gridCol w="2816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>
                          <a:solidFill>
                            <a:srgbClr val="E6E6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pt-BR" sz="950" noProof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>
                          <a:solidFill>
                            <a:srgbClr val="E6E6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 DE DIVULGAÇÃO</a:t>
                      </a:r>
                      <a:endParaRPr lang="pt-BR" sz="950" noProof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>
                          <a:solidFill>
                            <a:srgbClr val="E6E6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IEG-M i-</a:t>
                      </a:r>
                      <a:r>
                        <a:rPr lang="pt-BR" sz="950" noProof="0" err="1">
                          <a:solidFill>
                            <a:srgbClr val="E6E6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pt-BR" sz="950" noProof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>
                          <a:solidFill>
                            <a:srgbClr val="E6E6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Conceitos (A, B+, B, C+ e C)</a:t>
                      </a:r>
                      <a:endParaRPr lang="pt-BR" sz="950" noProof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>
                          <a:solidFill>
                            <a:srgbClr val="E6E6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IEG-M i-Fiscal</a:t>
                      </a:r>
                      <a:endParaRPr lang="pt-BR" sz="950" noProof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>
                          <a:solidFill>
                            <a:srgbClr val="E6E6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Conceitos (A, B+, B, C+ e C)</a:t>
                      </a:r>
                      <a:endParaRPr lang="pt-BR" sz="950" noProof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>
                          <a:solidFill>
                            <a:srgbClr val="E6E6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IEG-M i-</a:t>
                      </a:r>
                      <a:r>
                        <a:rPr lang="pt-BR" sz="950" noProof="0" err="1">
                          <a:solidFill>
                            <a:srgbClr val="E6E6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</a:t>
                      </a:r>
                      <a:r>
                        <a:rPr lang="pt-BR" sz="950" noProof="0">
                          <a:solidFill>
                            <a:srgbClr val="E6E6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TI</a:t>
                      </a:r>
                      <a:endParaRPr lang="pt-BR" sz="950" noProof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>
                          <a:solidFill>
                            <a:srgbClr val="E6E6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Conceitos (A, B+, B, C+ e C)</a:t>
                      </a:r>
                      <a:endParaRPr lang="pt-BR" sz="950" noProof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>
                          <a:solidFill>
                            <a:srgbClr val="E6E6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Brasileiro de Conectividade</a:t>
                      </a:r>
                      <a:endParaRPr lang="pt-BR" sz="950" noProof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>
                          <a:solidFill>
                            <a:srgbClr val="E6E6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normalizado de 0 a 100</a:t>
                      </a:r>
                      <a:endParaRPr lang="pt-BR" sz="950" noProof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>
                          <a:solidFill>
                            <a:srgbClr val="E6E6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de Maturidade em Cidades Inteligentes</a:t>
                      </a:r>
                      <a:endParaRPr lang="pt-BR" sz="950" noProof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>
                          <a:solidFill>
                            <a:srgbClr val="E6E6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sintético das dimensões avaliadas</a:t>
                      </a:r>
                      <a:endParaRPr lang="pt-BR" sz="950" noProof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>
                          <a:solidFill>
                            <a:srgbClr val="E6E6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Firjan de Desenvolvimento Municipal</a:t>
                      </a:r>
                      <a:endParaRPr lang="pt-BR" sz="950" noProof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>
                          <a:solidFill>
                            <a:srgbClr val="E6E6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contínuo de 0 a 1</a:t>
                      </a:r>
                      <a:endParaRPr lang="pt-BR" sz="950" noProof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080760" y="5166360"/>
            <a:ext cx="5285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 dirty="0">
                <a:solidFill>
                  <a:schemeClr val="bg1">
                    <a:lumMod val="85000"/>
                  </a:schemeClr>
                </a:solidFill>
                <a:latin typeface="Montserrat"/>
                <a:ea typeface="Arial" pitchFamily="34" charset="-122"/>
                <a:cs typeface="Arial"/>
              </a:rPr>
              <a:t>Após a construção dos eixos, o procedimento é repetido sobre os próprios eixos, de </a:t>
            </a:r>
            <a:r>
              <a:rPr lang="pt-BR" sz="1000" noProof="0">
                <a:solidFill>
                  <a:schemeClr val="bg1">
                    <a:lumMod val="85000"/>
                  </a:schemeClr>
                </a:solidFill>
                <a:latin typeface="Montserrat"/>
                <a:ea typeface="Arial" pitchFamily="34" charset="-122"/>
                <a:cs typeface="Arial"/>
              </a:rPr>
              <a:t>modo que </a:t>
            </a:r>
            <a:r>
              <a:rPr lang="pt-BR" sz="1000">
                <a:solidFill>
                  <a:schemeClr val="bg1">
                    <a:lumMod val="85000"/>
                  </a:schemeClr>
                </a:solidFill>
                <a:latin typeface="Montserrat"/>
                <a:ea typeface="Arial" pitchFamily="34" charset="-122"/>
                <a:cs typeface="Arial"/>
              </a:rPr>
              <a:t>CFI</a:t>
            </a:r>
            <a:r>
              <a:rPr lang="pt-BR" sz="1000" noProof="0">
                <a:solidFill>
                  <a:schemeClr val="bg1">
                    <a:lumMod val="85000"/>
                  </a:schemeClr>
                </a:solidFill>
                <a:latin typeface="Montserrat"/>
                <a:ea typeface="Arial" pitchFamily="34" charset="-122"/>
                <a:cs typeface="Arial"/>
              </a:rPr>
              <a:t>, IMD e CSE entrem na etapa de agrupamento na mesma escala — </a:t>
            </a:r>
            <a:r>
              <a:rPr lang="pt-BR" sz="1000" noProof="0" dirty="0">
                <a:solidFill>
                  <a:schemeClr val="bg1">
                    <a:lumMod val="85000"/>
                  </a:schemeClr>
                </a:solidFill>
                <a:latin typeface="Montserrat"/>
                <a:ea typeface="Arial" pitchFamily="34" charset="-122"/>
                <a:cs typeface="Arial"/>
              </a:rPr>
              <a:t>condição para que as diferenças de amplitude não determinem a formação dos perfis.</a:t>
            </a:r>
            <a:endParaRPr lang="pt-BR" sz="1000" noProof="0" dirty="0">
              <a:solidFill>
                <a:schemeClr val="bg1">
                  <a:lumMod val="85000"/>
                </a:schemeClr>
              </a:solidFill>
              <a:latin typeface="Montserrat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7C8EC9"/>
          </a:solidFill>
          <a:ln w="12700">
            <a:solidFill>
              <a:srgbClr val="7C8EC9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VALIDAÇÃO ESTATÍSTICA DOS PERFIS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aplicados com variáveis que não participaram da formação dos grupos</a:t>
            </a:r>
            <a:endParaRPr lang="pt-BR" sz="1250" noProof="0"/>
          </a:p>
        </p:txBody>
      </p:sp>
      <p:pic>
        <p:nvPicPr>
          <p:cNvPr id="8" name="Image 0" descr="sp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20040"/>
            <a:ext cx="475488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pt-BR" sz="900" noProof="0"/>
          </a:p>
        </p:txBody>
      </p:sp>
      <p:sp>
        <p:nvSpPr>
          <p:cNvPr id="11" name="Shape 8"/>
          <p:cNvSpPr/>
          <p:nvPr/>
        </p:nvSpPr>
        <p:spPr>
          <a:xfrm>
            <a:off x="548640" y="1691640"/>
            <a:ext cx="3566160" cy="2880360"/>
          </a:xfrm>
          <a:prstGeom prst="roundRect">
            <a:avLst>
              <a:gd name="adj" fmla="val 190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22960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TESTE DE KRUSKAL-WALLIS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22960" y="22860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6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H = 247,70</a:t>
            </a:r>
            <a:endParaRPr lang="pt-BR" sz="1600" noProof="0">
              <a:latin typeface="Montserrat" pitchFamily="2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pt-BR" sz="16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p &lt; 0,001</a:t>
            </a:r>
            <a:endParaRPr lang="pt-BR" sz="1600" noProof="0">
              <a:latin typeface="Montserrat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22960" y="310896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Verifica se a distribuição da população difere entre os perfis. O resultado indica diferença estatisticamente significativa de porte populacional entre os grupos formados.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315968" y="1691640"/>
            <a:ext cx="3566160" cy="2880360"/>
          </a:xfrm>
          <a:prstGeom prst="roundRect">
            <a:avLst>
              <a:gd name="adj" fmla="val 190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90288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TESTE DO QUI-QUADRADO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590288" y="22860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600" b="1" noProof="0">
                <a:solidFill>
                  <a:srgbClr val="EA3234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χ² = 314,51</a:t>
            </a:r>
            <a:endParaRPr lang="pt-BR" sz="1600" noProof="0">
              <a:latin typeface="Montserrat" pitchFamily="2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pt-BR" sz="1600" b="1" noProof="0" err="1">
                <a:solidFill>
                  <a:srgbClr val="EA3234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gl</a:t>
            </a:r>
            <a:r>
              <a:rPr lang="pt-BR" sz="1600" b="1" noProof="0">
                <a:solidFill>
                  <a:srgbClr val="EA3234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 = 12 · p &lt; 0,001</a:t>
            </a:r>
            <a:endParaRPr lang="pt-BR" sz="1600" noProof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90288" y="310896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Verifica a associação entre os perfis e as categorias de porte municipal. O resultado confirma associação estatisticamente significativa.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083296" y="1691640"/>
            <a:ext cx="3566160" cy="2880360"/>
          </a:xfrm>
          <a:prstGeom prst="roundRect">
            <a:avLst>
              <a:gd name="adj" fmla="val 190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357616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V DE CRAMÉR</a:t>
            </a:r>
            <a:endParaRPr lang="pt-BR" sz="1100" noProof="0">
              <a:latin typeface="Montserrat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357616" y="22860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600" b="1" noProof="0">
                <a:solidFill>
                  <a:srgbClr val="4496CD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0,403</a:t>
            </a:r>
            <a:endParaRPr lang="pt-BR" sz="1600" noProof="0">
              <a:latin typeface="Montserrat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357616" y="310896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Mede a intensidade dessa associação. O valor obtido indica magnitude moderada: os perfis se relacionam ao porte, sem se reduzirem a ele.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48640" y="4754880"/>
            <a:ext cx="11091672" cy="1325880"/>
          </a:xfrm>
          <a:prstGeom prst="roundRect">
            <a:avLst>
              <a:gd name="adj" fmla="val 4138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22960" y="4919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INTERPRETAÇÃO</a:t>
            </a:r>
            <a:endParaRPr lang="pt-BR" sz="1150" noProof="0">
              <a:latin typeface="Montserrat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22960" y="5257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05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 porte populacional não foi utilizado como variável de entrada no agrupamento. Ainda assim, os perfis resultantes apresentam diferenças demográficas estatisticamente significativas, o que indica que a combinação dos três eixos capta diferenças estruturais reais entre os municípios. A magnitude moderada da associação demonstra que os perfis não reproduzem simplesmente uma classificação por tamanho: municípios de portes distintos podem integrar o mesmo perfil quando apresentam capacidades semelhantes.</a:t>
            </a:r>
            <a:endParaRPr lang="pt-BR" sz="1050" noProof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5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PONDERAÇÃO DOS EIXOS NO AGRUPAMENTO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Os pesos entram no K-Means pela raiz quadrada, para que a influência de cada eixo seja exatamente 35%, 40% e 25%</a:t>
            </a:r>
            <a:r>
              <a:rPr lang="pt-BR" sz="1250" noProof="0" err="1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/>
            </a:r>
            <a:r>
              <a:rPr lang="pt-BR" sz="12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/>
            </a:r>
            <a:endParaRPr lang="pt-BR" sz="12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1645920"/>
            <a:ext cx="5577840" cy="1883664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22960" y="1810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O PROBLEMA CORRIGIDO</a:t>
            </a:r>
            <a:endParaRPr lang="pt-BR" sz="1200" noProof="0">
              <a:latin typeface="Montserrat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22960" y="2249424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2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 K-Means agrupa os municípios pela </a:t>
            </a:r>
            <a:r>
              <a:rPr lang="pt-BR" sz="1200" b="1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distância euclidiana ao quadrado</a:t>
            </a:r>
            <a:r>
              <a:rPr lang="pt-BR" sz="12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 Ao multiplicar cada eixo diretamente pelo peso, o peso também entra ao quadrado: a influência efetiva era de 35,5% (CFI), 46,4% (IMD) e 18,1% (CSE), e a condição socioeconômica perdia força.</a:t>
            </a:r>
            <a:endParaRPr lang="pt-BR" sz="1200" noProof="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48640" y="3694176"/>
            <a:ext cx="5577840" cy="251943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32104" y="38879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EFEITO DA CORREÇÃO</a:t>
            </a:r>
            <a:endParaRPr lang="pt-BR" sz="1200" noProof="0">
              <a:latin typeface="Montserrat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22960" y="4339086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2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87% dos municípios permanecem no mesmo perfil</a:t>
            </a:r>
            <a:r>
              <a:rPr lang="pt-BR" sz="12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; as mudanças concentram-se entre A e B, que se diferenciam sobretudo pela condição socioeconômica.</a:t>
            </a:r>
            <a:endParaRPr lang="pt-BR" sz="1200" noProof="0">
              <a:solidFill>
                <a:schemeClr val="bg1"/>
              </a:solidFill>
              <a:latin typeface="Montserrat" pitchFamily="2" charset="0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200" noProof="0" b="1">
                <a:solidFill>
                  <a:schemeClr val="bg1"/>
                </a:solidFill>
                <a:latin typeface="Montserrat"/>
                <a:ea typeface="Arial" pitchFamily="34" charset="-122"/>
                <a:cs typeface="Arial"/>
              </a:rPr>
              <a:t>Mais estabilidade: </a:t>
            </a:r>
            <a:r>
              <a:rPr lang="pt-BR" sz="1200" noProof="0">
                <a:solidFill>
                  <a:schemeClr val="bg1"/>
                </a:solidFill>
                <a:latin typeface="Montserrat"/>
                <a:ea typeface="Arial" pitchFamily="34" charset="-122"/>
                <a:cs typeface="Arial"/>
              </a:rPr>
              <a:t>com variação de ±20% nos pesos, no pior cenário 54% dos municípios mantêm o perfil (antes, 33%).</a:t>
            </a:r>
            <a:endParaRPr lang="pt-BR" sz="1200" noProof="0" dirty="0">
              <a:solidFill>
                <a:schemeClr val="bg1"/>
              </a:solidFill>
              <a:latin typeface="Montserrat"/>
              <a:cs typeface="Arial"/>
            </a:endParaRPr>
          </a:p>
          <a:p>
            <a:pPr marL="342900" indent="-342900" algn="just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pt-BR" sz="1200" noProof="0" dirty="0" b="1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 IAP não muda: </a:t>
            </a:r>
            <a:r>
              <a:rPr lang="pt-BR" sz="1200" noProof="0" dirty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por ser uma soma linear, continua calculado com os pesos de 35%, 40% e 25%.</a:t>
            </a:r>
            <a:endParaRPr lang="pt-BR" sz="1200" noProof="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355080" y="1645919"/>
            <a:ext cx="5285232" cy="4565099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629400" y="18105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COMO É CALCULADO</a:t>
            </a:r>
            <a:endParaRPr lang="pt-BR" sz="1200" noProof="0">
              <a:solidFill>
                <a:srgbClr val="F99828"/>
              </a:solidFill>
              <a:latin typeface="Montserrat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629400" y="2189616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100" noProof="0" dirty="0">
                <a:solidFill>
                  <a:schemeClr val="bg1"/>
                </a:solidFill>
                <a:latin typeface="Montserrat"/>
                <a:ea typeface="Arial" pitchFamily="34" charset="-122"/>
                <a:cs typeface="Arial"/>
              </a:rPr>
              <a:t>Antes do agrupamento, cada eixo padronizado é multiplicado pela </a:t>
            </a:r>
            <a:r>
              <a:rPr lang="pt-BR" sz="1100" b="1" noProof="0" dirty="0">
                <a:solidFill>
                  <a:schemeClr val="bg1"/>
                </a:solidFill>
                <a:latin typeface="Montserrat"/>
                <a:ea typeface="Arial" pitchFamily="34" charset="-122"/>
                <a:cs typeface="Arial"/>
              </a:rPr>
              <a:t>raiz quadrada do seu peso</a:t>
            </a:r>
            <a:r>
              <a:rPr lang="pt-BR" sz="1100" noProof="0" dirty="0">
                <a:solidFill>
                  <a:schemeClr val="bg1"/>
                </a:solidFill>
                <a:latin typeface="Montserrat"/>
                <a:ea typeface="Arial" pitchFamily="34" charset="-122"/>
                <a:cs typeface="Arial"/>
              </a:rPr>
              <a:t>: CFI × 0,59, IMD × 0,63 e CSE × 0,50. A contribuição de cada eixo para a distância passa a corresponder exatamente ao peso definido.</a:t>
            </a:r>
            <a:endParaRPr lang="pt-BR" sz="1100" noProof="0" dirty="0">
              <a:solidFill>
                <a:schemeClr val="bg1"/>
              </a:solidFill>
              <a:latin typeface="Montserrat"/>
              <a:cs typeface="Arial"/>
            </a:endParaRPr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34090"/>
              </p:ext>
            </p:extLst>
          </p:nvPr>
        </p:nvGraphicFramePr>
        <p:xfrm>
          <a:off x="6629400" y="3220290"/>
          <a:ext cx="4786713" cy="1920240"/>
        </p:xfrm>
        <a:graphic>
          <a:graphicData uri="http://schemas.openxmlformats.org/drawingml/2006/table">
            <a:tbl>
              <a:tblPr/>
              <a:tblGrid>
                <a:gridCol w="1608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EIXO</a:t>
                      </a:r>
                      <a:endParaRPr lang="pt-BR" sz="12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/>
                          <a:ea typeface="Arial" charset="0"/>
                          <a:cs typeface="Arial"/>
                        </a:rPr>
                        <a:t>PESO DEFINIDO</a:t>
                      </a:r>
                      <a:endParaRPr lang="pt-BR" sz="12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INFLUÊNCIA ANTES</a:t>
                      </a:r>
                      <a:endParaRPr lang="pt-BR" sz="12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INFLUÊNCIA AGORA</a:t>
                      </a:r>
                      <a:endParaRPr lang="pt-BR" sz="12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charset="0"/>
                          <a:cs typeface="Arial" pitchFamily="34" charset="-120"/>
                        </a:rPr>
                        <a:t>CFI</a:t>
                      </a:r>
                      <a:endParaRPr lang="pt-BR" sz="14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35,5%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7283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charset="0"/>
                          <a:cs typeface="Arial" pitchFamily="34" charset="-120"/>
                        </a:rPr>
                        <a:t>IMD</a:t>
                      </a:r>
                      <a:endParaRPr lang="pt-BR" sz="14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46,4%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44177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CSE</a:t>
                      </a:r>
                      <a:endParaRPr lang="pt-BR" sz="14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18,1%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pt-BR" sz="14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6909757" y="5454834"/>
            <a:ext cx="4365829" cy="53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10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√peso no K-Means e na distância ao centroide; </a:t>
            </a:r>
            <a:r>
              <a:rPr lang="pt-BR" sz="1100" b="1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peso cheio no IAP</a:t>
            </a:r>
            <a:r>
              <a:rPr lang="pt-BR" sz="110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</a:t>
            </a:r>
            <a:endParaRPr lang="pt-BR" sz="1100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51BE13E3-2B9B-00C3-22AF-CBB397120BFD}"/>
              </a:ext>
            </a:extLst>
          </p:cNvPr>
          <p:cNvSpPr/>
          <p:nvPr/>
        </p:nvSpPr>
        <p:spPr>
          <a:xfrm>
            <a:off x="6629400" y="5357005"/>
            <a:ext cx="4786712" cy="595221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6510</Words>
  <Application>Microsoft Office PowerPoint</Application>
  <PresentationFormat>Widescreen</PresentationFormat>
  <Paragraphs>915</Paragraphs>
  <Slides>35</Slides>
  <Notes>34</Notes>
  <HiddenSlides>11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Edital de Chamada Publica no 002/2026 - Cidades Inteligentes</dc:title>
  <dc:subject>PptxGenJS Presentation</dc:subject>
  <dc:creator>IPT / SDE-SP</dc:creator>
  <cp:lastModifiedBy>Aryane Cavalcante França</cp:lastModifiedBy>
  <cp:revision>52</cp:revision>
  <dcterms:created xsi:type="dcterms:W3CDTF">2026-08-06T19:52:49Z</dcterms:created>
  <dcterms:modified xsi:type="dcterms:W3CDTF">2026-10-15T17:24:24Z</dcterms:modified>
</cp:coreProperties>
</file>